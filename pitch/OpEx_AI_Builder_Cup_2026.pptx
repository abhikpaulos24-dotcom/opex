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0" r:id="rId20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00" b="1"/>
              <a:t>% improvement vs reactive maintenance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OpEx (simulated)</c:v>
                </c:pt>
              </c:strCache>
            </c:strRef>
          </c:tx>
          <c:spPr>
            <a:solidFill>
              <a:srgbClr val="4F5BD5"/>
            </a:solidFill>
          </c:spPr>
          <c:cat>
            <c:strRef>
              <c:f>Sheet1!$A$2:$A$3</c:f>
              <c:strCache>
                <c:ptCount val="2"/>
                <c:pt idx="0">
                  <c:v>Fewer breakdowns</c:v>
                </c:pt>
                <c:pt idx="1">
                  <c:v>Lower maintenance cost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74.5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 DOE low</c:v>
                </c:pt>
              </c:strCache>
            </c:strRef>
          </c:tx>
          <c:spPr>
            <a:solidFill>
              <a:srgbClr val="AAB2C5"/>
            </a:solidFill>
          </c:spPr>
          <c:cat>
            <c:strRef>
              <c:f>Sheet1!$A$2:$A$3</c:f>
              <c:strCache>
                <c:ptCount val="2"/>
                <c:pt idx="0">
                  <c:v>Fewer breakdowns</c:v>
                </c:pt>
                <c:pt idx="1">
                  <c:v>Lower maintenance cost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70</c:v>
                </c:pt>
                <c:pt idx="1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US DOE high</c:v>
                </c:pt>
              </c:strCache>
            </c:strRef>
          </c:tx>
          <c:spPr>
            <a:solidFill>
              <a:srgbClr val="6B7489"/>
            </a:solidFill>
          </c:spPr>
          <c:cat>
            <c:strRef>
              <c:f>Sheet1!$A$2:$A$3</c:f>
              <c:strCache>
                <c:ptCount val="2"/>
                <c:pt idx="0">
                  <c:v>Fewer breakdowns</c:v>
                </c:pt>
                <c:pt idx="1">
                  <c:v>Lower maintenance cost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75</c:v>
                </c:pt>
                <c:pt idx="1">
                  <c:v>30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Without AI</c:v>
                </c:pt>
              </c:strCache>
            </c:strRef>
          </c:tx>
          <c:spPr>
            <a:solidFill>
              <a:srgbClr val="C2410C"/>
            </a:solidFill>
          </c:spPr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177</c:v>
                </c:pt>
                <c:pt idx="1">
                  <c:v>186</c:v>
                </c:pt>
                <c:pt idx="2">
                  <c:v>179</c:v>
                </c:pt>
                <c:pt idx="3">
                  <c:v>173</c:v>
                </c:pt>
                <c:pt idx="4">
                  <c:v>178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OpEx</c:v>
                </c:pt>
              </c:strCache>
            </c:strRef>
          </c:tx>
          <c:spPr>
            <a:solidFill>
              <a:srgbClr val="4F5BD5"/>
            </a:solidFill>
          </c:spPr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</c:v>
                </c:pt>
                <c:pt idx="1">
                  <c:v>44</c:v>
                </c:pt>
                <c:pt idx="2">
                  <c:v>51</c:v>
                </c:pt>
                <c:pt idx="3">
                  <c:v>46</c:v>
                </c:pt>
                <c:pt idx="4">
                  <c:v>42</c:v>
                </c:pt>
              </c:numCache>
            </c:numRef>
          </c:val>
        </c:ser>
        <c:dLbls>
          <c:txPr>
            <a:bodyPr/>
            <a:lstStyle/>
            <a:p>
              <a:pPr>
                <a:defRPr sz="7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7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 OpEx. OpEx is an AI operations copilot for CNC and automotive-component plants in India.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problem, the five-step loop, and the headline result. Stress that the AI never acts on its own.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columns answer the template's three questions; the table shows the gap versus typical tools.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eight cards left to right; all are working in the prototype.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row is automatic; bottom row always includes a human decision; the learn step closes the loop.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screenshots of the working prototype, not mock-ups.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Single deployable unit. Gemini only explains and reasons over computed facts; numbers are deterministic.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Google service has a concrete job; the two we skipped are explained.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Costs are deliberately on the high side; benefit still covers them about 13 times.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 four are live screens from the running app.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Benchmarks from the US DOE O&amp;M Best Practices Guide R3.0, section 5.4.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Roadmap, then who benefits and why this is feasible now.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Replace the three placeholders with the real links before exporting to PDF.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the formula top to bottom; every input has a dataset or a cited source.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Thank you. Questions?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3.png"/><Relationship Id="rId7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557784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 b="1">
                <a:latin typeface="Google Sans Flex"/>
                <a:ea typeface="Google Sans Flex"/>
                <a:cs typeface="Google Sans Flex"/>
                <a:sym typeface="Google Sans Flex"/>
              </a:rPr>
              <a:t>OpEx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 b="1">
                <a:latin typeface="Google Sans Flex"/>
                <a:ea typeface="Google Sans Flex"/>
                <a:cs typeface="Google Sans Flex"/>
                <a:sym typeface="Google Sans Flex"/>
              </a:rPr>
              <a:t>Srihitha Pulapa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 b="1">
                <a:latin typeface="Google Sans Flex"/>
                <a:ea typeface="Google Sans Flex"/>
                <a:cs typeface="Google Sans Flex"/>
                <a:sym typeface="Google Sans Flex"/>
              </a:rPr>
              <a:t>Manufacturing · Intelligent Operations &amp; Industrial Efficiency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OpEx logo" descr="opex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2926080"/>
            <a:ext cx="2606040" cy="964789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126480" y="3977639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475"/>
                </a:solidFill>
                <a:latin typeface="Arial"/>
              </a:rPr>
              <a:t>From machine signals to money-backed decisions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Headline"/>
          <p:cNvSpPr txBox="1"/>
          <p:nvPr/>
        </p:nvSpPr>
        <p:spPr>
          <a:xfrm>
            <a:off x="347472" y="987552"/>
            <a:ext cx="8458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E2433"/>
                </a:solidFill>
                <a:latin typeface="Arial"/>
              </a:rPr>
              <a:t>Spot trouble early, price every fix in rupees, let a person decide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7472" y="1417320"/>
            <a:ext cx="8412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E2433"/>
                </a:solidFill>
                <a:latin typeface="Arial"/>
              </a:rPr>
              <a:t>India's ₹7.6 lakh-crore auto-component industry (ACMA FY26) still runs most CNC shops reactively: </a:t>
            </a:r>
            <a:r>
              <a:rPr sz="1050" b="1">
                <a:solidFill>
                  <a:srgbClr val="1E2433"/>
                </a:solidFill>
                <a:latin typeface="Arial"/>
              </a:rPr>
              <a:t>plants sit at 60–75% OEE against a world-class 85%</a:t>
            </a:r>
            <a:r>
              <a:rPr sz="1050" b="0">
                <a:solidFill>
                  <a:srgbClr val="1E2433"/>
                </a:solidFill>
                <a:latin typeface="Arial"/>
              </a:rPr>
              <a:t>, alarms flood screens, and a surprise spindle failure can cost a 24-machine plant ₹3–4 lakh in one go.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47472" y="2057400"/>
            <a:ext cx="1572768" cy="13716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activity_indi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2157984"/>
            <a:ext cx="384048" cy="38404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8912" y="2606040"/>
            <a:ext cx="13898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1E2433"/>
                </a:solidFill>
                <a:latin typeface="Arial"/>
              </a:rPr>
              <a:t>Detect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8912" y="2852928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475"/>
                </a:solidFill>
                <a:latin typeface="Arial"/>
              </a:rPr>
              <a:t>Anomalies in plain words: how far off, for how long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938528" y="2743200"/>
            <a:ext cx="109728" cy="0"/>
          </a:xfrm>
          <a:prstGeom prst="line">
            <a:avLst/>
          </a:prstGeom>
          <a:ln w="19050">
            <a:solidFill>
              <a:srgbClr val="4F5BD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2048256" y="2057400"/>
            <a:ext cx="1572768" cy="13716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search_indi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2616" y="2157984"/>
            <a:ext cx="384048" cy="384048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2139696" y="2606040"/>
            <a:ext cx="13898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1E2433"/>
                </a:solidFill>
                <a:latin typeface="Arial"/>
              </a:rPr>
              <a:t>Diagnose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139696" y="2852928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475"/>
                </a:solidFill>
                <a:latin typeface="Arial"/>
              </a:rPr>
              <a:t>One root cause from many signals + 'have we seen this before?'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639312" y="2743200"/>
            <a:ext cx="109728" cy="0"/>
          </a:xfrm>
          <a:prstGeom prst="line">
            <a:avLst/>
          </a:prstGeom>
          <a:ln w="19050">
            <a:solidFill>
              <a:srgbClr val="4F5BD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3749040" y="2057400"/>
            <a:ext cx="1572768" cy="13716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rupee_indi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2157984"/>
            <a:ext cx="384048" cy="384048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3840480" y="2606040"/>
            <a:ext cx="13898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1E2433"/>
                </a:solidFill>
                <a:latin typeface="Arial"/>
              </a:rPr>
              <a:t>Decide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40480" y="2852928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475"/>
                </a:solidFill>
                <a:latin typeface="Arial"/>
              </a:rPr>
              <a:t>7 options priced in ₹; Gemini agents review; a human approves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340096" y="2743200"/>
            <a:ext cx="109728" cy="0"/>
          </a:xfrm>
          <a:prstGeom prst="line">
            <a:avLst/>
          </a:prstGeom>
          <a:ln w="19050">
            <a:solidFill>
              <a:srgbClr val="4F5BD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5449824" y="2057400"/>
            <a:ext cx="1572768" cy="13716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refresh_indi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4184" y="2157984"/>
            <a:ext cx="384048" cy="384048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541264" y="2606040"/>
            <a:ext cx="13898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1E2433"/>
                </a:solidFill>
                <a:latin typeface="Arial"/>
              </a:rPr>
              <a:t>Learn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541264" y="2852928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475"/>
                </a:solidFill>
                <a:latin typeface="Arial"/>
              </a:rPr>
              <a:t>Every outcome is checked; what works rises to the top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040880" y="2743200"/>
            <a:ext cx="109728" cy="0"/>
          </a:xfrm>
          <a:prstGeom prst="line">
            <a:avLst/>
          </a:prstGeom>
          <a:ln w="19050">
            <a:solidFill>
              <a:srgbClr val="4F5BD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7150608" y="2057400"/>
            <a:ext cx="1572768" cy="13716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chart_te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44968" y="2157984"/>
            <a:ext cx="384048" cy="38404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7242048" y="2606040"/>
            <a:ext cx="13898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1E2433"/>
                </a:solidFill>
                <a:latin typeface="Arial"/>
              </a:rPr>
              <a:t>Prove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242048" y="2852928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475"/>
                </a:solidFill>
                <a:latin typeface="Arial"/>
              </a:rPr>
              <a:t>5-year with-vs-without simulation of the whole plant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" y="3639312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B3261E"/>
                </a:solidFill>
                <a:latin typeface="Arial"/>
              </a:rPr>
              <a:t>−74.5%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1480" y="404164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5"/>
                </a:solidFill>
                <a:latin typeface="Arial"/>
              </a:rPr>
              <a:t>breakdowns over 5 simulated years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514600" y="3639312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217A5F"/>
                </a:solidFill>
                <a:latin typeface="Arial"/>
              </a:rPr>
              <a:t>₹7.11 Cr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14600" y="404164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5"/>
                </a:solidFill>
                <a:latin typeface="Arial"/>
              </a:rPr>
              <a:t>net benefit after paying for OpEx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617720" y="3639312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4F5BD5"/>
                </a:solidFill>
                <a:latin typeface="Arial"/>
              </a:rPr>
              <a:t>12.1×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617720" y="404164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5"/>
                </a:solidFill>
                <a:latin typeface="Arial"/>
              </a:rPr>
              <a:t>return · pays back in month 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720840" y="36393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E2433"/>
                </a:solidFill>
                <a:latin typeface="Arial"/>
              </a:rPr>
              <a:t>10,012 h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20840" y="4041648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5"/>
                </a:solidFill>
                <a:latin typeface="Arial"/>
              </a:rPr>
              <a:t>machine-hours of breakdown avoided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7472" y="4462272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B6475"/>
                </a:solidFill>
                <a:latin typeface="Arial"/>
              </a:rPr>
              <a:t>Simulated results for a 24-machine plant, calibrated on 4 real industrial datasets (AI4I 2020, NASA C-MAPSS, Azure PdM, Zenodo line OEE). Calculation on slide 'How we calculated the 5-year numbers'.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Headline"/>
          <p:cNvSpPr txBox="1"/>
          <p:nvPr/>
        </p:nvSpPr>
        <p:spPr>
          <a:xfrm>
            <a:off x="347472" y="987552"/>
            <a:ext cx="8458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E2433"/>
                </a:solidFill>
                <a:latin typeface="Arial"/>
              </a:rPr>
              <a:t>Not another dashboard: a decision engine with proof of value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47472" y="1463040"/>
            <a:ext cx="2697480" cy="233172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network_indi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1572768"/>
            <a:ext cx="347472" cy="347472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914400" y="162763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2433"/>
                </a:solidFill>
                <a:latin typeface="Arial"/>
              </a:rPr>
              <a:t>How is it different?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4632" y="2029968"/>
            <a:ext cx="245059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19" b="0">
                <a:solidFill>
                  <a:srgbClr val="1E2433"/>
                </a:solidFill>
                <a:latin typeface="Arial"/>
              </a:rPr>
              <a:t/>
            </a: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Combines signals into ONE cause instead of 50 separate alarms</a:t>
            </a:r>
          </a:p>
          <a:p>
            <a:pPr>
              <a:spcAft>
                <a:spcPts val="300"/>
              </a:spcAft>
            </a:pP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Prices every option in ₹ (repair, downtime, lost output, scrap, energy, risk), not just 'risk: high'</a:t>
            </a:r>
          </a:p>
          <a:p>
            <a:pPr>
              <a:spcAft>
                <a:spcPts val="300"/>
              </a:spcAft>
            </a:pP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Admits doubt: bad sensor data visibly lowers confidence; a faulty sensor is called a sensor fault</a:t>
            </a:r>
          </a:p>
          <a:p>
            <a:pPr>
              <a:spcAft>
                <a:spcPts val="300"/>
              </a:spcAft>
            </a:pP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Learns from each decision's real outcome in this plant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182112" y="1463040"/>
            <a:ext cx="2697480" cy="233172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wrench_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9272" y="1572768"/>
            <a:ext cx="347472" cy="34747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3749039" y="162763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2433"/>
                </a:solidFill>
                <a:latin typeface="Arial"/>
              </a:rPr>
              <a:t>How does it solve the problem?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19272" y="2029968"/>
            <a:ext cx="245059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19" b="0">
                <a:solidFill>
                  <a:srgbClr val="1E2433"/>
                </a:solidFill>
                <a:latin typeface="Arial"/>
              </a:rPr>
              <a:t/>
            </a: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Warns hours to weeks ahead, so parts are ready and swaps happen in the Sunday window</a:t>
            </a:r>
          </a:p>
          <a:p>
            <a:pPr>
              <a:spcAft>
                <a:spcPts val="300"/>
              </a:spcAft>
            </a:pP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Engineers see the trade-off and approve in one screen</a:t>
            </a:r>
          </a:p>
          <a:p>
            <a:pPr>
              <a:spcAft>
                <a:spcPts val="300"/>
              </a:spcAft>
            </a:pP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Operators ask in their own language, by voice, with gloves on</a:t>
            </a:r>
          </a:p>
          <a:p>
            <a:pPr>
              <a:spcAft>
                <a:spcPts val="300"/>
              </a:spcAft>
            </a:pP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Managers see ₹ impact, investigations and the 5-year business case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016752" y="1463040"/>
            <a:ext cx="2697480" cy="233172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sparkles_pea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572768"/>
            <a:ext cx="347472" cy="347472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6583680" y="162763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2433"/>
                </a:solidFill>
                <a:latin typeface="Arial"/>
              </a:rPr>
              <a:t>USP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53912" y="2029968"/>
            <a:ext cx="245059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19" b="0">
                <a:solidFill>
                  <a:srgbClr val="1E2433"/>
                </a:solidFill>
                <a:latin typeface="Arial"/>
              </a:rPr>
              <a:t/>
            </a: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Gemini incident room: Diagnostician, Planner and Safety-officer agents, grounded on computed facts and SOPs</a:t>
            </a:r>
          </a:p>
          <a:p>
            <a:pPr>
              <a:spcAft>
                <a:spcPts val="300"/>
              </a:spcAft>
            </a:pP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'Rewind the factory': replays a real breakdown with OpEx watching</a:t>
            </a:r>
          </a:p>
          <a:p>
            <a:pPr>
              <a:spcAft>
                <a:spcPts val="300"/>
              </a:spcAft>
            </a:pP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Honest numbers: misses, false alarms and people ignoring advice are all in the simulation</a:t>
            </a:r>
          </a:p>
          <a:p>
            <a:pPr>
              <a:spcAft>
                <a:spcPts val="300"/>
              </a:spcAft>
            </a:pP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Accessible by design: 6 Indian languages, read-aloud, high contrast, dyslexia-friendly font</a:t>
            </a:r>
          </a:p>
        </p:txBody>
      </p:sp>
      <p:graphicFrame>
        <p:nvGraphicFramePr>
          <p:cNvPr id="93" name="Table 92"/>
          <p:cNvGraphicFramePr>
            <a:graphicFrameLocks noGrp="1"/>
          </p:cNvGraphicFramePr>
          <p:nvPr/>
        </p:nvGraphicFramePr>
        <p:xfrm>
          <a:off x="347472" y="3886200"/>
          <a:ext cx="845820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3429000"/>
              </a:tblGrid>
              <a:tr h="217170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Capability</a:t>
                      </a:r>
                    </a:p>
                  </a:txBody>
                  <a:tcPr marL="54864" marR="54864" marT="22860" marB="22860">
                    <a:solidFill>
                      <a:srgbClr val="1E24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Typical CMMS / PdM dashboard</a:t>
                      </a:r>
                    </a:p>
                  </a:txBody>
                  <a:tcPr marL="54864" marR="54864" marT="22860" marB="22860">
                    <a:solidFill>
                      <a:srgbClr val="1E24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4864" marR="54864" marT="22860" marB="22860">
                    <a:solidFill>
                      <a:srgbClr val="1E2433"/>
                    </a:solidFill>
                  </a:tcPr>
                </a:tc>
              </a:tr>
              <a:tr h="21717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Root cause across machine, quality and energy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Single-signal thresholds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Signature matching + past incidents + chain of impact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</a:tr>
              <a:tr h="21717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What to do and what it costs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Work order only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7 priced options, multi-objective ranking, safety rule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</a:tr>
              <a:tr h="21717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Proof of value before buying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Vendor case studies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5-year calibrated with-vs-without simulation of your plant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Headline"/>
          <p:cNvSpPr txBox="1"/>
          <p:nvPr/>
        </p:nvSpPr>
        <p:spPr>
          <a:xfrm>
            <a:off x="347472" y="987552"/>
            <a:ext cx="8458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E2433"/>
                </a:solidFill>
                <a:latin typeface="Arial"/>
              </a:rPr>
              <a:t>Eight capabilities, one flow: detect, diagnose, decide, learn, prove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7472" y="1481328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factory_indi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609344"/>
            <a:ext cx="365760" cy="36576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475488" y="2048256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E2433"/>
                </a:solidFill>
                <a:latin typeface="Arial"/>
              </a:rPr>
              <a:t>Live factory health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5488" y="2304288"/>
            <a:ext cx="17830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OEE (A×P×Q), 5 health scores, ranked 'worry about first' list, floor map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478024" y="1481328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activity_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1609344"/>
            <a:ext cx="365760" cy="365760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606040" y="2048256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E2433"/>
                </a:solidFill>
                <a:latin typeface="Arial"/>
              </a:rPr>
              <a:t>Anomaly → root cause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606040" y="2304288"/>
            <a:ext cx="17830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'Vibration 148% above normal for 52 min', chain of impact, sensor-fault detection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608576" y="1481328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clock_pea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6592" y="1609344"/>
            <a:ext cx="365760" cy="36576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4736592" y="2048256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E2433"/>
                </a:solidFill>
                <a:latin typeface="Arial"/>
              </a:rPr>
              <a:t>Failure &amp; quality prediction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736592" y="2304288"/>
            <a:ext cx="17830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8-h failure probability, 10–90% window, remaining life per component, defect forecast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739128" y="1481328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rupee_in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7144" y="1609344"/>
            <a:ext cx="365760" cy="36576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6867144" y="2048256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E2433"/>
                </a:solidFill>
                <a:latin typeface="Arial"/>
              </a:rPr>
              <a:t>Priced options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867144" y="2304288"/>
            <a:ext cx="17830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Stop, slow 10%, continue, shift load, partial fix, replace, monitor: each in ₹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47472" y="2962656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bot_indi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88" y="3090672"/>
            <a:ext cx="365760" cy="36576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475488" y="3529584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E2433"/>
                </a:solidFill>
                <a:latin typeface="Arial"/>
              </a:rPr>
              <a:t>AI incident room + approval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5488" y="3785616"/>
            <a:ext cx="17830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3 Gemini agents review; approve / reject / modify by role; full audit log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478024" y="2962656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mic_tea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06040" y="3090672"/>
            <a:ext cx="365760" cy="365760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2606040" y="3529584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E2433"/>
                </a:solidFill>
                <a:latin typeface="Arial"/>
              </a:rPr>
              <a:t>Ask OpEx copilot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606040" y="3785616"/>
            <a:ext cx="17830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Function-calling Gemini, voice in/out, 6 Indian languages, part-photo check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08576" y="2962656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refresh_pea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36592" y="3090672"/>
            <a:ext cx="365760" cy="365760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736592" y="3529584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E2433"/>
                </a:solidFill>
                <a:latin typeface="Arial"/>
              </a:rPr>
              <a:t>Closed-loop learning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36592" y="3785616"/>
            <a:ext cx="17830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Outcome checked after 2 plant hours; '9 of 11 times' feeds ranking; AI investigations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739128" y="2962656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rewind_in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67144" y="3090672"/>
            <a:ext cx="365760" cy="365760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6867144" y="3529584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E2433"/>
                </a:solidFill>
                <a:latin typeface="Arial"/>
              </a:rPr>
              <a:t>5-year simulation + rewind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67144" y="3785616"/>
            <a:ext cx="17830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Choose replay length; live with/without counters; ROI; CSV downloads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47472" y="4498848"/>
            <a:ext cx="8458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E2433"/>
                </a:solidFill>
                <a:latin typeface="Arial"/>
              </a:rPr>
              <a:t>Also: </a:t>
            </a:r>
            <a:r>
              <a:rPr sz="850" b="0">
                <a:solidFill>
                  <a:srgbClr val="1E2433"/>
                </a:solidFill>
                <a:latin typeface="Arial"/>
              </a:rPr>
              <a:t>data-health checks (missing, drift, calibration), maintenance plan + spare parts, Pub/Sub alerts, energy standby advice, CO₂ tracking, sensor CSV upload checker, factory-memory search, 4 roles with server-side permissions.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Headline"/>
          <p:cNvSpPr txBox="1"/>
          <p:nvPr/>
        </p:nvSpPr>
        <p:spPr>
          <a:xfrm>
            <a:off x="347472" y="987552"/>
            <a:ext cx="8458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E2433"/>
                </a:solidFill>
                <a:latin typeface="Arial"/>
              </a:rPr>
              <a:t>Every recommendation passes a person and is checked afterwards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47472" y="1600200"/>
            <a:ext cx="15087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0624" y="1636776"/>
            <a:ext cx="13624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E2433"/>
                </a:solidFill>
                <a:latin typeface="Arial"/>
              </a:rPr>
              <a:t>Sensors / MES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vibration, temp, rpm,
torque, current, coolant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874519" y="1956816"/>
            <a:ext cx="173737" cy="0"/>
          </a:xfrm>
          <a:prstGeom prst="line">
            <a:avLst/>
          </a:prstGeom>
          <a:ln w="19050">
            <a:solidFill>
              <a:srgbClr val="4F5BD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075688" y="1600200"/>
            <a:ext cx="15087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148840" y="1636776"/>
            <a:ext cx="13624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E2433"/>
                </a:solidFill>
                <a:latin typeface="Arial"/>
              </a:rPr>
              <a:t>Data health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missing, drift,
consistency → confidence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602736" y="1956816"/>
            <a:ext cx="173736" cy="0"/>
          </a:xfrm>
          <a:prstGeom prst="line">
            <a:avLst/>
          </a:prstGeom>
          <a:ln w="19050">
            <a:solidFill>
              <a:srgbClr val="4F5BD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3803904" y="1600200"/>
            <a:ext cx="15087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877056" y="1636776"/>
            <a:ext cx="13624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E2433"/>
                </a:solidFill>
                <a:latin typeface="Arial"/>
              </a:rPr>
              <a:t>Detect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anomalies with
size + duration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330952" y="1956816"/>
            <a:ext cx="173736" cy="0"/>
          </a:xfrm>
          <a:prstGeom prst="line">
            <a:avLst/>
          </a:prstGeom>
          <a:ln w="19050">
            <a:solidFill>
              <a:srgbClr val="4F5BD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532120" y="1600200"/>
            <a:ext cx="15087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605272" y="1636776"/>
            <a:ext cx="13624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E2433"/>
                </a:solidFill>
                <a:latin typeface="Arial"/>
              </a:rPr>
              <a:t>Diagnose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root cause, chain,
past incidents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059168" y="1956816"/>
            <a:ext cx="173736" cy="0"/>
          </a:xfrm>
          <a:prstGeom prst="line">
            <a:avLst/>
          </a:prstGeom>
          <a:ln w="19050">
            <a:solidFill>
              <a:srgbClr val="4F5BD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7260336" y="1600200"/>
            <a:ext cx="15087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333488" y="1636776"/>
            <a:ext cx="13624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E2433"/>
                </a:solidFill>
                <a:latin typeface="Arial"/>
              </a:rPr>
              <a:t>Predict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failure window,
quality, energy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7936992" y="2331720"/>
            <a:ext cx="0" cy="365760"/>
          </a:xfrm>
          <a:prstGeom prst="line">
            <a:avLst/>
          </a:prstGeom>
          <a:ln w="19050">
            <a:solidFill>
              <a:srgbClr val="4F5BD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ounded Rectangle 111"/>
          <p:cNvSpPr/>
          <p:nvPr/>
        </p:nvSpPr>
        <p:spPr>
          <a:xfrm>
            <a:off x="2075688" y="2715768"/>
            <a:ext cx="15087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148840" y="2752344"/>
            <a:ext cx="13624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E2433"/>
                </a:solidFill>
                <a:latin typeface="Arial"/>
              </a:rPr>
              <a:t>Act &amp; check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machine changed; outcome
checked after 2 plant h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803904" y="2715768"/>
            <a:ext cx="1508760" cy="713232"/>
          </a:xfrm>
          <a:prstGeom prst="roundRect">
            <a:avLst>
              <a:gd name="adj" fmla="val 12000"/>
            </a:avLst>
          </a:prstGeom>
          <a:solidFill>
            <a:srgbClr val="EEF0FD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877056" y="2752344"/>
            <a:ext cx="13624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E2433"/>
                </a:solidFill>
                <a:latin typeface="Arial"/>
              </a:rPr>
              <a:t>Human decides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approve / reject / modify
(role-based)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532120" y="2715768"/>
            <a:ext cx="1508760" cy="713232"/>
          </a:xfrm>
          <a:prstGeom prst="roundRect">
            <a:avLst>
              <a:gd name="adj" fmla="val 12000"/>
            </a:avLst>
          </a:prstGeom>
          <a:solidFill>
            <a:srgbClr val="EEF0FD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05272" y="2752344"/>
            <a:ext cx="13624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E2433"/>
                </a:solidFill>
                <a:latin typeface="Arial"/>
              </a:rPr>
              <a:t>AI incident room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Diagnostician · Planner ·
Safety officer (Gemini)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260336" y="2715768"/>
            <a:ext cx="150876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333488" y="2752344"/>
            <a:ext cx="13624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E2433"/>
                </a:solidFill>
                <a:latin typeface="Arial"/>
              </a:rPr>
              <a:t>Price options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7 options in ₹ +
multi-objective ranking</a:t>
            </a:r>
          </a:p>
        </p:txBody>
      </p:sp>
      <p:cxnSp>
        <p:nvCxnSpPr>
          <p:cNvPr id="120" name="Connector 119"/>
          <p:cNvCxnSpPr/>
          <p:nvPr/>
        </p:nvCxnSpPr>
        <p:spPr>
          <a:xfrm flipH="1">
            <a:off x="7059168" y="3072384"/>
            <a:ext cx="182880" cy="0"/>
          </a:xfrm>
          <a:prstGeom prst="line">
            <a:avLst/>
          </a:prstGeom>
          <a:ln w="19050">
            <a:solidFill>
              <a:srgbClr val="4F5BD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H="1">
            <a:off x="5330952" y="3072384"/>
            <a:ext cx="182880" cy="0"/>
          </a:xfrm>
          <a:prstGeom prst="line">
            <a:avLst/>
          </a:prstGeom>
          <a:ln w="19050">
            <a:solidFill>
              <a:srgbClr val="4F5BD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>
            <a:off x="3602736" y="3072384"/>
            <a:ext cx="182880" cy="0"/>
          </a:xfrm>
          <a:prstGeom prst="line">
            <a:avLst/>
          </a:prstGeom>
          <a:ln w="19050">
            <a:solidFill>
              <a:srgbClr val="4F5BD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347472" y="2715768"/>
            <a:ext cx="1508760" cy="713232"/>
          </a:xfrm>
          <a:prstGeom prst="roundRect">
            <a:avLst>
              <a:gd name="adj" fmla="val 12000"/>
            </a:avLst>
          </a:prstGeom>
          <a:solidFill>
            <a:srgbClr val="E5F4EC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20624" y="2752344"/>
            <a:ext cx="1362456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217A5F"/>
                </a:solidFill>
                <a:latin typeface="Arial"/>
              </a:rPr>
              <a:t>Learn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success counts per
problem × action</a:t>
            </a:r>
          </a:p>
        </p:txBody>
      </p:sp>
      <p:cxnSp>
        <p:nvCxnSpPr>
          <p:cNvPr id="125" name="Connector 124"/>
          <p:cNvCxnSpPr/>
          <p:nvPr/>
        </p:nvCxnSpPr>
        <p:spPr>
          <a:xfrm flipH="1">
            <a:off x="1874519" y="3072384"/>
            <a:ext cx="182881" cy="0"/>
          </a:xfrm>
          <a:prstGeom prst="line">
            <a:avLst/>
          </a:prstGeom>
          <a:ln w="19050">
            <a:solidFill>
              <a:srgbClr val="217A5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347472" y="34747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217A5F"/>
                </a:solidFill>
                <a:latin typeface="Arial"/>
              </a:rPr>
              <a:t>↺  Learn feeds real success rates back into 'Price options' for the next decision</a:t>
            </a:r>
          </a:p>
        </p:txBody>
      </p:sp>
      <p:pic>
        <p:nvPicPr>
          <p:cNvPr id="127" name="Picture 126" descr="user_indi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3950208"/>
            <a:ext cx="329184" cy="329184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58952" y="39319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E2433"/>
                </a:solidFill>
                <a:latin typeface="Arial"/>
              </a:rPr>
              <a:t>Operator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asks by voice, acknowledges alerts, approves small fixes</a:t>
            </a:r>
          </a:p>
        </p:txBody>
      </p:sp>
      <p:pic>
        <p:nvPicPr>
          <p:cNvPr id="129" name="Picture 128" descr="wrench_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2112" y="3950208"/>
            <a:ext cx="329184" cy="329184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3593592" y="39319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E2433"/>
                </a:solidFill>
                <a:latin typeface="Arial"/>
              </a:rPr>
              <a:t>Maintenance engineer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approves stops and part swaps, writes investigations</a:t>
            </a:r>
          </a:p>
        </p:txBody>
      </p:sp>
      <p:pic>
        <p:nvPicPr>
          <p:cNvPr id="131" name="Picture 130" descr="users_pea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6752" y="3950208"/>
            <a:ext cx="329184" cy="329184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6428232" y="39319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E2433"/>
                </a:solidFill>
                <a:latin typeface="Arial"/>
              </a:rPr>
              <a:t>Plant manager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sets priorities and ₹ assumptions, runs the 5-year case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Headline"/>
          <p:cNvSpPr txBox="1"/>
          <p:nvPr/>
        </p:nvSpPr>
        <p:spPr>
          <a:xfrm>
            <a:off x="347472" y="987552"/>
            <a:ext cx="8458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E2433"/>
                </a:solidFill>
                <a:latin typeface="Arial"/>
              </a:rPr>
              <a:t>Designed for the shop floor: phone at the machine, desktop in the office</a:t>
            </a:r>
          </a:p>
        </p:txBody>
      </p:sp>
      <p:pic>
        <p:nvPicPr>
          <p:cNvPr id="105" name="Picture 104" descr="16_mob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579" y="1463040"/>
            <a:ext cx="1499984" cy="3246120"/>
          </a:xfrm>
          <a:prstGeom prst="rect">
            <a:avLst/>
          </a:prstGeom>
          <a:ln w="9525">
            <a:solidFill>
              <a:srgbClr val="DDE1EA"/>
            </a:solidFill>
          </a:ln>
        </p:spPr>
      </p:pic>
      <p:pic>
        <p:nvPicPr>
          <p:cNvPr id="106" name="Picture 105" descr="17_mobile_mach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7507" y="1463040"/>
            <a:ext cx="1499984" cy="3246120"/>
          </a:xfrm>
          <a:prstGeom prst="rect">
            <a:avLst/>
          </a:prstGeom>
          <a:ln w="9525">
            <a:solidFill>
              <a:srgbClr val="DDE1EA"/>
            </a:solidFill>
          </a:ln>
        </p:spPr>
      </p:pic>
      <p:pic>
        <p:nvPicPr>
          <p:cNvPr id="107" name="Picture 106" descr="04_machine_t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0" y="1463040"/>
            <a:ext cx="4389120" cy="2743200"/>
          </a:xfrm>
          <a:prstGeom prst="rect">
            <a:avLst/>
          </a:prstGeom>
          <a:ln w="9525">
            <a:solidFill>
              <a:srgbClr val="DDE1EA"/>
            </a:solidFill>
          </a:ln>
        </p:spPr>
      </p:pic>
      <p:sp>
        <p:nvSpPr>
          <p:cNvPr id="108" name="TextBox 107"/>
          <p:cNvSpPr txBox="1"/>
          <p:nvPr/>
        </p:nvSpPr>
        <p:spPr>
          <a:xfrm>
            <a:off x="3840480" y="429768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E2433"/>
                </a:solidFill>
                <a:latin typeface="Arial"/>
              </a:rPr>
              <a:t/>
            </a:r>
            <a:r>
              <a:rPr sz="850">
                <a:solidFill>
                  <a:srgbClr val="4F5BD5"/>
                </a:solidFill>
                <a:latin typeface="Arial"/>
              </a:rPr>
              <a:t>•  </a:t>
            </a:r>
            <a:r>
              <a:rPr sz="850" b="0">
                <a:solidFill>
                  <a:srgbClr val="1E2433"/>
                </a:solidFill>
                <a:latin typeface="Arial"/>
              </a:rPr>
              <a:t>Numbered steps on every machine: 1 What we detected · 2 Why · 3 What next · 4 What should we do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4F5BD5"/>
                </a:solidFill>
                <a:latin typeface="Arial"/>
              </a:rPr>
              <a:t>•  </a:t>
            </a:r>
            <a:r>
              <a:rPr sz="850" b="0">
                <a:solidFill>
                  <a:srgbClr val="1E2433"/>
                </a:solidFill>
                <a:latin typeface="Arial"/>
              </a:rPr>
              <a:t>Status = icon + word + colour (ISA-101 style: grey when normal, colour only for trouble)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Headline"/>
          <p:cNvSpPr txBox="1"/>
          <p:nvPr/>
        </p:nvSpPr>
        <p:spPr>
          <a:xfrm>
            <a:off x="347472" y="987552"/>
            <a:ext cx="8458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E2433"/>
                </a:solidFill>
                <a:latin typeface="Arial"/>
              </a:rPr>
              <a:t>One Cloud Run service + Gemini on Vertex AI + Supabase Postgres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47472" y="1600200"/>
            <a:ext cx="1417320" cy="822960"/>
          </a:xfrm>
          <a:prstGeom prst="roundRect">
            <a:avLst>
              <a:gd name="adj" fmla="val 12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20624" y="1636776"/>
            <a:ext cx="1271016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E2433"/>
                </a:solidFill>
                <a:latin typeface="Arial"/>
              </a:rPr>
              <a:t>Shop floor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CNC controllers, sensors
(OPC UA / MTConnect gateway)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47472" y="2743200"/>
            <a:ext cx="1417320" cy="685800"/>
          </a:xfrm>
          <a:prstGeom prst="roundRect">
            <a:avLst>
              <a:gd name="adj" fmla="val 12000"/>
            </a:avLst>
          </a:prstGeom>
          <a:solidFill>
            <a:srgbClr val="FFF4EC"/>
          </a:solidFill>
          <a:ln w="9525">
            <a:solidFill>
              <a:srgbClr val="F2A5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20624" y="2779776"/>
            <a:ext cx="1271016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E2433"/>
                </a:solidFill>
                <a:latin typeface="Arial"/>
              </a:rPr>
              <a:t>Pub/Sub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5B6475"/>
                </a:solidFill>
                <a:latin typeface="Arial"/>
              </a:rPr>
              <a:t>sensor push +
critical alerts out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1051560" y="2441448"/>
            <a:ext cx="0" cy="283464"/>
          </a:xfrm>
          <a:prstGeom prst="line">
            <a:avLst/>
          </a:prstGeom>
          <a:ln w="19050">
            <a:solidFill>
              <a:srgbClr val="C2410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2057400" y="1463040"/>
            <a:ext cx="4114800" cy="2834640"/>
          </a:xfrm>
          <a:prstGeom prst="roundRect">
            <a:avLst>
              <a:gd name="adj" fmla="val 4000"/>
            </a:avLst>
          </a:prstGeom>
          <a:solidFill>
            <a:srgbClr val="F7F8FD"/>
          </a:solidFill>
          <a:ln w="9525">
            <a:solidFill>
              <a:srgbClr val="4F5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194560" y="1517904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4F5BD5"/>
                </a:solidFill>
                <a:latin typeface="Arial"/>
              </a:rPr>
              <a:t>Cloud Run · ONE container (asia-south1)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194560" y="1828800"/>
            <a:ext cx="1216152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267712" y="1865376"/>
            <a:ext cx="106984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1E2433"/>
                </a:solidFill>
                <a:latin typeface="Arial"/>
              </a:rPr>
              <a:t>React web app</a:t>
            </a:r>
          </a:p>
          <a:p>
            <a:pPr algn="ctr">
              <a:spcAft>
                <a:spcPts val="200"/>
              </a:spcAft>
            </a:pPr>
            <a:r>
              <a:rPr sz="700" b="0">
                <a:solidFill>
                  <a:srgbClr val="5B6475"/>
                </a:solidFill>
                <a:latin typeface="Arial"/>
              </a:rPr>
              <a:t>accessible UI, voice,
6 languages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502152" y="1828800"/>
            <a:ext cx="1216152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575304" y="1865376"/>
            <a:ext cx="106984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1E2433"/>
                </a:solidFill>
                <a:latin typeface="Arial"/>
              </a:rPr>
              <a:t>FastAPI</a:t>
            </a:r>
          </a:p>
          <a:p>
            <a:pPr algn="ctr">
              <a:spcAft>
                <a:spcPts val="200"/>
              </a:spcAft>
            </a:pPr>
            <a:r>
              <a:rPr sz="700" b="0">
                <a:solidFill>
                  <a:srgbClr val="5B6475"/>
                </a:solidFill>
                <a:latin typeface="Arial"/>
              </a:rPr>
              <a:t>auth, roles, API,
ingest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809744" y="1828800"/>
            <a:ext cx="1216152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882896" y="1865376"/>
            <a:ext cx="106984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1E2433"/>
                </a:solidFill>
                <a:latin typeface="Arial"/>
              </a:rPr>
              <a:t>Live plant twin</a:t>
            </a:r>
          </a:p>
          <a:p>
            <a:pPr algn="ctr">
              <a:spcAft>
                <a:spcPts val="200"/>
              </a:spcAft>
            </a:pPr>
            <a:r>
              <a:rPr sz="700" b="0">
                <a:solidFill>
                  <a:srgbClr val="5B6475"/>
                </a:solidFill>
                <a:latin typeface="Arial"/>
              </a:rPr>
              <a:t>1-min data, analytics,
cached per minute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194560" y="3017520"/>
            <a:ext cx="1216152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267712" y="3054096"/>
            <a:ext cx="106984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1E2433"/>
                </a:solidFill>
                <a:latin typeface="Arial"/>
              </a:rPr>
              <a:t>Decision engine</a:t>
            </a:r>
          </a:p>
          <a:p>
            <a:pPr algn="ctr">
              <a:spcAft>
                <a:spcPts val="200"/>
              </a:spcAft>
            </a:pPr>
            <a:r>
              <a:rPr sz="700" b="0">
                <a:solidFill>
                  <a:srgbClr val="5B6475"/>
                </a:solidFill>
                <a:latin typeface="Arial"/>
              </a:rPr>
              <a:t>₹ options, ranking,
learning loop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3502152" y="3017520"/>
            <a:ext cx="1216152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575304" y="3054096"/>
            <a:ext cx="106984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1E2433"/>
                </a:solidFill>
                <a:latin typeface="Arial"/>
              </a:rPr>
              <a:t>5-year simulator</a:t>
            </a:r>
          </a:p>
          <a:p>
            <a:pPr algn="ctr">
              <a:spcAft>
                <a:spcPts val="200"/>
              </a:spcAft>
            </a:pPr>
            <a:r>
              <a:rPr sz="700" b="0">
                <a:solidFill>
                  <a:srgbClr val="5B6475"/>
                </a:solidFill>
                <a:latin typeface="Arial"/>
              </a:rPr>
              <a:t>2.1 M machine-hours
in 4.5 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809744" y="3017520"/>
            <a:ext cx="1216152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882896" y="3054096"/>
            <a:ext cx="106984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1E2433"/>
                </a:solidFill>
                <a:latin typeface="Arial"/>
              </a:rPr>
              <a:t>AI agents + copilot</a:t>
            </a:r>
          </a:p>
          <a:p>
            <a:pPr algn="ctr">
              <a:spcAft>
                <a:spcPts val="200"/>
              </a:spcAft>
            </a:pPr>
            <a:r>
              <a:rPr sz="700" b="0">
                <a:solidFill>
                  <a:srgbClr val="5B6475"/>
                </a:solidFill>
                <a:latin typeface="Arial"/>
              </a:rPr>
              <a:t>function calling,
RAG over SOPs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1783080" y="3081528"/>
            <a:ext cx="256032" cy="0"/>
          </a:xfrm>
          <a:prstGeom prst="line">
            <a:avLst/>
          </a:prstGeom>
          <a:ln w="19050">
            <a:solidFill>
              <a:srgbClr val="C2410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6492240" y="1463040"/>
            <a:ext cx="2286000" cy="621792"/>
          </a:xfrm>
          <a:prstGeom prst="roundRect">
            <a:avLst>
              <a:gd name="adj" fmla="val 12000"/>
            </a:avLst>
          </a:prstGeom>
          <a:solidFill>
            <a:srgbClr val="EEF0FD"/>
          </a:solidFill>
          <a:ln w="9525">
            <a:solidFill>
              <a:srgbClr val="4F5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565392" y="1499616"/>
            <a:ext cx="213969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1E2433"/>
                </a:solidFill>
                <a:latin typeface="Arial"/>
              </a:rPr>
              <a:t>Gemini on Vertex AI</a:t>
            </a:r>
          </a:p>
          <a:p>
            <a:pPr algn="ctr">
              <a:spcAft>
                <a:spcPts val="200"/>
              </a:spcAft>
            </a:pPr>
            <a:r>
              <a:rPr sz="750" b="0">
                <a:solidFill>
                  <a:srgbClr val="5B6475"/>
                </a:solidFill>
                <a:latin typeface="Arial"/>
              </a:rPr>
              <a:t>gemini-3.8-flash · 3.5-flash-lite
· gemini-embedding-001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6190488" y="1773936"/>
            <a:ext cx="283464" cy="0"/>
          </a:xfrm>
          <a:prstGeom prst="line">
            <a:avLst/>
          </a:prstGeom>
          <a:ln w="1905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/>
          <p:cNvSpPr/>
          <p:nvPr/>
        </p:nvSpPr>
        <p:spPr>
          <a:xfrm>
            <a:off x="6492240" y="2194560"/>
            <a:ext cx="2286000" cy="621792"/>
          </a:xfrm>
          <a:prstGeom prst="roundRect">
            <a:avLst>
              <a:gd name="adj" fmla="val 12000"/>
            </a:avLst>
          </a:prstGeom>
          <a:solidFill>
            <a:srgbClr val="E5F4EC"/>
          </a:solidFill>
          <a:ln w="9525">
            <a:solidFill>
              <a:srgbClr val="21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565392" y="2231136"/>
            <a:ext cx="213969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1E2433"/>
                </a:solidFill>
                <a:latin typeface="Arial"/>
              </a:rPr>
              <a:t>Supabase Postgres</a:t>
            </a:r>
          </a:p>
          <a:p>
            <a:pPr algn="ctr">
              <a:spcAft>
                <a:spcPts val="200"/>
              </a:spcAft>
            </a:pPr>
            <a:r>
              <a:rPr sz="750" b="0">
                <a:solidFill>
                  <a:srgbClr val="5B6475"/>
                </a:solidFill>
                <a:latin typeface="Arial"/>
              </a:rPr>
              <a:t>users, decisions, incidents,
simulation runs (RLS on)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6190488" y="2505456"/>
            <a:ext cx="283464" cy="0"/>
          </a:xfrm>
          <a:prstGeom prst="line">
            <a:avLst/>
          </a:prstGeom>
          <a:ln w="1905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6492240" y="2926080"/>
            <a:ext cx="2286000" cy="621792"/>
          </a:xfrm>
          <a:prstGeom prst="roundRect">
            <a:avLst>
              <a:gd name="adj" fmla="val 12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565392" y="2962656"/>
            <a:ext cx="213969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1E2433"/>
                </a:solidFill>
                <a:latin typeface="Arial"/>
              </a:rPr>
              <a:t>BigQuery</a:t>
            </a:r>
          </a:p>
          <a:p>
            <a:pPr algn="ctr">
              <a:spcAft>
                <a:spcPts val="200"/>
              </a:spcAft>
            </a:pPr>
            <a:r>
              <a:rPr sz="750" b="0">
                <a:solidFill>
                  <a:srgbClr val="5B6475"/>
                </a:solidFill>
                <a:latin typeface="Arial"/>
              </a:rPr>
              <a:t>daily simulation results
for Looker Studio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6190488" y="3236976"/>
            <a:ext cx="283464" cy="0"/>
          </a:xfrm>
          <a:prstGeom prst="line">
            <a:avLst/>
          </a:prstGeom>
          <a:ln w="1905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6492240" y="3657600"/>
            <a:ext cx="2286000" cy="621792"/>
          </a:xfrm>
          <a:prstGeom prst="roundRect">
            <a:avLst>
              <a:gd name="adj" fmla="val 12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565392" y="3694176"/>
            <a:ext cx="213969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1E2433"/>
                </a:solidFill>
                <a:latin typeface="Arial"/>
              </a:rPr>
              <a:t>Cloud Storage</a:t>
            </a:r>
          </a:p>
          <a:p>
            <a:pPr algn="ctr">
              <a:spcAft>
                <a:spcPts val="200"/>
              </a:spcAft>
            </a:pPr>
            <a:r>
              <a:rPr sz="750" b="0">
                <a:solidFill>
                  <a:srgbClr val="5B6475"/>
                </a:solidFill>
                <a:latin typeface="Arial"/>
              </a:rPr>
              <a:t>uploaded files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6190488" y="3968496"/>
            <a:ext cx="283464" cy="0"/>
          </a:xfrm>
          <a:prstGeom prst="line">
            <a:avLst/>
          </a:prstGeom>
          <a:ln w="1905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ounded Rectangle 144"/>
          <p:cNvSpPr/>
          <p:nvPr/>
        </p:nvSpPr>
        <p:spPr>
          <a:xfrm>
            <a:off x="347472" y="4434840"/>
            <a:ext cx="8430768" cy="384048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57200" y="447141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E2433"/>
                </a:solidFill>
                <a:latin typeface="Arial"/>
              </a:rPr>
              <a:t>Offline pipeline: </a:t>
            </a:r>
            <a:r>
              <a:rPr sz="850" b="0">
                <a:solidFill>
                  <a:srgbClr val="1E2433"/>
                </a:solidFill>
                <a:latin typeface="Arial"/>
              </a:rPr>
              <a:t>AI4I 2020 · NASA C-MAPSS · Azure PdM · Zenodo line OEE · NIST Nestor  →  clean  →  train 3 models  →  calibrate simulator  →  build factory memory (793 jobs, 194 incidents)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7472" y="361188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B6475"/>
                </a:solidFill>
                <a:latin typeface="Arial"/>
              </a:rPr>
              <a:t>Browser on phone / tablet / desktop talks only to the one Cloud Run URL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Headline"/>
          <p:cNvSpPr txBox="1"/>
          <p:nvPr/>
        </p:nvSpPr>
        <p:spPr>
          <a:xfrm>
            <a:off x="347472" y="987552"/>
            <a:ext cx="8458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E2433"/>
                </a:solidFill>
                <a:latin typeface="Arial"/>
              </a:rPr>
              <a:t>Google Cloud where it adds value, and nothing used just for show</a:t>
            </a:r>
          </a:p>
        </p:txBody>
      </p:sp>
      <p:graphicFrame>
        <p:nvGraphicFramePr>
          <p:cNvPr id="121" name="Table 120"/>
          <p:cNvGraphicFramePr>
            <a:graphicFrameLocks noGrp="1"/>
          </p:cNvGraphicFramePr>
          <p:nvPr/>
        </p:nvGraphicFramePr>
        <p:xfrm>
          <a:off x="347472" y="1463040"/>
          <a:ext cx="845820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715000"/>
              </a:tblGrid>
              <a:tr h="278892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Technology</a:t>
                      </a:r>
                    </a:p>
                  </a:txBody>
                  <a:tcPr marL="54864" marR="54864" marT="22860" marB="22860">
                    <a:solidFill>
                      <a:srgbClr val="1E24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What OpEx uses it for</a:t>
                      </a:r>
                    </a:p>
                  </a:txBody>
                  <a:tcPr marL="54864" marR="54864" marT="22860" marB="22860">
                    <a:solidFill>
                      <a:srgbClr val="1E2433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433"/>
                          </a:solidFill>
                          <a:latin typeface="Arial"/>
                        </a:rPr>
                        <a:t>Gemini on Vertex AI (gemini-3.8-flash, 3.5-flash-lite)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3-agent incident room, function-calling copilot (6 tools), investigations, part-photo check, 6 Indian languages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433"/>
                          </a:solidFill>
                          <a:latin typeface="Arial"/>
                        </a:rPr>
                        <a:t>gemini-embedding-001 (768-d)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Semantic search in factory memory (SOPs, manuals, 194 past incidents) + keyword hybrid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433"/>
                          </a:solidFill>
                          <a:latin typeface="Arial"/>
                        </a:rPr>
                        <a:t>Cloud Run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Single service: web app + API + live twin + simulator + agents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433"/>
                          </a:solidFill>
                          <a:latin typeface="Arial"/>
                        </a:rPr>
                        <a:t>BigQuery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Daily with/without simulation results for long-term analysis and Looker Studio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433"/>
                          </a:solidFill>
                          <a:latin typeface="Arial"/>
                        </a:rPr>
                        <a:t>Pub/Sub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Critical alerts out to SMS / WhatsApp / CMMS; sensor readings in (push to /api/ingest)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433"/>
                          </a:solidFill>
                          <a:latin typeface="Arial"/>
                        </a:rPr>
                        <a:t>Cloud Storage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Uploaded sensor files and documents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433"/>
                          </a:solidFill>
                          <a:latin typeface="Arial"/>
                        </a:rPr>
                        <a:t>Supabase Postgres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Users, roles, decisions, outcomes, incidents, runs; Row Level Security on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433"/>
                          </a:solidFill>
                          <a:latin typeface="Arial"/>
                        </a:rPr>
                        <a:t>Python · FastAPI · scikit-learn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Analytics, 3 ML models, 5-year simulator (numpy, shared random draws)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433"/>
                          </a:solidFill>
                          <a:latin typeface="Arial"/>
                        </a:rPr>
                        <a:t>React · TypeScript · Recharts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Accessible web app: WCAG 2.2 AA, Atkinson Hyperlegible, voice, read-aloud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2" name="Rounded Rectangle 121"/>
          <p:cNvSpPr/>
          <p:nvPr/>
        </p:nvSpPr>
        <p:spPr>
          <a:xfrm>
            <a:off x="347472" y="4370832"/>
            <a:ext cx="8458200" cy="411480"/>
          </a:xfrm>
          <a:prstGeom prst="roundRect">
            <a:avLst>
              <a:gd name="adj" fmla="val 8000"/>
            </a:avLst>
          </a:prstGeom>
          <a:solidFill>
            <a:srgbClr val="FFF4EC"/>
          </a:solidFill>
          <a:ln w="9525">
            <a:solidFill>
              <a:srgbClr val="F2A5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57200" y="4416552"/>
            <a:ext cx="82296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C2410C"/>
                </a:solidFill>
                <a:latin typeface="Arial"/>
              </a:rPr>
              <a:t>Deliberately not used: </a:t>
            </a:r>
            <a:r>
              <a:rPr sz="850" b="0">
                <a:solidFill>
                  <a:srgbClr val="1E2433"/>
                </a:solidFill>
                <a:latin typeface="Arial"/>
              </a:rPr>
              <a:t>Dataflow and Vertex AI Training. At 24 machines and 1-minute data, training takes 30 s in the container. Dataflow (Pub/Sub → BigQuery) is the path past ~10k readings/second.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Headline"/>
          <p:cNvSpPr txBox="1"/>
          <p:nvPr/>
        </p:nvSpPr>
        <p:spPr>
          <a:xfrm>
            <a:off x="347472" y="987552"/>
            <a:ext cx="8458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E2433"/>
                </a:solidFill>
                <a:latin typeface="Arial"/>
              </a:rPr>
              <a:t>₹16.8 L to start, ₹8.4 L a year, for a 24-machine plant</a:t>
            </a:r>
          </a:p>
        </p:txBody>
      </p:sp>
      <p:graphicFrame>
        <p:nvGraphicFramePr>
          <p:cNvPr id="129" name="Table 128"/>
          <p:cNvGraphicFramePr>
            <a:graphicFrameLocks noGrp="1"/>
          </p:cNvGraphicFramePr>
          <p:nvPr/>
        </p:nvGraphicFramePr>
        <p:xfrm>
          <a:off x="347472" y="1463040"/>
          <a:ext cx="5120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971800"/>
                <a:gridCol w="914400"/>
              </a:tblGrid>
              <a:tr h="33528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22860" marB="22860">
                    <a:solidFill>
                      <a:srgbClr val="1E24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How it is calculated</a:t>
                      </a:r>
                    </a:p>
                  </a:txBody>
                  <a:tcPr marL="54864" marR="54864" marT="22860" marB="22860">
                    <a:solidFill>
                      <a:srgbClr val="1E24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Amount</a:t>
                      </a:r>
                    </a:p>
                  </a:txBody>
                  <a:tcPr marL="54864" marR="54864" marT="22860" marB="22860">
                    <a:solidFill>
                      <a:srgbClr val="1E2433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433"/>
                          </a:solidFill>
                          <a:latin typeface="Arial"/>
                        </a:rPr>
                        <a:t>Sensor retrofit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₹45,000 vibration + current + temperature kit × 24 machines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₹10.8 L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433"/>
                          </a:solidFill>
                          <a:latin typeface="Arial"/>
                        </a:rPr>
                        <a:t>Setup and training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Integration, commissioning, operator training (one time)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₹6.0 L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433"/>
                          </a:solidFill>
                          <a:latin typeface="Arial"/>
                        </a:rPr>
                        <a:t>Cloud (per year)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Cloud Run + Gemini + Supabase Pro + BigQuery/GCS (below)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₹2.4 L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433"/>
                          </a:solidFill>
                          <a:latin typeface="Arial"/>
                        </a:rPr>
                        <a:t>Support (per year)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Model upkeep, help desk, updates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₹6.0 L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E2433"/>
                          </a:solidFill>
                          <a:latin typeface="Arial"/>
                        </a:rPr>
                        <a:t>5-year total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₹16.8 L once + ₹8.4 L × 5 years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E2433"/>
                          </a:solidFill>
                          <a:latin typeface="Arial"/>
                        </a:rPr>
                        <a:t>₹58.8 L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Rounded Rectangle 129"/>
          <p:cNvSpPr/>
          <p:nvPr/>
        </p:nvSpPr>
        <p:spPr>
          <a:xfrm>
            <a:off x="5669280" y="1463040"/>
            <a:ext cx="3108960" cy="201168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806440" y="155448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E2433"/>
                </a:solidFill>
                <a:latin typeface="Arial"/>
              </a:rPr>
              <a:t>Cloud cost per month (estimate)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806440" y="1847088"/>
            <a:ext cx="288036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1E2433"/>
                </a:solidFill>
                <a:latin typeface="Arial"/>
              </a:rPr>
              <a:t/>
            </a:r>
            <a:r>
              <a:rPr sz="800">
                <a:solidFill>
                  <a:srgbClr val="4F5BD5"/>
                </a:solidFill>
                <a:latin typeface="Arial"/>
              </a:rPr>
              <a:t>•  </a:t>
            </a:r>
            <a:r>
              <a:rPr sz="800" b="0">
                <a:solidFill>
                  <a:srgbClr val="1E2433"/>
                </a:solidFill>
                <a:latin typeface="Arial"/>
              </a:rPr>
              <a:t>Gemini: ~300 agent/copilot calls a day × 6k tokens = 54 M tokens/month → 40 M in × $0.75 + 14 M out × $3.75 ≈ $82 ≈ ₹7k</a:t>
            </a:r>
          </a:p>
          <a:p>
            <a:pPr>
              <a:spcAft>
                <a:spcPts val="200"/>
              </a:spcAft>
            </a:pPr>
            <a:r>
              <a:rPr sz="800">
                <a:solidFill>
                  <a:srgbClr val="4F5BD5"/>
                </a:solidFill>
                <a:latin typeface="Arial"/>
              </a:rPr>
              <a:t>•  </a:t>
            </a:r>
            <a:r>
              <a:rPr sz="800" b="0">
                <a:solidFill>
                  <a:srgbClr val="1E2433"/>
                </a:solidFill>
                <a:latin typeface="Arial"/>
              </a:rPr>
              <a:t>Cloud Run 2 vCPU / 2 GiB, mostly idle: ≈ ₹4–6k</a:t>
            </a:r>
          </a:p>
          <a:p>
            <a:pPr>
              <a:spcAft>
                <a:spcPts val="200"/>
              </a:spcAft>
            </a:pPr>
            <a:r>
              <a:rPr sz="800">
                <a:solidFill>
                  <a:srgbClr val="4F5BD5"/>
                </a:solidFill>
                <a:latin typeface="Arial"/>
              </a:rPr>
              <a:t>•  </a:t>
            </a:r>
            <a:r>
              <a:rPr sz="800" b="0">
                <a:solidFill>
                  <a:srgbClr val="1E2433"/>
                </a:solidFill>
                <a:latin typeface="Arial"/>
              </a:rPr>
              <a:t>Supabase Pro $25 ≈ ₹2.1k · BigQuery + Storage: free tier</a:t>
            </a:r>
          </a:p>
          <a:p>
            <a:pPr>
              <a:spcAft>
                <a:spcPts val="200"/>
              </a:spcAft>
            </a:pPr>
            <a:r>
              <a:rPr sz="800">
                <a:solidFill>
                  <a:srgbClr val="4F5BD5"/>
                </a:solidFill>
                <a:latin typeface="Arial"/>
              </a:rPr>
              <a:t>•  </a:t>
            </a:r>
            <a:r>
              <a:rPr sz="800" b="1">
                <a:solidFill>
                  <a:srgbClr val="1E2433"/>
                </a:solidFill>
                <a:latin typeface="Arial"/>
              </a:rPr>
              <a:t>Total ≈ ₹15–20k/month ≈ ₹2.4 L/year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11480" y="370332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17A5F"/>
                </a:solidFill>
                <a:latin typeface="Arial"/>
              </a:rPr>
              <a:t>₹7.69 Cr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11480" y="410565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5"/>
                </a:solidFill>
                <a:latin typeface="Arial"/>
              </a:rPr>
              <a:t>5-year benefit (simulated)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606040" y="370332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433"/>
                </a:solidFill>
                <a:latin typeface="Arial"/>
              </a:rPr>
              <a:t>₹58.8 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606040" y="410565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5"/>
                </a:solidFill>
                <a:latin typeface="Arial"/>
              </a:rPr>
              <a:t>5-year cost of OpEx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800600" y="3703320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4F5BD5"/>
                </a:solidFill>
                <a:latin typeface="Arial"/>
              </a:rPr>
              <a:t>12.1×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800600" y="410565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5"/>
                </a:solidFill>
                <a:latin typeface="Arial"/>
              </a:rPr>
              <a:t>net return on cost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812280" y="3703320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4F5BD5"/>
                </a:solidFill>
                <a:latin typeface="Arial"/>
              </a:rPr>
              <a:t>month 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812280" y="4105656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5"/>
                </a:solidFill>
                <a:latin typeface="Arial"/>
              </a:rPr>
              <a:t>payback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7472" y="4553712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B6475"/>
                </a:solidFill>
                <a:latin typeface="Arial"/>
              </a:rPr>
              <a:t>Gemini prices: Google AI pricing page, Oct 2026 (gemini-3.8-flash $0.75 / $3.75 per M tokens until 31 Dec 2026). USD at ₹84.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Headline"/>
          <p:cNvSpPr txBox="1"/>
          <p:nvPr/>
        </p:nvSpPr>
        <p:spPr>
          <a:xfrm>
            <a:off x="347472" y="987552"/>
            <a:ext cx="8458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E2433"/>
                </a:solidFill>
                <a:latin typeface="Arial"/>
              </a:rPr>
              <a:t>Working prototype: four real screens from the running app</a:t>
            </a:r>
          </a:p>
        </p:txBody>
      </p:sp>
      <p:pic>
        <p:nvPicPr>
          <p:cNvPr id="137" name="Picture 136" descr="02_overvi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1418062"/>
            <a:ext cx="4160520" cy="1424978"/>
          </a:xfrm>
          <a:prstGeom prst="rect">
            <a:avLst/>
          </a:prstGeom>
          <a:ln w="9525">
            <a:solidFill>
              <a:srgbClr val="DDE1EA"/>
            </a:solidFill>
          </a:ln>
        </p:spPr>
      </p:pic>
      <p:sp>
        <p:nvSpPr>
          <p:cNvPr id="138" name="TextBox 137"/>
          <p:cNvSpPr txBox="1"/>
          <p:nvPr/>
        </p:nvSpPr>
        <p:spPr>
          <a:xfrm>
            <a:off x="347472" y="2862072"/>
            <a:ext cx="4160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475"/>
                </a:solidFill>
                <a:latin typeface="Arial"/>
              </a:rPr>
              <a:t>Factory health and 'worry about first'</a:t>
            </a:r>
          </a:p>
        </p:txBody>
      </p:sp>
      <p:pic>
        <p:nvPicPr>
          <p:cNvPr id="139" name="Picture 138" descr="05_deci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6864" y="1418062"/>
            <a:ext cx="4160520" cy="1424978"/>
          </a:xfrm>
          <a:prstGeom prst="rect">
            <a:avLst/>
          </a:prstGeom>
          <a:ln w="9525">
            <a:solidFill>
              <a:srgbClr val="DDE1EA"/>
            </a:solidFill>
          </a:ln>
        </p:spPr>
      </p:pic>
      <p:sp>
        <p:nvSpPr>
          <p:cNvPr id="140" name="TextBox 139"/>
          <p:cNvSpPr txBox="1"/>
          <p:nvPr/>
        </p:nvSpPr>
        <p:spPr>
          <a:xfrm>
            <a:off x="4626864" y="2862072"/>
            <a:ext cx="4160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475"/>
                </a:solidFill>
                <a:latin typeface="Arial"/>
              </a:rPr>
              <a:t>Options priced in ₹ + human approval</a:t>
            </a:r>
          </a:p>
        </p:txBody>
      </p:sp>
      <p:pic>
        <p:nvPicPr>
          <p:cNvPr id="141" name="Picture 140" descr="07_sensor_drif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" y="3118846"/>
            <a:ext cx="4160520" cy="1424978"/>
          </a:xfrm>
          <a:prstGeom prst="rect">
            <a:avLst/>
          </a:prstGeom>
          <a:ln w="9525">
            <a:solidFill>
              <a:srgbClr val="DDE1EA"/>
            </a:solidFill>
          </a:ln>
        </p:spPr>
      </p:pic>
      <p:sp>
        <p:nvSpPr>
          <p:cNvPr id="142" name="TextBox 141"/>
          <p:cNvSpPr txBox="1"/>
          <p:nvPr/>
        </p:nvSpPr>
        <p:spPr>
          <a:xfrm>
            <a:off x="347472" y="4562856"/>
            <a:ext cx="4160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475"/>
                </a:solidFill>
                <a:latin typeface="Arial"/>
              </a:rPr>
              <a:t>Faulty sensor caught: recalibrate, not a false breakdown alarm</a:t>
            </a:r>
          </a:p>
        </p:txBody>
      </p:sp>
      <p:pic>
        <p:nvPicPr>
          <p:cNvPr id="143" name="Picture 142" descr="10_simulation_result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6864" y="3118846"/>
            <a:ext cx="4160520" cy="1424978"/>
          </a:xfrm>
          <a:prstGeom prst="rect">
            <a:avLst/>
          </a:prstGeom>
          <a:ln w="9525">
            <a:solidFill>
              <a:srgbClr val="DDE1EA"/>
            </a:solidFill>
          </a:ln>
        </p:spPr>
      </p:pic>
      <p:sp>
        <p:nvSpPr>
          <p:cNvPr id="144" name="TextBox 143"/>
          <p:cNvSpPr txBox="1"/>
          <p:nvPr/>
        </p:nvSpPr>
        <p:spPr>
          <a:xfrm>
            <a:off x="4626864" y="4562856"/>
            <a:ext cx="4160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>
                <a:solidFill>
                  <a:srgbClr val="5B6475"/>
                </a:solidFill>
                <a:latin typeface="Arial"/>
              </a:rPr>
              <a:t>5-year results vs published benchmarks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Headline"/>
          <p:cNvSpPr txBox="1"/>
          <p:nvPr/>
        </p:nvSpPr>
        <p:spPr>
          <a:xfrm>
            <a:off x="347472" y="987552"/>
            <a:ext cx="8458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E2433"/>
                </a:solidFill>
                <a:latin typeface="Arial"/>
              </a:rPr>
              <a:t>Scored on unseen data; results land inside published benchmarks</a:t>
            </a:r>
          </a:p>
        </p:txBody>
      </p:sp>
      <p:graphicFrame>
        <p:nvGraphicFramePr>
          <p:cNvPr id="145" name="Table 144"/>
          <p:cNvGraphicFramePr>
            <a:graphicFrameLocks noGrp="1"/>
          </p:cNvGraphicFramePr>
          <p:nvPr/>
        </p:nvGraphicFramePr>
        <p:xfrm>
          <a:off x="347472" y="1463040"/>
          <a:ext cx="47091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08760"/>
                <a:gridCol w="1645920"/>
              </a:tblGrid>
              <a:tr h="342900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Model (held-out test)</a:t>
                      </a:r>
                    </a:p>
                  </a:txBody>
                  <a:tcPr marL="54864" marR="54864" marT="22860" marB="22860">
                    <a:solidFill>
                      <a:srgbClr val="1E24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22860" marB="22860">
                    <a:solidFill>
                      <a:srgbClr val="1E24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 marL="54864" marR="54864" marT="22860" marB="22860">
                    <a:solidFill>
                      <a:srgbClr val="1E24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E2433"/>
                          </a:solidFill>
                          <a:latin typeface="Arial"/>
                        </a:rPr>
                        <a:t>Failure-mode classifier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AI4I 2020 · 2,000 test rows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ROC AUC 0.996 · P 94% / R 89%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E2433"/>
                          </a:solidFill>
                          <a:latin typeface="Arial"/>
                        </a:rPr>
                        <a:t>Remaining-life model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NASA C-MAPSS FD001 · 100 test engines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RMSE 13.0 cycles · NASA score 300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E2433"/>
                          </a:solidFill>
                          <a:latin typeface="Arial"/>
                        </a:rPr>
                        <a:t>Remaining-life 10–90% band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covers 82% of engines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E2433"/>
                          </a:solidFill>
                          <a:latin typeface="Arial"/>
                        </a:rPr>
                        <a:t>Component precursor model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Azure PdM · Sep–Dec held out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caught 94–100% of failures 24–32 h ahead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1E2433"/>
                          </a:solidFill>
                          <a:latin typeface="Arial"/>
                        </a:rPr>
                        <a:t>Live overview (24 machines)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app benchmark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E2433"/>
                          </a:solidFill>
                          <a:latin typeface="Arial"/>
                        </a:rPr>
                        <a:t>0.18 s warm · 5-yr simulation 4.5 s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6" name="Chart 145"/>
          <p:cNvGraphicFramePr>
            <a:graphicFrameLocks noGrp="1"/>
          </p:cNvGraphicFramePr>
          <p:nvPr/>
        </p:nvGraphicFramePr>
        <p:xfrm>
          <a:off x="5212080" y="1417320"/>
          <a:ext cx="3611880" cy="219456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7" name="TextBox 146"/>
          <p:cNvSpPr txBox="1"/>
          <p:nvPr/>
        </p:nvSpPr>
        <p:spPr>
          <a:xfrm>
            <a:off x="347472" y="3657600"/>
            <a:ext cx="8458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1E2433"/>
                </a:solidFill>
                <a:latin typeface="Arial"/>
              </a:rPr>
              <a:t/>
            </a:r>
            <a:r>
              <a:rPr sz="850">
                <a:solidFill>
                  <a:srgbClr val="4F5BD5"/>
                </a:solidFill>
                <a:latin typeface="Arial"/>
              </a:rPr>
              <a:t>•  </a:t>
            </a:r>
            <a:r>
              <a:rPr sz="850" b="1">
                <a:solidFill>
                  <a:srgbClr val="1E2433"/>
                </a:solidFill>
                <a:latin typeface="Arial"/>
              </a:rPr>
              <a:t>Honest by design: </a:t>
            </a:r>
            <a:r>
              <a:rPr sz="850" b="0">
                <a:solidFill>
                  <a:srgbClr val="1E2433"/>
                </a:solidFill>
                <a:latin typeface="Arial"/>
              </a:rPr>
              <a:t>the simulation counts model misses (sensor coverage 90%), people ignoring advice (15%), 1,364 false alarms over 5 years (each a 1 h inspection stop) and parts stock-outs.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4F5BD5"/>
                </a:solidFill>
                <a:latin typeface="Arial"/>
              </a:rPr>
              <a:t>•  </a:t>
            </a:r>
            <a:r>
              <a:rPr sz="850" b="1">
                <a:solidFill>
                  <a:srgbClr val="1E2433"/>
                </a:solidFill>
                <a:latin typeface="Arial"/>
              </a:rPr>
              <a:t>Equipment downtime </a:t>
            </a:r>
            <a:r>
              <a:rPr sz="850" b="0">
                <a:solidFill>
                  <a:srgbClr val="1E2433"/>
                </a:solidFill>
                <a:latin typeface="Arial"/>
              </a:rPr>
              <a:t>−63% (DOE 35–45% counts all stops; our material and set-up stops, 17.5% of planned time, stay identical in both worlds).</a:t>
            </a:r>
          </a:p>
          <a:p>
            <a:pPr>
              <a:spcAft>
                <a:spcPts val="200"/>
              </a:spcAft>
            </a:pPr>
            <a:r>
              <a:rPr sz="850">
                <a:solidFill>
                  <a:srgbClr val="4F5BD5"/>
                </a:solidFill>
                <a:latin typeface="Arial"/>
              </a:rPr>
              <a:t>•  </a:t>
            </a:r>
            <a:r>
              <a:rPr sz="850" b="1">
                <a:solidFill>
                  <a:srgbClr val="1E2433"/>
                </a:solidFill>
                <a:latin typeface="Arial"/>
              </a:rPr>
              <a:t>Tested: </a:t>
            </a:r>
            <a:r>
              <a:rPr sz="850" b="0">
                <a:solidFill>
                  <a:srgbClr val="1E2433"/>
                </a:solidFill>
                <a:latin typeface="Arial"/>
              </a:rPr>
              <a:t>7 automated tests (simulator determinism and benefit, live scenario, roles and decision flow); SQL verified on Postgres 18 with Supabase-style roles.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Headline"/>
          <p:cNvSpPr txBox="1"/>
          <p:nvPr/>
        </p:nvSpPr>
        <p:spPr>
          <a:xfrm>
            <a:off x="347472" y="987552"/>
            <a:ext cx="8458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E2433"/>
                </a:solidFill>
                <a:latin typeface="Arial"/>
              </a:rPr>
              <a:t>Built to scale from one plant to India's 1,100+ ACMA members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47472" y="1463040"/>
            <a:ext cx="2697480" cy="16002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rocket_indi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1554480"/>
            <a:ext cx="329184" cy="329184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896112" y="160934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2433"/>
                </a:solidFill>
                <a:latin typeface="Arial"/>
              </a:rPr>
              <a:t>Next 3 months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4632" y="1993392"/>
            <a:ext cx="2468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60" b="0">
                <a:solidFill>
                  <a:srgbClr val="1E2433"/>
                </a:solidFill>
                <a:latin typeface="Arial"/>
              </a:rPr>
              <a:t/>
            </a:r>
            <a:r>
              <a:rPr sz="960">
                <a:solidFill>
                  <a:srgbClr val="4F5BD5"/>
                </a:solidFill>
                <a:latin typeface="Arial"/>
              </a:rPr>
              <a:t>•  </a:t>
            </a:r>
            <a:r>
              <a:rPr sz="960" b="0">
                <a:solidFill>
                  <a:srgbClr val="1E2433"/>
                </a:solidFill>
                <a:latin typeface="Arial"/>
              </a:rPr>
              <a:t>Pilot on 6 machines with OPC UA / MTConnect gateway</a:t>
            </a:r>
          </a:p>
          <a:p>
            <a:pPr>
              <a:spcAft>
                <a:spcPts val="400"/>
              </a:spcAft>
            </a:pPr>
            <a:r>
              <a:rPr sz="960">
                <a:solidFill>
                  <a:srgbClr val="4F5BD5"/>
                </a:solidFill>
                <a:latin typeface="Arial"/>
              </a:rPr>
              <a:t>•  </a:t>
            </a:r>
            <a:r>
              <a:rPr sz="960" b="0">
                <a:solidFill>
                  <a:srgbClr val="1E2433"/>
                </a:solidFill>
                <a:latin typeface="Arial"/>
              </a:rPr>
              <a:t>Re-fit health estimators per machine</a:t>
            </a:r>
          </a:p>
          <a:p>
            <a:pPr>
              <a:spcAft>
                <a:spcPts val="400"/>
              </a:spcAft>
            </a:pPr>
            <a:r>
              <a:rPr sz="960">
                <a:solidFill>
                  <a:srgbClr val="4F5BD5"/>
                </a:solidFill>
                <a:latin typeface="Arial"/>
              </a:rPr>
              <a:t>•  </a:t>
            </a:r>
            <a:r>
              <a:rPr sz="960" b="0">
                <a:solidFill>
                  <a:srgbClr val="1E2433"/>
                </a:solidFill>
                <a:latin typeface="Arial"/>
              </a:rPr>
              <a:t>Shift-handover summaries by Gemini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182112" y="1463040"/>
            <a:ext cx="2697480" cy="16002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layers_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9272" y="1554480"/>
            <a:ext cx="329184" cy="329184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3730752" y="160934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2433"/>
                </a:solidFill>
                <a:latin typeface="Arial"/>
              </a:rPr>
              <a:t>6–12 months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19272" y="1993392"/>
            <a:ext cx="2468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60" b="0">
                <a:solidFill>
                  <a:srgbClr val="1E2433"/>
                </a:solidFill>
                <a:latin typeface="Arial"/>
              </a:rPr>
              <a:t/>
            </a:r>
            <a:r>
              <a:rPr sz="960">
                <a:solidFill>
                  <a:srgbClr val="4F5BD5"/>
                </a:solidFill>
                <a:latin typeface="Arial"/>
              </a:rPr>
              <a:t>•  </a:t>
            </a:r>
            <a:r>
              <a:rPr sz="960" b="0">
                <a:solidFill>
                  <a:srgbClr val="1E2433"/>
                </a:solidFill>
                <a:latin typeface="Arial"/>
              </a:rPr>
              <a:t>Multi-plant view and benchmarking</a:t>
            </a:r>
          </a:p>
          <a:p>
            <a:pPr>
              <a:spcAft>
                <a:spcPts val="400"/>
              </a:spcAft>
            </a:pPr>
            <a:r>
              <a:rPr sz="960">
                <a:solidFill>
                  <a:srgbClr val="4F5BD5"/>
                </a:solidFill>
                <a:latin typeface="Arial"/>
              </a:rPr>
              <a:t>•  </a:t>
            </a:r>
            <a:r>
              <a:rPr sz="960" b="0">
                <a:solidFill>
                  <a:srgbClr val="1E2433"/>
                </a:solidFill>
                <a:latin typeface="Arial"/>
              </a:rPr>
              <a:t>Dataflow streaming into BigQuery</a:t>
            </a:r>
          </a:p>
          <a:p>
            <a:pPr>
              <a:spcAft>
                <a:spcPts val="400"/>
              </a:spcAft>
            </a:pPr>
            <a:r>
              <a:rPr sz="960">
                <a:solidFill>
                  <a:srgbClr val="4F5BD5"/>
                </a:solidFill>
                <a:latin typeface="Arial"/>
              </a:rPr>
              <a:t>•  </a:t>
            </a:r>
            <a:r>
              <a:rPr sz="960" b="0">
                <a:solidFill>
                  <a:srgbClr val="1E2433"/>
                </a:solidFill>
                <a:latin typeface="Arial"/>
              </a:rPr>
              <a:t>Per-machine fine-tuning on Vertex AI with 6 months of data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016752" y="1463040"/>
            <a:ext cx="2697480" cy="16002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2" name="Picture 161" descr="eye_pea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554480"/>
            <a:ext cx="329184" cy="329184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6565392" y="160934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2433"/>
                </a:solidFill>
                <a:latin typeface="Arial"/>
              </a:rPr>
              <a:t>Later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153912" y="1993392"/>
            <a:ext cx="2468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60" b="0">
                <a:solidFill>
                  <a:srgbClr val="1E2433"/>
                </a:solidFill>
                <a:latin typeface="Arial"/>
              </a:rPr>
              <a:t/>
            </a:r>
            <a:r>
              <a:rPr sz="960">
                <a:solidFill>
                  <a:srgbClr val="4F5BD5"/>
                </a:solidFill>
                <a:latin typeface="Arial"/>
              </a:rPr>
              <a:t>•  </a:t>
            </a:r>
            <a:r>
              <a:rPr sz="960" b="0">
                <a:solidFill>
                  <a:srgbClr val="1E2433"/>
                </a:solidFill>
                <a:latin typeface="Arial"/>
              </a:rPr>
              <a:t>Line-camera visual inspection with Gemini</a:t>
            </a:r>
          </a:p>
          <a:p>
            <a:pPr>
              <a:spcAft>
                <a:spcPts val="400"/>
              </a:spcAft>
            </a:pPr>
            <a:r>
              <a:rPr sz="960">
                <a:solidFill>
                  <a:srgbClr val="4F5BD5"/>
                </a:solidFill>
                <a:latin typeface="Arial"/>
              </a:rPr>
              <a:t>•  </a:t>
            </a:r>
            <a:r>
              <a:rPr sz="960" b="0">
                <a:solidFill>
                  <a:srgbClr val="1E2433"/>
                </a:solidFill>
                <a:latin typeface="Arial"/>
              </a:rPr>
              <a:t>Spare-parts auto-ordering</a:t>
            </a:r>
          </a:p>
          <a:p>
            <a:pPr>
              <a:spcAft>
                <a:spcPts val="400"/>
              </a:spcAft>
            </a:pPr>
            <a:r>
              <a:rPr sz="960">
                <a:solidFill>
                  <a:srgbClr val="4F5BD5"/>
                </a:solidFill>
                <a:latin typeface="Arial"/>
              </a:rPr>
              <a:t>•  </a:t>
            </a:r>
            <a:r>
              <a:rPr sz="960" b="0">
                <a:solidFill>
                  <a:srgbClr val="1E2433"/>
                </a:solidFill>
                <a:latin typeface="Arial"/>
              </a:rPr>
              <a:t>Energy tariff-aware scheduling (peak hours +25%)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347472" y="3200400"/>
            <a:ext cx="4160520" cy="1572768"/>
          </a:xfrm>
          <a:prstGeom prst="roundRect">
            <a:avLst>
              <a:gd name="adj" fmla="val 8000"/>
            </a:avLst>
          </a:prstGeom>
          <a:solidFill>
            <a:srgbClr val="E5F4EC"/>
          </a:solidFill>
          <a:ln w="9525">
            <a:solidFill>
              <a:srgbClr val="9E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6" name="Picture 165" descr="users_te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291840"/>
            <a:ext cx="310896" cy="310896"/>
          </a:xfrm>
          <a:prstGeom prst="rect">
            <a:avLst/>
          </a:prstGeom>
        </p:spPr>
      </p:pic>
      <p:sp>
        <p:nvSpPr>
          <p:cNvPr id="167" name="TextBox 166"/>
          <p:cNvSpPr txBox="1"/>
          <p:nvPr/>
        </p:nvSpPr>
        <p:spPr>
          <a:xfrm>
            <a:off x="868680" y="3319272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17A5F"/>
                </a:solidFill>
                <a:latin typeface="Arial"/>
              </a:rPr>
              <a:t>Community benefit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3657600"/>
            <a:ext cx="3977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19" b="0">
                <a:solidFill>
                  <a:srgbClr val="1E2433"/>
                </a:solidFill>
                <a:latin typeface="Arial"/>
              </a:rPr>
              <a:t/>
            </a: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1.5 M people work directly in Indian auto components (ACMA): fewer emergency night repairs, safer work with LOTO steps built in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Works in Hindi, Telugu, Tamil, Kannada, Marathi; read-aloud and voice for low-literacy and low-vision workers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342 t CO₂ avoided per 24-machine plant over 5 years (simulated)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645152" y="3200400"/>
            <a:ext cx="4160520" cy="1572768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 w="9525">
            <a:solidFill>
              <a:srgbClr val="B9B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0" name="Picture 169" descr="network_indi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880" y="3291840"/>
            <a:ext cx="310896" cy="310896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5166360" y="3319272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5BD5"/>
                </a:solidFill>
                <a:latin typeface="Arial"/>
              </a:rPr>
              <a:t>Feasibility and scalability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754880" y="3657600"/>
            <a:ext cx="3977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19" b="0">
                <a:solidFill>
                  <a:srgbClr val="1E2433"/>
                </a:solidFill>
                <a:latin typeface="Arial"/>
              </a:rPr>
              <a:t/>
            </a: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Runs today: one container, zero keys needed to try, one script to deploy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Sensor-agnostic models (health-index features) transfer to any machine type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4F5BD5"/>
                </a:solidFill>
                <a:latin typeface="Arial"/>
              </a:rPr>
              <a:t>•  </a:t>
            </a:r>
            <a:r>
              <a:rPr sz="919" b="0">
                <a:solidFill>
                  <a:srgbClr val="1E2433"/>
                </a:solidFill>
                <a:latin typeface="Arial"/>
              </a:rPr>
              <a:t>Scale-out path: real ingest replaces the twin → Cloud Run instances → pgvector at 100k documents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>
                <a:solidFill>
                  <a:srgbClr val="4F5BD5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:  github.com/&lt;your-team&gt;/opex  (add after pushing)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>
                <a:solidFill>
                  <a:srgbClr val="4F5BD5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:  &lt;add YouTube / Drive link&gt; (script in HOW_TO_RUN.md)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>
                <a:solidFill>
                  <a:srgbClr val="4F5BD5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:  &lt;add Cloud Run URL&gt; (./deploy/deploy_cloud_run.sh prints it)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47472" y="2194560"/>
            <a:ext cx="8458200" cy="25146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502920" y="23042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E2433"/>
                </a:solidFill>
                <a:latin typeface="Arial"/>
              </a:rPr>
              <a:t>Try it in 60 seconds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02920" y="2651760"/>
            <a:ext cx="40233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1E2433"/>
                </a:solidFill>
                <a:latin typeface="Arial"/>
              </a:rPr>
              <a:t/>
            </a:r>
            <a:r>
              <a:rPr sz="900">
                <a:solidFill>
                  <a:srgbClr val="4F5BD5"/>
                </a:solidFill>
                <a:latin typeface="Arial"/>
              </a:rPr>
              <a:t>•  </a:t>
            </a:r>
            <a:r>
              <a:rPr sz="900" b="0">
                <a:solidFill>
                  <a:srgbClr val="1E2433"/>
                </a:solidFill>
                <a:latin typeface="Arial"/>
              </a:rPr>
              <a:t>Click 'Explore as a guest' on the sign-in page, or sign in as engineer@opex.demo (password OpEx-demo-2026)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4F5BD5"/>
                </a:solidFill>
                <a:latin typeface="Arial"/>
              </a:rPr>
              <a:t>•  </a:t>
            </a:r>
            <a:r>
              <a:rPr sz="900" b="0">
                <a:solidFill>
                  <a:srgbClr val="1E2433"/>
                </a:solidFill>
                <a:latin typeface="Arial"/>
              </a:rPr>
              <a:t>Open M-17 → see the diagnosis → compare priced options → AI incident room → Approve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4F5BD5"/>
                </a:solidFill>
                <a:latin typeface="Arial"/>
              </a:rPr>
              <a:t>•  </a:t>
            </a:r>
            <a:r>
              <a:rPr sz="900" b="0">
                <a:solidFill>
                  <a:srgbClr val="1E2433"/>
                </a:solidFill>
                <a:latin typeface="Arial"/>
              </a:rPr>
              <a:t>5-year simulation → choose replay length → Simulate → Skip to results → Rewind the factory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4F5BD5"/>
                </a:solidFill>
                <a:latin typeface="Arial"/>
              </a:rPr>
              <a:t>•  </a:t>
            </a:r>
            <a:r>
              <a:rPr sz="900" b="0">
                <a:solidFill>
                  <a:srgbClr val="1E2433"/>
                </a:solidFill>
                <a:latin typeface="Arial"/>
              </a:rPr>
              <a:t>Settings → Display: try high contrast, extra-large text and Lexend</a:t>
            </a:r>
          </a:p>
        </p:txBody>
      </p:sp>
      <p:pic>
        <p:nvPicPr>
          <p:cNvPr id="163" name="Picture 162" descr="09_simulation_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2331720"/>
            <a:ext cx="3657600" cy="2286000"/>
          </a:xfrm>
          <a:prstGeom prst="rect">
            <a:avLst/>
          </a:prstGeom>
          <a:ln w="9525">
            <a:solidFill>
              <a:srgbClr val="DDE1EA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347472" y="658368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433"/>
                </a:solidFill>
                <a:latin typeface="Google Sans Flex Medium"/>
              </a:rPr>
              <a:t>How we calculated the 5-year numbers</a:t>
            </a:r>
          </a:p>
        </p:txBody>
      </p:sp>
      <p:sp>
        <p:nvSpPr>
          <p:cNvPr id="168" name="Headline"/>
          <p:cNvSpPr txBox="1"/>
          <p:nvPr/>
        </p:nvSpPr>
        <p:spPr>
          <a:xfrm>
            <a:off x="347472" y="987552"/>
            <a:ext cx="8458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E2433"/>
                </a:solidFill>
                <a:latin typeface="Arial"/>
              </a:rPr>
              <a:t>Same plant, same luck, two policies: where the ₹7.1 Cr comes from</a:t>
            </a:r>
          </a:p>
        </p:txBody>
      </p:sp>
      <p:graphicFrame>
        <p:nvGraphicFramePr>
          <p:cNvPr id="169" name="Table 168"/>
          <p:cNvGraphicFramePr>
            <a:graphicFrameLocks noGrp="1"/>
          </p:cNvGraphicFramePr>
          <p:nvPr/>
        </p:nvGraphicFramePr>
        <p:xfrm>
          <a:off x="347472" y="1417320"/>
          <a:ext cx="5257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154680"/>
                <a:gridCol w="868680"/>
              </a:tblGrid>
              <a:tr h="359228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FFFFFF"/>
                          </a:solidFill>
                          <a:latin typeface="Arial"/>
                        </a:rPr>
                        <a:t>Benefit line</a:t>
                      </a:r>
                    </a:p>
                  </a:txBody>
                  <a:tcPr marL="54864" marR="54864" marT="22860" marB="22860">
                    <a:solidFill>
                      <a:srgbClr val="1E24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FFFFFF"/>
                          </a:solidFill>
                          <a:latin typeface="Arial"/>
                        </a:rPr>
                        <a:t>Formula</a:t>
                      </a:r>
                    </a:p>
                  </a:txBody>
                  <a:tcPr marL="54864" marR="54864" marT="22860" marB="22860">
                    <a:solidFill>
                      <a:srgbClr val="1E24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4864" marR="54864" marT="22860" marB="22860">
                    <a:solidFill>
                      <a:srgbClr val="1E2433"/>
                    </a:solidFill>
                  </a:tcPr>
                </a:tc>
              </a:tr>
              <a:tr h="359228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E2433"/>
                          </a:solidFill>
                          <a:latin typeface="Arial"/>
                        </a:rPr>
                        <a:t>Production protected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E2433"/>
                          </a:solidFill>
                          <a:latin typeface="Arial"/>
                        </a:rPr>
                        <a:t>140,944 extra good parts × contribution ₹175–760 per part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E2433"/>
                          </a:solidFill>
                          <a:latin typeface="Arial"/>
                        </a:rPr>
                        <a:t>₹4.45 Cr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E2433"/>
                          </a:solidFill>
                          <a:latin typeface="Arial"/>
                        </a:rPr>
                        <a:t>Maintenance saved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E2433"/>
                          </a:solidFill>
                          <a:latin typeface="Arial"/>
                        </a:rPr>
                        <a:t>parts + labour (×1.5 overtime after breakdowns) + secondary damage + inspections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E2433"/>
                          </a:solidFill>
                          <a:latin typeface="Arial"/>
                        </a:rPr>
                        <a:t>₹2.22 Cr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</a:tr>
              <a:tr h="359228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E2433"/>
                          </a:solidFill>
                          <a:latin typeface="Arial"/>
                        </a:rPr>
                        <a:t>Scrap avoided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E2433"/>
                          </a:solidFill>
                          <a:latin typeface="Arial"/>
                        </a:rPr>
                        <a:t>8,643 fewer bad parts × scrap cost ₹380–1,450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E2433"/>
                          </a:solidFill>
                          <a:latin typeface="Arial"/>
                        </a:rPr>
                        <a:t>₹55.2 L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E2433"/>
                          </a:solidFill>
                          <a:latin typeface="Arial"/>
                        </a:rPr>
                        <a:t>Energy saved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E2433"/>
                          </a:solidFill>
                          <a:latin typeface="Arial"/>
                        </a:rPr>
                        <a:t>507 MWh × ₹9.25/kWh (MSEDCL HT FY27) · 342 t CO₂ at 0.675 t/MWh (CEA v22)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E2433"/>
                          </a:solidFill>
                          <a:latin typeface="Arial"/>
                        </a:rPr>
                        <a:t>₹46.9 L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</a:tr>
              <a:tr h="359228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E2433"/>
                          </a:solidFill>
                          <a:latin typeface="Arial"/>
                        </a:rPr>
                        <a:t>Total benefit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E2433"/>
                          </a:solidFill>
                          <a:latin typeface="Arial"/>
                        </a:rPr>
                        <a:t>sum of the four lines above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E2433"/>
                          </a:solidFill>
                          <a:latin typeface="Arial"/>
                        </a:rPr>
                        <a:t>₹7.69 Cr</a:t>
                      </a:r>
                    </a:p>
                  </a:txBody>
                  <a:tcPr marL="54864" marR="54864" marT="22860" marB="22860">
                    <a:solidFill>
                      <a:srgbClr val="FFFFFF"/>
                    </a:solidFill>
                  </a:tcPr>
                </a:tc>
              </a:tr>
              <a:tr h="359232">
                <a:tc>
                  <a:txBody>
                    <a:bodyPr wrap="square"/>
                    <a:lstStyle/>
                    <a:p>
                      <a:r>
                        <a:rPr sz="780" b="1">
                          <a:solidFill>
                            <a:srgbClr val="1E2433"/>
                          </a:solidFill>
                          <a:latin typeface="Arial"/>
                        </a:rPr>
                        <a:t>Net benefit / ROI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E2433"/>
                          </a:solidFill>
                          <a:latin typeface="Arial"/>
                        </a:rPr>
                        <a:t>₹7.69 Cr − ₹58.8 L cost = ₹7.11 Cr · ÷ cost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80" b="0">
                          <a:solidFill>
                            <a:srgbClr val="1E2433"/>
                          </a:solidFill>
                          <a:latin typeface="Arial"/>
                        </a:rPr>
                        <a:t>12.1×</a:t>
                      </a:r>
                    </a:p>
                  </a:txBody>
                  <a:tcPr marL="54864" marR="54864" marT="22860" marB="22860">
                    <a:solidFill>
                      <a:srgbClr val="F4F5FA"/>
                    </a:solidFill>
                  </a:tcPr>
                </a:tc>
              </a:tr>
            </a:tbl>
          </a:graphicData>
        </a:graphic>
      </p:graphicFrame>
      <p:sp>
        <p:nvSpPr>
          <p:cNvPr id="170" name="Rounded Rectangle 169"/>
          <p:cNvSpPr/>
          <p:nvPr/>
        </p:nvSpPr>
        <p:spPr>
          <a:xfrm>
            <a:off x="5760720" y="1417320"/>
            <a:ext cx="3017520" cy="2514600"/>
          </a:xfrm>
          <a:prstGeom prst="roundRect">
            <a:avLst>
              <a:gd name="adj" fmla="val 8000"/>
            </a:avLst>
          </a:prstGeom>
          <a:solidFill>
            <a:srgbClr val="F4F5FA"/>
          </a:solidFill>
          <a:ln w="9525">
            <a:solidFill>
              <a:srgbClr val="DD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870448" y="1481328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1E2433"/>
                </a:solidFill>
                <a:latin typeface="Arial"/>
              </a:rPr>
              <a:t>Calibrated inputs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870448" y="1737360"/>
            <a:ext cx="28346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30" b="0">
                <a:solidFill>
                  <a:srgbClr val="1E2433"/>
                </a:solidFill>
                <a:latin typeface="Arial"/>
              </a:rPr>
              <a:t/>
            </a:r>
            <a:r>
              <a:rPr sz="830">
                <a:solidFill>
                  <a:srgbClr val="4F5BD5"/>
                </a:solidFill>
                <a:latin typeface="Arial"/>
              </a:rPr>
              <a:t>•  </a:t>
            </a:r>
            <a:r>
              <a:rPr sz="830" b="0">
                <a:solidFill>
                  <a:srgbClr val="1E2433"/>
                </a:solidFill>
                <a:latin typeface="Arial"/>
              </a:rPr>
              <a:t>Failures/machine-yr: bearing 1.79 · drive 2.59 · electrical 1.92 · coolant 1.31 (Azure PdM)</a:t>
            </a:r>
          </a:p>
          <a:p>
            <a:pPr>
              <a:spcAft>
                <a:spcPts val="300"/>
              </a:spcAft>
            </a:pPr>
            <a:r>
              <a:rPr sz="830">
                <a:solidFill>
                  <a:srgbClr val="4F5BD5"/>
                </a:solidFill>
                <a:latin typeface="Arial"/>
              </a:rPr>
              <a:t>•  </a:t>
            </a:r>
            <a:r>
              <a:rPr sz="830" b="0">
                <a:solidFill>
                  <a:srgbClr val="1E2433"/>
                </a:solidFill>
                <a:latin typeface="Arial"/>
              </a:rPr>
              <a:t>Wear curve damage(u) = (e^3.75u − 1)/(e^3.75 − 1); life spread Weibull k 4.41 (NASA C-MAPSS)</a:t>
            </a:r>
          </a:p>
          <a:p>
            <a:pPr>
              <a:spcAft>
                <a:spcPts val="300"/>
              </a:spcAft>
            </a:pPr>
            <a:r>
              <a:rPr sz="830">
                <a:solidFill>
                  <a:srgbClr val="4F5BD5"/>
                </a:solidFill>
                <a:latin typeface="Arial"/>
              </a:rPr>
              <a:t>•  </a:t>
            </a:r>
            <a:r>
              <a:rPr sz="830" b="0">
                <a:solidFill>
                  <a:srgbClr val="1E2433"/>
                </a:solidFill>
                <a:latin typeface="Arial"/>
              </a:rPr>
              <a:t>Prevented = recall 0.94–1.00 × sensor coverage 0.90 × follow-advice 0.85 ≈ 72–76%</a:t>
            </a:r>
          </a:p>
          <a:p>
            <a:pPr>
              <a:spcAft>
                <a:spcPts val="300"/>
              </a:spcAft>
            </a:pPr>
            <a:r>
              <a:rPr sz="830">
                <a:solidFill>
                  <a:srgbClr val="4F5BD5"/>
                </a:solidFill>
                <a:latin typeface="Arial"/>
              </a:rPr>
              <a:t>•  </a:t>
            </a:r>
            <a:r>
              <a:rPr sz="830" b="0">
                <a:solidFill>
                  <a:srgbClr val="1E2433"/>
                </a:solidFill>
                <a:latin typeface="Arial"/>
              </a:rPr>
              <a:t>Warning timing error N(0.04, 0.20) of remaining life (C-MAPSS out-of-fold)</a:t>
            </a:r>
          </a:p>
          <a:p>
            <a:pPr>
              <a:spcAft>
                <a:spcPts val="300"/>
              </a:spcAft>
            </a:pPr>
            <a:r>
              <a:rPr sz="830">
                <a:solidFill>
                  <a:srgbClr val="4F5BD5"/>
                </a:solidFill>
                <a:latin typeface="Arial"/>
              </a:rPr>
              <a:t>•  </a:t>
            </a:r>
            <a:r>
              <a:rPr sz="830" b="0">
                <a:solidFill>
                  <a:srgbClr val="1E2433"/>
                </a:solidFill>
                <a:latin typeface="Arial"/>
              </a:rPr>
              <a:t>Minor stops 8.9% + set-ups 8.6%, repair-time σ 0.82 (Zenodo real line)</a:t>
            </a:r>
          </a:p>
          <a:p>
            <a:pPr>
              <a:spcAft>
                <a:spcPts val="300"/>
              </a:spcAft>
            </a:pPr>
            <a:r>
              <a:rPr sz="830">
                <a:solidFill>
                  <a:srgbClr val="4F5BD5"/>
                </a:solidFill>
                <a:latin typeface="Arial"/>
              </a:rPr>
              <a:t>•  </a:t>
            </a:r>
            <a:r>
              <a:rPr sz="830" b="0">
                <a:solidFill>
                  <a:srgbClr val="1E2433"/>
                </a:solidFill>
                <a:latin typeface="Arial"/>
              </a:rPr>
              <a:t>6,750 planned h/yr (3 shifts × 7.5 h × 300 days)</a:t>
            </a:r>
          </a:p>
        </p:txBody>
      </p:sp>
      <p:graphicFrame>
        <p:nvGraphicFramePr>
          <p:cNvPr id="173" name="Chart 172"/>
          <p:cNvGraphicFramePr>
            <a:graphicFrameLocks noGrp="1"/>
          </p:cNvGraphicFramePr>
          <p:nvPr/>
        </p:nvGraphicFramePr>
        <p:xfrm>
          <a:off x="347472" y="3977639"/>
          <a:ext cx="5257800" cy="86868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74" name="TextBox 173"/>
          <p:cNvSpPr txBox="1"/>
          <p:nvPr/>
        </p:nvSpPr>
        <p:spPr>
          <a:xfrm>
            <a:off x="5760720" y="402336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80" b="1">
                <a:solidFill>
                  <a:srgbClr val="1E2433"/>
                </a:solidFill>
                <a:latin typeface="Arial"/>
              </a:rPr>
              <a:t>Breakdowns per year </a:t>
            </a:r>
            <a:r>
              <a:rPr sz="780" b="0">
                <a:solidFill>
                  <a:srgbClr val="1E2433"/>
                </a:solidFill>
                <a:latin typeface="Arial"/>
              </a:rPr>
              <a:t>893 → 228 over 5 years. OEE 71.7% → 72.6%: modest by design, because material and set-up losses are untouched.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