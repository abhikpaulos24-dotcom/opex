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charts/chart1.xml" ContentType="application/vnd.openxmlformats-officedocument.drawingml.chart+xml"/>
  <Override PartName="/ppt/charts/chart2.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8" r:id="rId8"/>
    <p:sldId id="259" r:id="rId9"/>
    <p:sldId id="260" r:id="rId10"/>
    <p:sldId id="261" r:id="rId11"/>
    <p:sldId id="262" r:id="rId12"/>
    <p:sldId id="263" r:id="rId13"/>
    <p:sldId id="264" r:id="rId14"/>
    <p:sldId id="272" r:id="rId22"/>
    <p:sldId id="265" r:id="rId15"/>
    <p:sldId id="266" r:id="rId16"/>
    <p:sldId id="267" r:id="rId17"/>
    <p:sldId id="270" r:id="rId20"/>
    <p:sldId id="268" r:id="rId18"/>
    <p:sldId id="269" r:id="rId19"/>
    <p:sldId id="273" r:id="rId23"/>
    <p:sldId id="271" r:id="rId21"/>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OpEx, simulated</c:v>
                </c:pt>
              </c:strCache>
            </c:strRef>
          </c:tx>
          <c:spPr>
            <a:solidFill>
              <a:srgbClr val="1A56DB"/>
            </a:solidFill>
            <a:ln>
              <a:noFill/>
            </a:ln>
          </c:spPr>
          <c:cat>
            <c:strRef>
              <c:f>Sheet1!$A$2:$A$3</c:f>
              <c:strCache>
                <c:ptCount val="2"/>
                <c:pt idx="0">
                  <c:v>Fewer breakdowns</c:v>
                </c:pt>
                <c:pt idx="1">
                  <c:v>Lower maintenance cost</c:v>
                </c:pt>
              </c:strCache>
            </c:strRef>
          </c:cat>
          <c:val>
            <c:numRef>
              <c:f>Sheet1!$B$2:$B$3</c:f>
              <c:numCache>
                <c:formatCode>General</c:formatCode>
                <c:ptCount val="2"/>
                <c:pt idx="0">
                  <c:v>74.5</c:v>
                </c:pt>
                <c:pt idx="1">
                  <c:v>26.0</c:v>
                </c:pt>
              </c:numCache>
            </c:numRef>
          </c:val>
        </c:ser>
        <c:ser>
          <c:idx val="1"/>
          <c:order val="1"/>
          <c:tx>
            <c:strRef>
              <c:f>Sheet1!$C$1</c:f>
              <c:strCache>
                <c:ptCount val="1"/>
                <c:pt idx="0">
                  <c:v>US DOE guide, low</c:v>
                </c:pt>
              </c:strCache>
            </c:strRef>
          </c:tx>
          <c:spPr>
            <a:solidFill>
              <a:srgbClr val="BDC1C6"/>
            </a:solidFill>
            <a:ln>
              <a:noFill/>
            </a:ln>
          </c:spPr>
          <c:cat>
            <c:strRef>
              <c:f>Sheet1!$A$2:$A$3</c:f>
              <c:strCache>
                <c:ptCount val="2"/>
                <c:pt idx="0">
                  <c:v>Fewer breakdowns</c:v>
                </c:pt>
                <c:pt idx="1">
                  <c:v>Lower maintenance cost</c:v>
                </c:pt>
              </c:strCache>
            </c:strRef>
          </c:cat>
          <c:val>
            <c:numRef>
              <c:f>Sheet1!$C$2:$C$3</c:f>
              <c:numCache>
                <c:formatCode>General</c:formatCode>
                <c:ptCount val="2"/>
                <c:pt idx="0">
                  <c:v>70</c:v>
                </c:pt>
                <c:pt idx="1">
                  <c:v>25</c:v>
                </c:pt>
              </c:numCache>
            </c:numRef>
          </c:val>
        </c:ser>
        <c:ser>
          <c:idx val="2"/>
          <c:order val="2"/>
          <c:tx>
            <c:strRef>
              <c:f>Sheet1!$D$1</c:f>
              <c:strCache>
                <c:ptCount val="1"/>
                <c:pt idx="0">
                  <c:v>US DOE guide, high</c:v>
                </c:pt>
              </c:strCache>
            </c:strRef>
          </c:tx>
          <c:spPr>
            <a:solidFill>
              <a:srgbClr val="80868B"/>
            </a:solidFill>
            <a:ln>
              <a:noFill/>
            </a:ln>
          </c:spPr>
          <c:cat>
            <c:strRef>
              <c:f>Sheet1!$A$2:$A$3</c:f>
              <c:strCache>
                <c:ptCount val="2"/>
                <c:pt idx="0">
                  <c:v>Fewer breakdowns</c:v>
                </c:pt>
                <c:pt idx="1">
                  <c:v>Lower maintenance cost</c:v>
                </c:pt>
              </c:strCache>
            </c:strRef>
          </c:cat>
          <c:val>
            <c:numRef>
              <c:f>Sheet1!$D$2:$D$3</c:f>
              <c:numCache>
                <c:formatCode>General</c:formatCode>
                <c:ptCount val="2"/>
                <c:pt idx="0">
                  <c:v>75</c:v>
                </c:pt>
                <c:pt idx="1">
                  <c:v>30</c:v>
                </c:pt>
              </c:numCache>
            </c:numRef>
          </c:val>
        </c:ser>
        <c:ser>
          <c:idx val="3"/>
          <c:order val="3"/>
          <c:tx>
            <c:strRef>
              <c:f>Sheet1!$E$1</c:f>
              <c:strCache>
                <c:ptCount val="1"/>
                <c:pt idx="0">
                  <c:v>Deloitte</c:v>
                </c:pt>
              </c:strCache>
            </c:strRef>
          </c:tx>
          <c:spPr>
            <a:solidFill>
              <a:srgbClr val="DADCE0"/>
            </a:solidFill>
            <a:ln>
              <a:noFill/>
            </a:ln>
          </c:spPr>
          <c:cat>
            <c:strRef>
              <c:f>Sheet1!$A$2:$A$3</c:f>
              <c:strCache>
                <c:ptCount val="2"/>
                <c:pt idx="0">
                  <c:v>Fewer breakdowns</c:v>
                </c:pt>
                <c:pt idx="1">
                  <c:v>Lower maintenance cost</c:v>
                </c:pt>
              </c:strCache>
            </c:strRef>
          </c:cat>
          <c:val>
            <c:numRef>
              <c:f>Sheet1!$E$2:$E$3</c:f>
              <c:numCache>
                <c:formatCode>General</c:formatCode>
                <c:ptCount val="2"/>
                <c:pt idx="0">
                  <c:v>70</c:v>
                </c:pt>
                <c:pt idx="1">
                  <c:v>25</c:v>
                </c:pt>
              </c:numCache>
            </c:numRef>
          </c:val>
        </c:ser>
        <c:dLbls>
          <c:numFmt formatCode="0.0&quot;%&quot;" sourceLinked="0"/>
          <c:txPr>
            <a:bodyPr/>
            <a:lstStyle/>
            <a:p>
              <a:pPr>
                <a:defRPr sz="750">
                  <a:solidFill>
                    <a:srgbClr val="202124"/>
                  </a:solidFill>
                </a:defRPr>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DADCE0"/>
            </a:solidFill>
          </a:ln>
        </c:spPr>
        <c:txPr>
          <a:bodyPr/>
          <a:lstStyle/>
          <a:p>
            <a:pPr>
              <a:defRPr sz="800">
                <a:solidFill>
                  <a:srgbClr val="202124"/>
                </a:solidFill>
              </a:defRPr>
            </a:pPr>
          </a:p>
        </c:txPr>
        <c:crossAx val="-2113994440"/>
        <c:crosses val="autoZero"/>
        <c:auto val="1"/>
        <c:lblAlgn val="ctr"/>
        <c:lblOffset val="100"/>
        <c:noMultiLvlLbl val="0"/>
      </c:catAx>
      <c:valAx>
        <c:axId val="-2113994440"/>
        <c:scaling/>
        <c:delete/>
        <c:axPos val="l"/>
        <c:majorTickMark val="out"/>
        <c:minorTickMark val="none"/>
        <c:tickLblPos val="nextTo"/>
        <c:crossAx val="-2068027336"/>
        <c:crosses val="autoZero"/>
      </c:valAx>
    </c:plotArea>
    <c:legend>
      <c:legendPos val="b"/>
      <c:overlay val="0"/>
      <c:txPr>
        <a:bodyPr/>
        <a:lstStyle/>
        <a:p>
          <a:pPr>
            <a:defRPr sz="800"/>
          </a:pPr>
        </a:p>
      </c:txPr>
    </c:legend>
    <c:dispBlanksAs val="gap"/>
  </c:chart>
  <c:txPr>
    <a:bodyPr/>
    <a:lstStyle/>
    <a:p>
      <a:pPr>
        <a:defRPr sz="800">
          <a:latin typeface="Arial"/>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Without OpEx</c:v>
                </c:pt>
              </c:strCache>
            </c:strRef>
          </c:tx>
          <c:spPr>
            <a:solidFill>
              <a:srgbClr val="9AA0A6"/>
            </a:solidFill>
            <a:ln>
              <a:noFill/>
            </a:ln>
          </c:spPr>
          <c:cat>
            <c:strRef>
              <c:f>Sheet1!$A$2:$A$6</c:f>
              <c:strCache>
                <c:ptCount val="5"/>
                <c:pt idx="0">
                  <c:v>Year 1</c:v>
                </c:pt>
                <c:pt idx="1">
                  <c:v>Year 2</c:v>
                </c:pt>
                <c:pt idx="2">
                  <c:v>Year 3</c:v>
                </c:pt>
                <c:pt idx="3">
                  <c:v>Year 4</c:v>
                </c:pt>
                <c:pt idx="4">
                  <c:v>Year 5</c:v>
                </c:pt>
              </c:strCache>
            </c:strRef>
          </c:cat>
          <c:val>
            <c:numRef>
              <c:f>Sheet1!$B$2:$B$6</c:f>
              <c:numCache>
                <c:formatCode>General</c:formatCode>
                <c:ptCount val="5"/>
                <c:pt idx="0">
                  <c:v>177</c:v>
                </c:pt>
                <c:pt idx="1">
                  <c:v>186</c:v>
                </c:pt>
                <c:pt idx="2">
                  <c:v>179</c:v>
                </c:pt>
                <c:pt idx="3">
                  <c:v>173</c:v>
                </c:pt>
                <c:pt idx="4">
                  <c:v>178</c:v>
                </c:pt>
              </c:numCache>
            </c:numRef>
          </c:val>
        </c:ser>
        <c:ser>
          <c:idx val="1"/>
          <c:order val="1"/>
          <c:tx>
            <c:strRef>
              <c:f>Sheet1!$C$1</c:f>
              <c:strCache>
                <c:ptCount val="1"/>
                <c:pt idx="0">
                  <c:v>With OpEx</c:v>
                </c:pt>
              </c:strCache>
            </c:strRef>
          </c:tx>
          <c:spPr>
            <a:solidFill>
              <a:srgbClr val="1A56DB"/>
            </a:solidFill>
            <a:ln>
              <a:noFill/>
            </a:ln>
          </c:spPr>
          <c:cat>
            <c:strRef>
              <c:f>Sheet1!$A$2:$A$6</c:f>
              <c:strCache>
                <c:ptCount val="5"/>
                <c:pt idx="0">
                  <c:v>Year 1</c:v>
                </c:pt>
                <c:pt idx="1">
                  <c:v>Year 2</c:v>
                </c:pt>
                <c:pt idx="2">
                  <c:v>Year 3</c:v>
                </c:pt>
                <c:pt idx="3">
                  <c:v>Year 4</c:v>
                </c:pt>
                <c:pt idx="4">
                  <c:v>Year 5</c:v>
                </c:pt>
              </c:strCache>
            </c:strRef>
          </c:cat>
          <c:val>
            <c:numRef>
              <c:f>Sheet1!$C$2:$C$6</c:f>
              <c:numCache>
                <c:formatCode>General</c:formatCode>
                <c:ptCount val="5"/>
                <c:pt idx="0">
                  <c:v>45</c:v>
                </c:pt>
                <c:pt idx="1">
                  <c:v>44</c:v>
                </c:pt>
                <c:pt idx="2">
                  <c:v>51</c:v>
                </c:pt>
                <c:pt idx="3">
                  <c:v>46</c:v>
                </c:pt>
                <c:pt idx="4">
                  <c:v>42</c:v>
                </c:pt>
              </c:numCache>
            </c:numRef>
          </c:val>
        </c:ser>
        <c:dLbls>
          <c:numFmt formatCode="0" sourceLinked="0"/>
          <c:txPr>
            <a:bodyPr/>
            <a:lstStyle/>
            <a:p>
              <a:pPr>
                <a:defRPr sz="650">
                  <a:solidFill>
                    <a:srgbClr val="202124"/>
                  </a:solidFill>
                </a:defRPr>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DADCE0"/>
            </a:solidFill>
          </a:ln>
        </c:spPr>
        <c:txPr>
          <a:bodyPr/>
          <a:lstStyle/>
          <a:p>
            <a:pPr>
              <a:defRPr sz="700">
                <a:solidFill>
                  <a:srgbClr val="202124"/>
                </a:solidFill>
              </a:defRPr>
            </a:pPr>
          </a:p>
        </c:txPr>
        <c:crossAx val="-2113994440"/>
        <c:crosses val="autoZero"/>
        <c:auto val="1"/>
        <c:lblAlgn val="ctr"/>
        <c:lblOffset val="100"/>
        <c:noMultiLvlLbl val="0"/>
      </c:catAx>
      <c:valAx>
        <c:axId val="-2113994440"/>
        <c:scaling/>
        <c:delete/>
        <c:axPos val="l"/>
        <c:majorTickMark val="out"/>
        <c:minorTickMark val="none"/>
        <c:tickLblPos val="nextTo"/>
        <c:crossAx val="-2068027336"/>
        <c:crosses val="autoZero"/>
      </c:valAx>
    </c:plotArea>
    <c:legend>
      <c:legendPos/>
      <c:overlay val="0"/>
      <c:txPr>
        <a:bodyPr/>
        <a:lstStyle/>
        <a:p>
          <a:pPr>
            <a:defRPr sz="700"/>
          </a:pPr>
        </a:p>
      </c:txPr>
    </c:legend>
    <c:dispBlanksAs val="gap"/>
  </c:chart>
  <c:txPr>
    <a:bodyPr/>
    <a:lstStyle/>
    <a:p>
      <a:pPr>
        <a:defRPr sz="700">
          <a:latin typeface="Arial"/>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Team OpEx, Manufacturing track. Working prototype: github.com/srihitha2005/Opex.</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g3fb085bff3c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 name="Google Shape;67;g3fb085bff3c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Open with the M-17 story on the right; the rest of the deck shows how that one line becomes a priced, approved decision.</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g3fb085bff3c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 name="Google Shape;74;g3fb085bff3c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Answer the three template questions in order; point at the 'Worked here before' column and the 'Unsafe' tags on the right.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fb085bff3c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3fb085bff3c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Every row is working in the prototype; the quoted sentences are copied from the screens.</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3fb085bff3c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3fb085bff3c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Steps 1 to 5 are automatic; 6 to 10 include a human decision; the green line is the learning loop.</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3fb085bff3c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 name="Google Shape;98;g3fb085bff3c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Screenshots at phone and desktop widths. Status is always icon plus word plus colour, never colour alone.</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3fb085bff3c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3fb085bff3c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Single deployable unit. The right column is what Google Cloud and Supabase provide. The scale path answers 'max 1 instance'.</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3fb085bff3c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3fb085bff3c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Every service maps to a module in backend/app/integrations or backend/app/ai.</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3fb085bff3c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3fb085bff3c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Support at ₹6 L a year is a full service retainer, deliberately generous. Even so the simulated payback is month 3.</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3fb085bff3c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 name="Google Shape;130;g3fb085bff3c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Gemini screens captured 18 Oct 2026 with an AI Studio key, plus the Rewind page. Also in the app: investigation reports and the part-photo check.</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fb085bff3c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3fb085bff3c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Lead with Azure PdM and C-MAPSS; AI4I is the weak dataset and we say so. The chart is a calibration check, not a result.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fb085bff3c_0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3fb085bff3c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Be plain about the pilot status. The bottom-up revenue number is more credible to a judge than an analyst market size.</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fb085bff3c_0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3fb085bff3c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Replace the two bracketed items with the real links before exporting.</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3fb085bff3c_0_1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3fb085bff3c_0_1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Walk the table, then the sensitivity block: the case does not depend on everyone trusting the AI.</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3fb085bff3c_0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9" name="Google Shape;169;g3fb085bff3c_0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Thank you. Team OpEx.</a:t>
            </a:r>
          </a:p>
        </p:txBody>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The honest answer to 'why not Vertex, why not Dataflow': money and scale. Each row names the trigger that would make us switch it on.</a:t>
            </a:r>
          </a:p>
        </p:txBody>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Everything with a number has a line here. Where a figure could not be checked against a primary document, the line says so.</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8.png"/><Relationship Id="rId6" Type="http://schemas.openxmlformats.org/officeDocument/2006/relationships/image" Target="../media/image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4.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4.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10.png"/><Relationship Id="rId6" Type="http://schemas.openxmlformats.org/officeDocument/2006/relationships/image" Target="../media/image11.png"/><Relationship Id="rId7" Type="http://schemas.openxmlformats.org/officeDocument/2006/relationships/image" Target="../media/image1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4.pn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4.pn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4.pn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13.png"/><Relationship Id="rId6" Type="http://schemas.openxmlformats.org/officeDocument/2006/relationships/image" Target="../media/image14.png"/><Relationship Id="rId7" Type="http://schemas.openxmlformats.org/officeDocument/2006/relationships/image" Target="../media/image15.png"/><Relationship Id="rId8" Type="http://schemas.openxmlformats.org/officeDocument/2006/relationships/image" Target="../media/image1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chart" Target="../charts/char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4.png"/><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1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chart" Target="../charts/char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4.png"/><Relationship Id="rId4" Type="http://schemas.openxmlformats.org/officeDocument/2006/relationships/image" Target="../media/image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4.png"/><Relationship Id="rId4" Type="http://schemas.openxmlformats.org/officeDocument/2006/relationships/image" Target="../media/image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4.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nvSpPr>
        <p:spPr>
          <a:xfrm>
            <a:off x="146600" y="2902694"/>
            <a:ext cx="5760720" cy="2003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100">
                <a:latin typeface="Google Sans Flex SemiBold"/>
                <a:ea typeface="Google Sans Flex SemiBold"/>
                <a:cs typeface="Google Sans Flex SemiBold"/>
                <a:sym typeface="Google Sans Flex SemiBold"/>
              </a:rPr>
              <a:t>Team Details</a:t>
            </a:r>
            <a:endParaRPr sz="2100">
              <a:latin typeface="Google Sans Flex SemiBold"/>
              <a:ea typeface="Google Sans Flex SemiBold"/>
              <a:cs typeface="Google Sans Flex SemiBold"/>
              <a:sym typeface="Google Sans Flex SemiBold"/>
            </a:endParaRPr>
          </a:p>
          <a:p>
            <a:pPr indent="0" lvl="0" marL="0" rtl="0" algn="l">
              <a:spcBef>
                <a:spcPts val="0"/>
              </a:spcBef>
              <a:spcAft>
                <a:spcPts val="0"/>
              </a:spcAft>
              <a:buNone/>
            </a:pPr>
            <a:r>
              <a:t/>
            </a:r>
            <a:endParaRPr sz="1800">
              <a:latin typeface="Google Sans Flex Medium"/>
              <a:ea typeface="Google Sans Flex Medium"/>
              <a:cs typeface="Google Sans Flex Medium"/>
              <a:sym typeface="Google Sans Flex Medium"/>
            </a:endParaRPr>
          </a:p>
          <a:p>
            <a:pPr indent="-342900" lvl="1" marL="914400" rtl="0" algn="l">
              <a:spcBef>
                <a:spcPts val="0"/>
              </a:spcBef>
              <a:spcAft>
                <a:spcPts val="0"/>
              </a:spcAft>
              <a:buSzPts val="1800"/>
              <a:buFont typeface="Google Sans Flex"/>
              <a:buAutoNum type="alphaLcPeriod"/>
            </a:pPr>
            <a:r>
              <a:rPr lang="en-GB" sz="1800">
                <a:latin typeface="Google Sans Flex"/>
                <a:ea typeface="Google Sans Flex"/>
                <a:cs typeface="Google Sans Flex"/>
                <a:sym typeface="Google Sans Flex"/>
              </a:rPr>
              <a:t>Team name: </a:t>
            </a:r>
            <a:endParaRPr sz="1800">
              <a:latin typeface="Google Sans Flex"/>
              <a:ea typeface="Google Sans Flex"/>
              <a:cs typeface="Google Sans Flex"/>
              <a:sym typeface="Google Sans Flex"/>
            </a:endParaRPr>
            <a:r>
              <a:rPr lang="en-GB" sz="1800" b="1">
                <a:latin typeface="Google Sans Flex"/>
                <a:ea typeface="Google Sans Flex"/>
                <a:cs typeface="Google Sans Flex"/>
                <a:sym typeface="Google Sans Flex"/>
              </a:rPr>
              <a:t>OpEx</a:t>
            </a:r>
          </a:p>
          <a:p>
            <a:pPr indent="-342900" lvl="1" marL="914400" rtl="0" algn="l">
              <a:spcBef>
                <a:spcPts val="0"/>
              </a:spcBef>
              <a:spcAft>
                <a:spcPts val="0"/>
              </a:spcAft>
              <a:buSzPts val="1800"/>
              <a:buFont typeface="Google Sans Flex"/>
              <a:buAutoNum type="alphaLcPeriod"/>
            </a:pPr>
            <a:r>
              <a:rPr lang="en-GB" sz="1800">
                <a:latin typeface="Google Sans Flex"/>
                <a:ea typeface="Google Sans Flex"/>
                <a:cs typeface="Google Sans Flex"/>
                <a:sym typeface="Google Sans Flex"/>
              </a:rPr>
              <a:t>Team leader name: </a:t>
            </a:r>
            <a:endParaRPr sz="1800">
              <a:latin typeface="Google Sans Flex"/>
              <a:ea typeface="Google Sans Flex"/>
              <a:cs typeface="Google Sans Flex"/>
              <a:sym typeface="Google Sans Flex"/>
            </a:endParaRPr>
            <a:r>
              <a:rPr lang="en-GB" sz="1800" b="1">
                <a:latin typeface="Google Sans Flex"/>
                <a:ea typeface="Google Sans Flex"/>
                <a:cs typeface="Google Sans Flex"/>
                <a:sym typeface="Google Sans Flex"/>
              </a:rPr>
              <a:t>Srihitha Pulapa</a:t>
            </a:r>
          </a:p>
          <a:p>
            <a:pPr indent="-342900" lvl="1" marL="914400" rtl="0" algn="l">
              <a:spcBef>
                <a:spcPts val="0"/>
              </a:spcBef>
              <a:spcAft>
                <a:spcPts val="0"/>
              </a:spcAft>
              <a:buSzPts val="1800"/>
              <a:buFont typeface="Google Sans Flex"/>
              <a:buAutoNum type="alphaLcPeriod"/>
            </a:pPr>
            <a:r>
              <a:rPr lang="en-GB" sz="1800">
                <a:latin typeface="Google Sans Flex"/>
                <a:ea typeface="Google Sans Flex"/>
                <a:cs typeface="Google Sans Flex"/>
                <a:sym typeface="Google Sans Flex"/>
              </a:rPr>
              <a:t>Problem Statement: </a:t>
            </a:r>
            <a:endParaRPr sz="1800">
              <a:latin typeface="Google Sans Flex"/>
              <a:ea typeface="Google Sans Flex"/>
              <a:cs typeface="Google Sans Flex"/>
              <a:sym typeface="Google Sans Flex"/>
            </a:endParaRPr>
            <a:r>
              <a:rPr lang="en-GB" sz="1800" b="1">
                <a:latin typeface="Google Sans Flex"/>
                <a:ea typeface="Google Sans Flex"/>
                <a:cs typeface="Google Sans Flex"/>
                <a:sym typeface="Google Sans Flex"/>
              </a:rPr>
              <a:t>Manufacturing: Intelligent Operations &amp; Industrial Efficiency</a:t>
            </a:r>
          </a:p>
          <a:p>
            <a:pPr indent="0" lvl="0" marL="0" rtl="0" algn="l">
              <a:spcBef>
                <a:spcPts val="0"/>
              </a:spcBef>
              <a:spcAft>
                <a:spcPts val="0"/>
              </a:spcAft>
              <a:buNone/>
            </a:pPr>
            <a:r>
              <a:t/>
            </a:r>
            <a:endParaRPr sz="1800">
              <a:latin typeface="Google Sans Flex Medium"/>
              <a:ea typeface="Google Sans Flex Medium"/>
              <a:cs typeface="Google Sans Flex Medium"/>
              <a:sym typeface="Google Sans Flex Medium"/>
            </a:endParaRPr>
          </a:p>
        </p:txBody>
      </p:sp>
      <p:pic>
        <p:nvPicPr>
          <p:cNvPr id="55" name="Google Shape;55;p13" title="Frame 144.png"/>
          <p:cNvPicPr preferRelativeResize="0"/>
          <p:nvPr/>
        </p:nvPicPr>
        <p:blipFill>
          <a:blip r:embed="rId3">
            <a:alphaModFix/>
          </a:blip>
          <a:stretch>
            <a:fillRect/>
          </a:stretch>
        </p:blipFill>
        <p:spPr>
          <a:xfrm>
            <a:off x="0" y="-3"/>
            <a:ext cx="9144000" cy="2715526"/>
          </a:xfrm>
          <a:prstGeom prst="rect">
            <a:avLst/>
          </a:prstGeom>
          <a:noFill/>
          <a:ln>
            <a:noFill/>
          </a:ln>
        </p:spPr>
      </p:pic>
      <p:pic>
        <p:nvPicPr>
          <p:cNvPr id="56" name="Google Shape;56;p13" title="Frame 144.png"/>
          <p:cNvPicPr preferRelativeResize="0"/>
          <p:nvPr/>
        </p:nvPicPr>
        <p:blipFill rotWithShape="1">
          <a:blip r:embed="rId4">
            <a:alphaModFix/>
          </a:blip>
          <a:srcRect b="98001" l="0" r="0" t="0"/>
          <a:stretch/>
        </p:blipFill>
        <p:spPr>
          <a:xfrm>
            <a:off x="0" y="5093562"/>
            <a:ext cx="9144000" cy="54275"/>
          </a:xfrm>
          <a:prstGeom prst="rect">
            <a:avLst/>
          </a:prstGeom>
          <a:noFill/>
          <a:ln>
            <a:noFill/>
          </a:ln>
        </p:spPr>
      </p:pic>
      <p:pic>
        <p:nvPicPr>
          <p:cNvPr id="57" name="OpEx logo" descr="opex-logo.png"/>
          <p:cNvPicPr>
            <a:picLocks noChangeAspect="1"/>
          </p:cNvPicPr>
          <p:nvPr/>
        </p:nvPicPr>
        <p:blipFill>
          <a:blip r:embed="rId5"/>
          <a:stretch>
            <a:fillRect/>
          </a:stretch>
        </p:blipFill>
        <p:spPr>
          <a:xfrm>
            <a:off x="6263640" y="3017520"/>
            <a:ext cx="2377440" cy="880159"/>
          </a:xfrm>
          <a:prstGeom prst="rect">
            <a:avLst/>
          </a:prstGeom>
        </p:spPr>
      </p:pic>
      <p:sp>
        <p:nvSpPr>
          <p:cNvPr id="58" name="TextBox 57"/>
          <p:cNvSpPr txBox="1"/>
          <p:nvPr/>
        </p:nvSpPr>
        <p:spPr>
          <a:xfrm>
            <a:off x="5989320" y="4041648"/>
            <a:ext cx="2926080" cy="822960"/>
          </a:xfrm>
          <a:prstGeom prst="rect">
            <a:avLst/>
          </a:prstGeom>
          <a:noFill/>
        </p:spPr>
        <p:txBody>
          <a:bodyPr wrap="square" lIns="0" rIns="0" tIns="0" bIns="0" anchor="t">
            <a:spAutoFit/>
          </a:bodyPr>
          <a:lstStyle/>
          <a:p>
            <a:pPr algn="ctr">
              <a:spcAft>
                <a:spcPts val="200"/>
              </a:spcAft>
            </a:pPr>
            <a:r>
              <a:rPr sz="850" b="0" i="0">
                <a:solidFill>
                  <a:srgbClr val="5F6368"/>
                </a:solidFill>
                <a:latin typeface="Arial"/>
              </a:rPr>
              <a:t>Operations copilot for CNC and auto-component plants.</a:t>
            </a:r>
          </a:p>
          <a:p>
            <a:pPr algn="ctr">
              <a:spcAft>
                <a:spcPts val="200"/>
              </a:spcAft>
            </a:pPr>
            <a:r>
              <a:rPr sz="850" b="0" i="0">
                <a:solidFill>
                  <a:srgbClr val="5F6368"/>
                </a:solidFill>
                <a:latin typeface="Arial"/>
              </a:rPr>
              <a:t>Finds the fault early, prices the fix in rupees, and an engineer decides.</a:t>
            </a:r>
          </a:p>
          <a:p>
            <a:pPr algn="ctr">
              <a:spcAft>
                <a:spcPts val="200"/>
              </a:spcAft>
            </a:pPr>
            <a:r>
              <a:rPr sz="850" b="0" i="0">
                <a:solidFill>
                  <a:srgbClr val="5F6368"/>
                </a:solidFill>
                <a:latin typeface="Arial"/>
              </a:rPr>
              <a:t>Built from scratch in the Cup's build window, 7 Sept to 18 Oct 2026.</a:t>
            </a: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pic>
        <p:nvPicPr>
          <p:cNvPr id="69" name="Google Shape;69;p15" title="Group 427319979.png"/>
          <p:cNvPicPr preferRelativeResize="0"/>
          <p:nvPr/>
        </p:nvPicPr>
        <p:blipFill>
          <a:blip r:embed="rId3">
            <a:alphaModFix/>
          </a:blip>
          <a:stretch>
            <a:fillRect/>
          </a:stretch>
        </p:blipFill>
        <p:spPr>
          <a:xfrm>
            <a:off x="0" y="1"/>
            <a:ext cx="9144000" cy="507359"/>
          </a:xfrm>
          <a:prstGeom prst="rect">
            <a:avLst/>
          </a:prstGeom>
          <a:noFill/>
          <a:ln>
            <a:noFill/>
          </a:ln>
        </p:spPr>
      </p:pic>
      <p:sp>
        <p:nvSpPr>
          <p:cNvPr id="70" name="Google Shape;70;p15"/>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1" name="Google Shape;71;p15"/>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Brief about the idea</a:t>
            </a:r>
            <a:endParaRPr sz="1600">
              <a:latin typeface="Google Sans Flex Medium"/>
              <a:ea typeface="Google Sans Flex Medium"/>
              <a:cs typeface="Google Sans Flex Medium"/>
              <a:sym typeface="Google Sans Flex Medium"/>
            </a:endParaRPr>
          </a:p>
        </p:txBody>
      </p:sp>
      <p:sp>
        <p:nvSpPr>
          <p:cNvPr id="72" name="Headline"/>
          <p:cNvSpPr txBox="1"/>
          <p:nvPr/>
        </p:nvSpPr>
        <p:spPr>
          <a:xfrm>
            <a:off x="356616" y="1207008"/>
            <a:ext cx="8458200" cy="548640"/>
          </a:xfrm>
          <a:prstGeom prst="rect">
            <a:avLst/>
          </a:prstGeom>
          <a:noFill/>
        </p:spPr>
        <p:txBody>
          <a:bodyPr wrap="square" lIns="0" rIns="0" tIns="0" bIns="0" anchor="t">
            <a:spAutoFit/>
          </a:bodyPr>
          <a:lstStyle/>
          <a:p>
            <a:pPr algn="l">
              <a:spcAft>
                <a:spcPts val="300"/>
              </a:spcAft>
            </a:pPr>
            <a:r>
              <a:rPr sz="1300" b="1" i="0">
                <a:solidFill>
                  <a:srgbClr val="202124"/>
                </a:solidFill>
                <a:latin typeface="Arial"/>
              </a:rPr>
              <a:t>A plant usually finds out about a failing spindle bearing when the machine stops. OpEx finds out hours to days earlier, prices every option in rupees, and an engineer makes the call.</a:t>
            </a:r>
          </a:p>
        </p:txBody>
      </p:sp>
      <p:sp>
        <p:nvSpPr>
          <p:cNvPr id="73" name="TextBox 72"/>
          <p:cNvSpPr txBox="1"/>
          <p:nvPr/>
        </p:nvSpPr>
        <p:spPr>
          <a:xfrm>
            <a:off x="356616" y="1847088"/>
            <a:ext cx="4663440" cy="2194560"/>
          </a:xfrm>
          <a:prstGeom prst="rect">
            <a:avLst/>
          </a:prstGeom>
          <a:noFill/>
        </p:spPr>
        <p:txBody>
          <a:bodyPr wrap="square" lIns="0" rIns="0" tIns="0" bIns="0" anchor="t">
            <a:spAutoFit/>
          </a:bodyPr>
          <a:lstStyle/>
          <a:p>
            <a:pPr algn="l">
              <a:lnSpc>
                <a:spcPct val="106000"/>
              </a:lnSpc>
              <a:spcAft>
                <a:spcPts val="600"/>
              </a:spcAft>
            </a:pPr>
            <a:r>
              <a:rPr sz="950" b="1" i="0">
                <a:solidFill>
                  <a:srgbClr val="202124"/>
                </a:solidFill>
                <a:latin typeface="Arial"/>
              </a:rPr>
              <a:t>Who it is for. </a:t>
            </a:r>
            <a:r>
              <a:rPr sz="950" b="0" i="0">
                <a:solidFill>
                  <a:srgbClr val="202124"/>
                </a:solidFill>
                <a:latin typeface="Arial"/>
              </a:rPr>
              <a:t>Tier-2 and Tier-3 auto-component plants with 10 to 50 CNC machines. ACMA has 1,100+ member companies of this kind; the industry turned over ₹7.59 lakh crore in FY26 and employs 1.5 million people directly.¹</a:t>
            </a:r>
          </a:p>
          <a:p>
            <a:pPr algn="l">
              <a:lnSpc>
                <a:spcPct val="106000"/>
              </a:lnSpc>
              <a:spcAft>
                <a:spcPts val="600"/>
              </a:spcAft>
            </a:pPr>
            <a:r>
              <a:rPr sz="950" b="1" i="0">
                <a:solidFill>
                  <a:srgbClr val="202124"/>
                </a:solidFill>
                <a:latin typeface="Arial"/>
              </a:rPr>
              <a:t>The problem. </a:t>
            </a:r>
            <a:r>
              <a:rPr sz="950" b="0" i="0">
                <a:solidFill>
                  <a:srgbClr val="202124"/>
                </a:solidFill>
                <a:latin typeface="Arial"/>
              </a:rPr>
              <a:t>88% of Indian industrial businesses have an unplanned outage at least once a month and 19% still run machines until they fail.² Alarm screens list fifty thresholds, not one cause, and nobody knows what a fix costs until the invoice arrives. In our plant model a machine-hour is worth ₹4,200 to 6,500 of lost contribution, so one bearing failure with secondary damage costs ₹6 to 9 lakh.</a:t>
            </a:r>
          </a:p>
          <a:p>
            <a:pPr algn="l">
              <a:lnSpc>
                <a:spcPct val="106000"/>
              </a:lnSpc>
              <a:spcAft>
                <a:spcPts val="600"/>
              </a:spcAft>
            </a:pPr>
            <a:r>
              <a:rPr sz="950" b="1" i="0">
                <a:solidFill>
                  <a:srgbClr val="202124"/>
                </a:solidFill>
                <a:latin typeface="Arial"/>
              </a:rPr>
              <a:t>What OpEx does. </a:t>
            </a:r>
            <a:r>
              <a:rPr sz="950" b="0" i="0">
                <a:solidFill>
                  <a:srgbClr val="202124"/>
                </a:solidFill>
                <a:latin typeface="Arial"/>
              </a:rPr>
              <a:t>It reads every machine each plant minute, turns abnormal signals into one plain-language cause with a failure window, prices seven ways of dealing with it, has three Gemini agents review the case, and records whether the chosen action worked. Operators can ask it anything, by voice, in English or five Indian languages.</a:t>
            </a:r>
          </a:p>
        </p:txBody>
      </p:sp>
      <p:cxnSp>
        <p:nvCxnSpPr>
          <p:cNvPr id="74" name="Connector 73"/>
          <p:cNvCxnSpPr/>
          <p:nvPr/>
        </p:nvCxnSpPr>
        <p:spPr>
          <a:xfrm>
            <a:off x="356616" y="4114800"/>
            <a:ext cx="4663439" cy="0"/>
          </a:xfrm>
          <a:prstGeom prst="line">
            <a:avLst/>
          </a:prstGeom>
          <a:ln w="9525">
            <a:solidFill>
              <a:srgbClr val="DADCE0"/>
            </a:solidFill>
          </a:ln>
        </p:spPr>
        <p:style>
          <a:lnRef idx="2">
            <a:schemeClr val="accent1"/>
          </a:lnRef>
          <a:fillRef idx="0">
            <a:schemeClr val="accent1"/>
          </a:fillRef>
          <a:effectRef idx="1">
            <a:schemeClr val="accent1"/>
          </a:effectRef>
          <a:fontRef idx="minor">
            <a:schemeClr val="tx1"/>
          </a:fontRef>
        </p:style>
      </p:cxnSp>
      <p:sp>
        <p:nvSpPr>
          <p:cNvPr id="75" name="TextBox 74"/>
          <p:cNvSpPr txBox="1"/>
          <p:nvPr/>
        </p:nvSpPr>
        <p:spPr>
          <a:xfrm>
            <a:off x="356616" y="4206240"/>
            <a:ext cx="4663440" cy="411480"/>
          </a:xfrm>
          <a:prstGeom prst="rect">
            <a:avLst/>
          </a:prstGeom>
          <a:noFill/>
        </p:spPr>
        <p:txBody>
          <a:bodyPr wrap="square" lIns="0" rIns="0" tIns="0" bIns="0" anchor="t">
            <a:spAutoFit/>
          </a:bodyPr>
          <a:lstStyle/>
          <a:p>
            <a:pPr algn="l">
              <a:lnSpc>
                <a:spcPct val="105000"/>
              </a:lnSpc>
              <a:spcAft>
                <a:spcPts val="0"/>
              </a:spcAft>
            </a:pPr>
            <a:r>
              <a:rPr sz="850" b="1" i="0">
                <a:solidFill>
                  <a:srgbClr val="202124"/>
                </a:solidFill>
                <a:latin typeface="Arial"/>
              </a:rPr>
              <a:t>Simulated, 24 machines, 5 years: </a:t>
            </a:r>
            <a:r>
              <a:rPr sz="850" b="0" i="0">
                <a:solidFill>
                  <a:srgbClr val="202124"/>
                </a:solidFill>
                <a:latin typeface="Arial"/>
              </a:rPr>
              <a:t>74% fewer breakdowns, ₹7.11 Cr net after paying for OpEx, 12.1× the cost. Arithmetic and sensitivity on the slide 'How we calculated the 5-year numbers'.</a:t>
            </a:r>
          </a:p>
        </p:txBody>
      </p:sp>
      <p:pic>
        <p:nvPicPr>
          <p:cNvPr id="76" name="Picture 75" descr="02_overview_500_370_2880_1800.png"/>
          <p:cNvPicPr>
            <a:picLocks noChangeAspect="1"/>
          </p:cNvPicPr>
          <p:nvPr/>
        </p:nvPicPr>
        <p:blipFill>
          <a:blip r:embed="rId4"/>
          <a:stretch>
            <a:fillRect/>
          </a:stretch>
        </p:blipFill>
        <p:spPr>
          <a:xfrm>
            <a:off x="5212080" y="1847088"/>
            <a:ext cx="3657600" cy="2197633"/>
          </a:xfrm>
          <a:prstGeom prst="rect">
            <a:avLst/>
          </a:prstGeom>
          <a:ln w="9525">
            <a:solidFill>
              <a:srgbClr val="DADCE0"/>
            </a:solidFill>
          </a:ln>
        </p:spPr>
      </p:pic>
      <p:sp>
        <p:nvSpPr>
          <p:cNvPr id="77" name="TextBox 76"/>
          <p:cNvSpPr txBox="1"/>
          <p:nvPr/>
        </p:nvSpPr>
        <p:spPr>
          <a:xfrm>
            <a:off x="5212080" y="4224528"/>
            <a:ext cx="3657600" cy="457200"/>
          </a:xfrm>
          <a:prstGeom prst="rect">
            <a:avLst/>
          </a:prstGeom>
          <a:noFill/>
        </p:spPr>
        <p:txBody>
          <a:bodyPr wrap="square" lIns="0" rIns="0" tIns="0" bIns="0" anchor="t">
            <a:spAutoFit/>
          </a:bodyPr>
          <a:lstStyle/>
          <a:p>
            <a:pPr algn="l">
              <a:spcAft>
                <a:spcPts val="0"/>
              </a:spcAft>
            </a:pPr>
            <a:r>
              <a:rPr sz="800" b="0" i="0">
                <a:solidFill>
                  <a:srgbClr val="5F6368"/>
                </a:solidFill>
                <a:latin typeface="Arial"/>
              </a:rPr>
              <a:t>The overview as the engineer sees it: M-17 first, failure expected in 5 to 8 h, then three 'plan it' items. Ranked by chance of failure × cost × urgency.</a:t>
            </a:r>
          </a:p>
        </p:txBody>
      </p:sp>
      <p:sp>
        <p:nvSpPr>
          <p:cNvPr id="78" name="TextBox 77"/>
          <p:cNvSpPr txBox="1"/>
          <p:nvPr/>
        </p:nvSpPr>
        <p:spPr>
          <a:xfrm>
            <a:off x="356616" y="4754880"/>
            <a:ext cx="8458200" cy="274320"/>
          </a:xfrm>
          <a:prstGeom prst="rect">
            <a:avLst/>
          </a:prstGeom>
          <a:noFill/>
        </p:spPr>
        <p:txBody>
          <a:bodyPr wrap="square" lIns="0" rIns="0" tIns="0" bIns="0" anchor="t">
            <a:spAutoFit/>
          </a:bodyPr>
          <a:lstStyle/>
          <a:p>
            <a:pPr algn="l">
              <a:spcAft>
                <a:spcPts val="0"/>
              </a:spcAft>
            </a:pPr>
            <a:r>
              <a:rPr sz="750" b="0" i="0">
                <a:solidFill>
                  <a:srgbClr val="5F6368"/>
                </a:solidFill>
                <a:latin typeface="Arial"/>
              </a:rPr>
              <a:t>¹ ACMA, Industry Performance Review FY2025-26. ² ABB, Value of Reliability survey, Sapio Research, July 2023, n = 3,215, India cut. Plant economics are our model's assumptions, editable in the app; every number is listed on the Sources slide.</a:t>
            </a: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pic>
        <p:nvPicPr>
          <p:cNvPr id="76" name="Google Shape;76;p16"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77" name="Google Shape;77;p16"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78" name="Google Shape;78;p16"/>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9" name="Google Shape;79;p16"/>
          <p:cNvSpPr txBox="1"/>
          <p:nvPr/>
        </p:nvSpPr>
        <p:spPr>
          <a:xfrm>
            <a:off x="265350" y="663825"/>
            <a:ext cx="8943000" cy="1366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SemiBold"/>
                <a:ea typeface="Google Sans Flex SemiBold"/>
                <a:cs typeface="Google Sans Flex SemiBold"/>
                <a:sym typeface="Google Sans Flex SemiBold"/>
              </a:rPr>
              <a:t>Opportunities</a:t>
            </a:r>
            <a:br>
              <a:rPr lang="en-GB" sz="1600">
                <a:latin typeface="Google Sans Flex SemiBold"/>
                <a:ea typeface="Google Sans Flex SemiBold"/>
                <a:cs typeface="Google Sans Flex SemiBold"/>
                <a:sym typeface="Google Sans Flex SemiBold"/>
              </a:rPr>
            </a:br>
            <a:endParaRPr sz="1600">
              <a:latin typeface="Google Sans Flex SemiBold"/>
              <a:ea typeface="Google Sans Flex SemiBold"/>
              <a:cs typeface="Google Sans Flex SemiBold"/>
              <a:sym typeface="Google Sans Flex SemiBold"/>
            </a:endParaRPr>
          </a:p>
        </p:txBody>
      </p:sp>
      <p:sp>
        <p:nvSpPr>
          <p:cNvPr id="80" name="TextBox 79"/>
          <p:cNvSpPr txBox="1"/>
          <p:nvPr/>
        </p:nvSpPr>
        <p:spPr>
          <a:xfrm>
            <a:off x="356616" y="1207008"/>
            <a:ext cx="4572000" cy="1188720"/>
          </a:xfrm>
          <a:prstGeom prst="rect">
            <a:avLst/>
          </a:prstGeom>
          <a:noFill/>
        </p:spPr>
        <p:txBody>
          <a:bodyPr wrap="square" lIns="0" rIns="0" tIns="0" bIns="0" anchor="t">
            <a:spAutoFit/>
          </a:bodyPr>
          <a:lstStyle/>
          <a:p>
            <a:pPr algn="l">
              <a:lnSpc>
                <a:spcPct val="106000"/>
              </a:lnSpc>
              <a:spcAft>
                <a:spcPts val="300"/>
              </a:spcAft>
            </a:pPr>
            <a:r>
              <a:rPr sz="1000" b="1" i="0">
                <a:solidFill>
                  <a:srgbClr val="202124"/>
                </a:solidFill>
                <a:latin typeface="Arial"/>
              </a:rPr>
              <a:t>How different is it from any of the other existing ideas?</a:t>
            </a:r>
          </a:p>
          <a:p>
            <a:pPr algn="l">
              <a:lnSpc>
                <a:spcPct val="106000"/>
              </a:lnSpc>
              <a:spcAft>
                <a:spcPts val="300"/>
              </a:spcAft>
            </a:pPr>
            <a:r>
              <a:rPr sz="900" b="0" i="0">
                <a:solidFill>
                  <a:srgbClr val="202124"/>
                </a:solidFill>
                <a:latin typeface="Arial"/>
              </a:rPr>
              <a:t>Most predictive-maintenance tools stop at 'risk: high' and a work order. OpEx carries on to the decision: one root cause across machine, quality and energy signals; every option priced in ₹ with its chance of still breaking down; and a record of how often each action has worked in this plant, which re-ranks the options next time. When sensor data is bad it says so and lowers the stated confidence, and a drifting sensor is diagnosed as a sensor fault.</a:t>
            </a:r>
          </a:p>
        </p:txBody>
      </p:sp>
      <p:sp>
        <p:nvSpPr>
          <p:cNvPr id="81" name="TextBox 80"/>
          <p:cNvSpPr txBox="1"/>
          <p:nvPr/>
        </p:nvSpPr>
        <p:spPr>
          <a:xfrm>
            <a:off x="356616" y="2432304"/>
            <a:ext cx="4572000" cy="1188720"/>
          </a:xfrm>
          <a:prstGeom prst="rect">
            <a:avLst/>
          </a:prstGeom>
          <a:noFill/>
        </p:spPr>
        <p:txBody>
          <a:bodyPr wrap="square" lIns="0" rIns="0" tIns="0" bIns="0" anchor="t">
            <a:spAutoFit/>
          </a:bodyPr>
          <a:lstStyle/>
          <a:p>
            <a:pPr algn="l">
              <a:lnSpc>
                <a:spcPct val="106000"/>
              </a:lnSpc>
              <a:spcAft>
                <a:spcPts val="300"/>
              </a:spcAft>
            </a:pPr>
            <a:r>
              <a:rPr sz="1000" b="1" i="0">
                <a:solidFill>
                  <a:srgbClr val="202124"/>
                </a:solidFill>
                <a:latin typeface="Arial"/>
              </a:rPr>
              <a:t>How will it be able to solve the problem?</a:t>
            </a:r>
          </a:p>
          <a:p>
            <a:pPr algn="l">
              <a:lnSpc>
                <a:spcPct val="106000"/>
              </a:lnSpc>
              <a:spcAft>
                <a:spcPts val="300"/>
              </a:spcAft>
            </a:pPr>
            <a:r>
              <a:rPr sz="900" b="0" i="0">
                <a:solidFill>
                  <a:srgbClr val="202124"/>
                </a:solidFill>
                <a:latin typeface="Arial"/>
              </a:rPr>
              <a:t>Warnings arrive about a day ahead on average (median lead 24 to 32 h on held-out Azure PdM data; the M-17 example is a fast failure caught 5 to 8 h out), so the part is on the shelf and the swap lands in the Sunday window instead of at 2 a.m. The engineer sees downtime, cost, failure risk and extra scrap side by side and approves in one screen. The plant head gets a five-year with-versus-without case before buying a single sensor.</a:t>
            </a:r>
          </a:p>
        </p:txBody>
      </p:sp>
      <p:sp>
        <p:nvSpPr>
          <p:cNvPr id="82" name="TextBox 81"/>
          <p:cNvSpPr txBox="1"/>
          <p:nvPr/>
        </p:nvSpPr>
        <p:spPr>
          <a:xfrm>
            <a:off x="356616" y="3657600"/>
            <a:ext cx="4572000" cy="1188720"/>
          </a:xfrm>
          <a:prstGeom prst="rect">
            <a:avLst/>
          </a:prstGeom>
          <a:noFill/>
        </p:spPr>
        <p:txBody>
          <a:bodyPr wrap="square" lIns="0" rIns="0" tIns="0" bIns="0" anchor="t">
            <a:spAutoFit/>
          </a:bodyPr>
          <a:lstStyle/>
          <a:p>
            <a:pPr algn="l">
              <a:lnSpc>
                <a:spcPct val="106000"/>
              </a:lnSpc>
              <a:spcAft>
                <a:spcPts val="300"/>
              </a:spcAft>
            </a:pPr>
            <a:r>
              <a:rPr sz="1000" b="1" i="0">
                <a:solidFill>
                  <a:srgbClr val="202124"/>
                </a:solidFill>
                <a:latin typeface="Arial"/>
              </a:rPr>
              <a:t>USP of the proposed solution</a:t>
            </a:r>
          </a:p>
          <a:p>
            <a:pPr algn="l">
              <a:lnSpc>
                <a:spcPct val="106000"/>
              </a:lnSpc>
              <a:spcAft>
                <a:spcPts val="300"/>
              </a:spcAft>
            </a:pPr>
            <a:r>
              <a:rPr sz="900" b="0" i="0">
                <a:solidFill>
                  <a:srgbClr val="202124"/>
                </a:solidFill>
                <a:latin typeface="Arial"/>
              </a:rPr>
              <a:t>A Gemini incident room in which a Diagnostician, a Planner and a Safety officer argue the case from measured facts, technicians' past notes and the plant's own SOPs, in the user's language. 'Rewind the factory', which replays one of the plant's own breakdowns with OpEx watching. And a simulator that charges itself for missed detections, false alarms and ignored advice, then shows how the answer moves when those assumptions get worse.</a:t>
            </a:r>
          </a:p>
        </p:txBody>
      </p:sp>
      <p:pic>
        <p:nvPicPr>
          <p:cNvPr id="83" name="Picture 82" descr="05_decide_540_320_2880_1270.png"/>
          <p:cNvPicPr>
            <a:picLocks noChangeAspect="1"/>
          </p:cNvPicPr>
          <p:nvPr/>
        </p:nvPicPr>
        <p:blipFill>
          <a:blip r:embed="rId5"/>
          <a:stretch>
            <a:fillRect/>
          </a:stretch>
        </p:blipFill>
        <p:spPr>
          <a:xfrm>
            <a:off x="5074920" y="1207008"/>
            <a:ext cx="3794760" cy="1540607"/>
          </a:xfrm>
          <a:prstGeom prst="rect">
            <a:avLst/>
          </a:prstGeom>
          <a:ln w="9525">
            <a:solidFill>
              <a:srgbClr val="DADCE0"/>
            </a:solidFill>
          </a:ln>
        </p:spPr>
      </p:pic>
      <p:sp>
        <p:nvSpPr>
          <p:cNvPr id="84" name="TextBox 83"/>
          <p:cNvSpPr txBox="1"/>
          <p:nvPr/>
        </p:nvSpPr>
        <p:spPr>
          <a:xfrm>
            <a:off x="5074920" y="2852928"/>
            <a:ext cx="3794760" cy="411480"/>
          </a:xfrm>
          <a:prstGeom prst="rect">
            <a:avLst/>
          </a:prstGeom>
          <a:noFill/>
        </p:spPr>
        <p:txBody>
          <a:bodyPr wrap="square" lIns="0" rIns="0" tIns="0" bIns="0" anchor="t">
            <a:spAutoFit/>
          </a:bodyPr>
          <a:lstStyle/>
          <a:p>
            <a:pPr algn="l">
              <a:spcAft>
                <a:spcPts val="0"/>
              </a:spcAft>
            </a:pPr>
            <a:r>
              <a:rPr sz="750" b="0" i="0">
                <a:solidFill>
                  <a:srgbClr val="5F6368"/>
                </a:solidFill>
                <a:latin typeface="Arial"/>
              </a:rPr>
              <a:t>Options for M-17: downtime, ₹ expected cost, failure risk, extra bad parts, energy, 'worked here before'. Unsafe options stay visible but are never recommended.</a:t>
            </a:r>
          </a:p>
        </p:txBody>
      </p:sp>
      <p:pic>
        <p:nvPicPr>
          <p:cNvPr id="85" name="Picture 84" descr="07_sensor_drift_540_860_1640_1200.png"/>
          <p:cNvPicPr>
            <a:picLocks noChangeAspect="1"/>
          </p:cNvPicPr>
          <p:nvPr/>
        </p:nvPicPr>
        <p:blipFill>
          <a:blip r:embed="rId6"/>
          <a:stretch>
            <a:fillRect/>
          </a:stretch>
        </p:blipFill>
        <p:spPr>
          <a:xfrm>
            <a:off x="5074920" y="3310128"/>
            <a:ext cx="3794760" cy="1172925"/>
          </a:xfrm>
          <a:prstGeom prst="rect">
            <a:avLst/>
          </a:prstGeom>
          <a:ln w="9525">
            <a:solidFill>
              <a:srgbClr val="DADCE0"/>
            </a:solidFill>
          </a:ln>
        </p:spPr>
      </p:pic>
      <p:sp>
        <p:nvSpPr>
          <p:cNvPr id="86" name="TextBox 85"/>
          <p:cNvSpPr txBox="1"/>
          <p:nvPr/>
        </p:nvSpPr>
        <p:spPr>
          <a:xfrm>
            <a:off x="5074920" y="4526280"/>
            <a:ext cx="3794760" cy="274320"/>
          </a:xfrm>
          <a:prstGeom prst="rect">
            <a:avLst/>
          </a:prstGeom>
          <a:noFill/>
        </p:spPr>
        <p:txBody>
          <a:bodyPr wrap="square" lIns="0" rIns="0" tIns="0" bIns="0" anchor="t">
            <a:spAutoFit/>
          </a:bodyPr>
          <a:lstStyle/>
          <a:p>
            <a:pPr algn="l">
              <a:spcAft>
                <a:spcPts val="0"/>
              </a:spcAft>
            </a:pPr>
            <a:r>
              <a:rPr sz="750" b="0" i="0">
                <a:solidFill>
                  <a:srgbClr val="5F6368"/>
                </a:solidFill>
                <a:latin typeface="Arial"/>
              </a:rPr>
              <a:t>M-21: vibration rising but temperature and power normal, 31% of readings missing, so the diagnosis is sensor drift and the confidence drops from 76% to 60%.</a:t>
            </a: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pic>
        <p:nvPicPr>
          <p:cNvPr id="84" name="Google Shape;84;p17"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85" name="Google Shape;85;p17"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86" name="Google Shape;86;p17"/>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7" name="Google Shape;87;p17"/>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List of features offered by the solution</a:t>
            </a:r>
            <a:endParaRPr sz="1600">
              <a:latin typeface="Google Sans Flex Medium"/>
              <a:ea typeface="Google Sans Flex Medium"/>
              <a:cs typeface="Google Sans Flex Medium"/>
              <a:sym typeface="Google Sans Flex Medium"/>
            </a:endParaRPr>
          </a:p>
        </p:txBody>
      </p:sp>
      <p:graphicFrame>
        <p:nvGraphicFramePr>
          <p:cNvPr id="88" name="Table 87"/>
          <p:cNvGraphicFramePr>
            <a:graphicFrameLocks noGrp="1"/>
          </p:cNvGraphicFramePr>
          <p:nvPr/>
        </p:nvGraphicFramePr>
        <p:xfrm>
          <a:off x="356616" y="1225296"/>
          <a:ext cx="8458200" cy="3145536"/>
        </p:xfrm>
        <a:graphic>
          <a:graphicData uri="http://schemas.openxmlformats.org/drawingml/2006/table">
            <a:tbl>
              <a:tblPr firstRow="1">
                <a:tableStyleId>{5C22544A-7EE6-4342-B048-85BDC9FD1C3A}</a:tableStyleId>
              </a:tblPr>
              <a:tblGrid>
                <a:gridCol w="1508760"/>
                <a:gridCol w="6172200"/>
                <a:gridCol w="777240"/>
              </a:tblGrid>
              <a:tr h="393192">
                <a:tc>
                  <a:txBody>
                    <a:bodyPr wrap="square"/>
                    <a:lstStyle/>
                    <a:p>
                      <a:r>
                        <a:rPr sz="880" b="1">
                          <a:solidFill>
                            <a:srgbClr val="5F6368"/>
                          </a:solidFill>
                          <a:latin typeface="Arial"/>
                        </a:rPr>
                        <a:t>Feature</a:t>
                      </a:r>
                    </a:p>
                  </a:txBody>
                  <a:tcPr marL="45720" marR="45720" marT="22860" marB="22860" anchor="ctr">
                    <a:lnL w="6350" cap="flat" cmpd="sng" algn="ctr">
                      <a:noFill/>
                    </a:lnL>
                    <a:lnR w="6350" cap="flat" cmpd="sng" algn="ctr">
                      <a:noFill/>
                    </a:lnR>
                    <a:lnT w="6350" cap="flat" cmpd="sng" algn="ctr">
                      <a:noFill/>
                    </a:lnT>
                    <a:lnB w="12700" cap="flat" cmpd="sng" algn="ctr">
                      <a:solidFill>
                        <a:srgbClr val="DADCE0"/>
                      </a:solidFill>
                    </a:lnB>
                    <a:solidFill>
                      <a:srgbClr val="F1F3F4"/>
                    </a:solidFill>
                  </a:tcPr>
                </a:tc>
                <a:tc>
                  <a:txBody>
                    <a:bodyPr wrap="square"/>
                    <a:lstStyle/>
                    <a:p>
                      <a:r>
                        <a:rPr sz="880" b="1">
                          <a:solidFill>
                            <a:srgbClr val="5F6368"/>
                          </a:solidFill>
                          <a:latin typeface="Arial"/>
                        </a:rPr>
                        <a:t>What you see in the app</a:t>
                      </a:r>
                    </a:p>
                  </a:txBody>
                  <a:tcPr marL="45720" marR="45720" marT="22860" marB="22860" anchor="ctr">
                    <a:lnL w="6350" cap="flat" cmpd="sng" algn="ctr">
                      <a:noFill/>
                    </a:lnL>
                    <a:lnR w="6350" cap="flat" cmpd="sng" algn="ctr">
                      <a:noFill/>
                    </a:lnR>
                    <a:lnT w="6350" cap="flat" cmpd="sng" algn="ctr">
                      <a:noFill/>
                    </a:lnT>
                    <a:lnB w="12700" cap="flat" cmpd="sng" algn="ctr">
                      <a:solidFill>
                        <a:srgbClr val="DADCE0"/>
                      </a:solidFill>
                    </a:lnB>
                    <a:solidFill>
                      <a:srgbClr val="F1F3F4"/>
                    </a:solidFill>
                  </a:tcPr>
                </a:tc>
                <a:tc>
                  <a:txBody>
                    <a:bodyPr wrap="square"/>
                    <a:lstStyle/>
                    <a:p>
                      <a:r>
                        <a:rPr sz="880" b="1">
                          <a:solidFill>
                            <a:srgbClr val="5F6368"/>
                          </a:solidFill>
                          <a:latin typeface="Arial"/>
                        </a:rPr>
                        <a:t>Who</a:t>
                      </a:r>
                    </a:p>
                  </a:txBody>
                  <a:tcPr marL="45720" marR="45720" marT="22860" marB="22860" anchor="ctr">
                    <a:lnL w="6350" cap="flat" cmpd="sng" algn="ctr">
                      <a:noFill/>
                    </a:lnL>
                    <a:lnR w="6350" cap="flat" cmpd="sng" algn="ctr">
                      <a:noFill/>
                    </a:lnR>
                    <a:lnT w="6350" cap="flat" cmpd="sng" algn="ctr">
                      <a:noFill/>
                    </a:lnT>
                    <a:lnB w="12700" cap="flat" cmpd="sng" algn="ctr">
                      <a:solidFill>
                        <a:srgbClr val="DADCE0"/>
                      </a:solidFill>
                    </a:lnB>
                    <a:solidFill>
                      <a:srgbClr val="F1F3F4"/>
                    </a:solidFill>
                  </a:tcPr>
                </a:tc>
              </a:tr>
              <a:tr h="393192">
                <a:tc>
                  <a:txBody>
                    <a:bodyPr wrap="square"/>
                    <a:lstStyle/>
                    <a:p>
                      <a:r>
                        <a:rPr sz="880" b="1">
                          <a:solidFill>
                            <a:srgbClr val="202124"/>
                          </a:solidFill>
                          <a:latin typeface="Arial"/>
                        </a:rPr>
                        <a:t>Ranked factory health</a:t>
                      </a:r>
                    </a:p>
                  </a:txBody>
                  <a:tcPr marL="45720" marR="45720" marT="22860" marB="22860" anchor="ctr">
                    <a:lnL w="6350" cap="flat" cmpd="sng" algn="ctr">
                      <a:noFill/>
                    </a:lnL>
                    <a:lnR w="6350" cap="flat" cmpd="sng" algn="ctr">
                      <a:noFill/>
                    </a:lnR>
                    <a:lnT w="6350" cap="flat" cmpd="sng" algn="ctr">
                      <a:noFill/>
                    </a:lnT>
                    <a:lnB w="6350" cap="flat" cmpd="sng" algn="ctr">
                      <a:solidFill>
                        <a:srgbClr val="DADCE0"/>
                      </a:solidFill>
                    </a:lnB>
                    <a:solidFill>
                      <a:srgbClr val="FFFFFF"/>
                    </a:solidFill>
                  </a:tcPr>
                </a:tc>
                <a:tc>
                  <a:txBody>
                    <a:bodyPr wrap="square"/>
                    <a:lstStyle/>
                    <a:p>
                      <a:r>
                        <a:rPr sz="880" b="0">
                          <a:solidFill>
                            <a:srgbClr val="202124"/>
                          </a:solidFill>
                          <a:latin typeface="Arial"/>
                        </a:rPr>
                        <a:t>OEE 75% = 83% availability × 92% speed × 97.8% quality. 'What should I worry about first?' orders problems by chance of failure × cost if it fails × how soon, so one machine is at the top, not fifty alarms</a:t>
                      </a:r>
                    </a:p>
                  </a:txBody>
                  <a:tcPr marL="45720" marR="45720" marT="22860" marB="22860" anchor="ctr">
                    <a:lnL w="6350" cap="flat" cmpd="sng" algn="ctr">
                      <a:noFill/>
                    </a:lnL>
                    <a:lnR w="6350" cap="flat" cmpd="sng" algn="ctr">
                      <a:noFill/>
                    </a:lnR>
                    <a:lnT w="6350" cap="flat" cmpd="sng" algn="ctr">
                      <a:noFill/>
                    </a:lnT>
                    <a:lnB w="6350" cap="flat" cmpd="sng" algn="ctr">
                      <a:solidFill>
                        <a:srgbClr val="DADCE0"/>
                      </a:solidFill>
                    </a:lnB>
                    <a:solidFill>
                      <a:srgbClr val="FFFFFF"/>
                    </a:solidFill>
                  </a:tcPr>
                </a:tc>
                <a:tc>
                  <a:txBody>
                    <a:bodyPr wrap="square"/>
                    <a:lstStyle/>
                    <a:p>
                      <a:r>
                        <a:rPr sz="880" b="0">
                          <a:solidFill>
                            <a:srgbClr val="202124"/>
                          </a:solidFill>
                          <a:latin typeface="Arial"/>
                        </a:rPr>
                        <a:t>Everyone</a:t>
                      </a:r>
                    </a:p>
                  </a:txBody>
                  <a:tcPr marL="45720" marR="45720" marT="22860" marB="22860" anchor="ctr">
                    <a:lnL w="6350" cap="flat" cmpd="sng" algn="ctr">
                      <a:noFill/>
                    </a:lnL>
                    <a:lnR w="6350" cap="flat" cmpd="sng" algn="ctr">
                      <a:noFill/>
                    </a:lnR>
                    <a:lnT w="6350" cap="flat" cmpd="sng" algn="ctr">
                      <a:noFill/>
                    </a:lnT>
                    <a:lnB w="6350" cap="flat" cmpd="sng" algn="ctr">
                      <a:solidFill>
                        <a:srgbClr val="DADCE0"/>
                      </a:solidFill>
                    </a:lnB>
                    <a:solidFill>
                      <a:srgbClr val="FFFFFF"/>
                    </a:solidFill>
                  </a:tcPr>
                </a:tc>
              </a:tr>
              <a:tr h="393192">
                <a:tc>
                  <a:txBody>
                    <a:bodyPr wrap="square"/>
                    <a:lstStyle/>
                    <a:p>
                      <a:r>
                        <a:rPr sz="880" b="1">
                          <a:solidFill>
                            <a:srgbClr val="202124"/>
                          </a:solidFill>
                          <a:latin typeface="Arial"/>
                        </a:rPr>
                        <a:t>Diagnosis in plain words</a:t>
                      </a:r>
                    </a:p>
                  </a:txBody>
                  <a:tcPr marL="45720" marR="45720" marT="22860" marB="22860" anchor="ctr">
                    <a:lnL w="6350" cap="flat" cmpd="sng" algn="ctr">
                      <a:noFill/>
                    </a:lnL>
                    <a:lnR w="6350" cap="flat" cmpd="sng" algn="ctr">
                      <a:noFill/>
                    </a:lnR>
                    <a:lnT w="6350" cap="flat" cmpd="sng" algn="ctr">
                      <a:noFill/>
                    </a:lnT>
                    <a:lnB w="6350" cap="flat" cmpd="sng" algn="ctr">
                      <a:solidFill>
                        <a:srgbClr val="DADCE0"/>
                      </a:solidFill>
                    </a:lnB>
                    <a:solidFill>
                      <a:srgbClr val="FFFFFF"/>
                    </a:solidFill>
                  </a:tcPr>
                </a:tc>
                <a:tc>
                  <a:txBody>
                    <a:bodyPr wrap="square"/>
                    <a:lstStyle/>
                    <a:p>
                      <a:r>
                        <a:rPr sz="880" b="0">
                          <a:solidFill>
                            <a:srgbClr val="202124"/>
                          </a:solidFill>
                          <a:latin typeface="Arial"/>
                        </a:rPr>
                        <a:t>'Vibration is 160% above its normal range (1.20 to 2.08 mm/s) and has been outside it for 180 minutes.' One root cause with a chain of impact and 'similar to 7 past incidents, 7 confirmed' from 194 incidents and 793 jobs</a:t>
                      </a:r>
                    </a:p>
                  </a:txBody>
                  <a:tcPr marL="45720" marR="45720" marT="22860" marB="22860" anchor="ctr">
                    <a:lnL w="6350" cap="flat" cmpd="sng" algn="ctr">
                      <a:noFill/>
                    </a:lnL>
                    <a:lnR w="6350" cap="flat" cmpd="sng" algn="ctr">
                      <a:noFill/>
                    </a:lnR>
                    <a:lnT w="6350" cap="flat" cmpd="sng" algn="ctr">
                      <a:noFill/>
                    </a:lnT>
                    <a:lnB w="6350" cap="flat" cmpd="sng" algn="ctr">
                      <a:solidFill>
                        <a:srgbClr val="DADCE0"/>
                      </a:solidFill>
                    </a:lnB>
                    <a:solidFill>
                      <a:srgbClr val="FFFFFF"/>
                    </a:solidFill>
                  </a:tcPr>
                </a:tc>
                <a:tc>
                  <a:txBody>
                    <a:bodyPr wrap="square"/>
                    <a:lstStyle/>
                    <a:p>
                      <a:r>
                        <a:rPr sz="880" b="0">
                          <a:solidFill>
                            <a:srgbClr val="202124"/>
                          </a:solidFill>
                          <a:latin typeface="Arial"/>
                        </a:rPr>
                        <a:t>Engineer</a:t>
                      </a:r>
                    </a:p>
                  </a:txBody>
                  <a:tcPr marL="45720" marR="45720" marT="22860" marB="22860" anchor="ctr">
                    <a:lnL w="6350" cap="flat" cmpd="sng" algn="ctr">
                      <a:noFill/>
                    </a:lnL>
                    <a:lnR w="6350" cap="flat" cmpd="sng" algn="ctr">
                      <a:noFill/>
                    </a:lnR>
                    <a:lnT w="6350" cap="flat" cmpd="sng" algn="ctr">
                      <a:noFill/>
                    </a:lnT>
                    <a:lnB w="6350" cap="flat" cmpd="sng" algn="ctr">
                      <a:solidFill>
                        <a:srgbClr val="DADCE0"/>
                      </a:solidFill>
                    </a:lnB>
                    <a:solidFill>
                      <a:srgbClr val="FFFFFF"/>
                    </a:solidFill>
                  </a:tcPr>
                </a:tc>
              </a:tr>
              <a:tr h="393192">
                <a:tc>
                  <a:txBody>
                    <a:bodyPr wrap="square"/>
                    <a:lstStyle/>
                    <a:p>
                      <a:r>
                        <a:rPr sz="880" b="1">
                          <a:solidFill>
                            <a:srgbClr val="202124"/>
                          </a:solidFill>
                          <a:latin typeface="Arial"/>
                        </a:rPr>
                        <a:t>Honest about data</a:t>
                      </a:r>
                    </a:p>
                  </a:txBody>
                  <a:tcPr marL="45720" marR="45720" marT="22860" marB="22860" anchor="ctr">
                    <a:lnL w="6350" cap="flat" cmpd="sng" algn="ctr">
                      <a:noFill/>
                    </a:lnL>
                    <a:lnR w="6350" cap="flat" cmpd="sng" algn="ctr">
                      <a:noFill/>
                    </a:lnR>
                    <a:lnT w="6350" cap="flat" cmpd="sng" algn="ctr">
                      <a:noFill/>
                    </a:lnT>
                    <a:lnB w="6350" cap="flat" cmpd="sng" algn="ctr">
                      <a:solidFill>
                        <a:srgbClr val="DADCE0"/>
                      </a:solidFill>
                    </a:lnB>
                    <a:solidFill>
                      <a:srgbClr val="FFFFFF"/>
                    </a:solidFill>
                  </a:tcPr>
                </a:tc>
                <a:tc>
                  <a:txBody>
                    <a:bodyPr wrap="square"/>
                    <a:lstStyle/>
                    <a:p>
                      <a:r>
                        <a:rPr sz="880" b="0">
                          <a:solidFill>
                            <a:srgbClr val="202124"/>
                          </a:solidFill>
                          <a:latin typeface="Arial"/>
                        </a:rPr>
                        <a:t>Missing readings, drift, calibration age and a physics check (power vs V × I) lower the stated confidence: 'reduced from 76% to 60% because of these data problems'. A drifting sensor is called a sensor fault</a:t>
                      </a:r>
                    </a:p>
                  </a:txBody>
                  <a:tcPr marL="45720" marR="45720" marT="22860" marB="22860" anchor="ctr">
                    <a:lnL w="6350" cap="flat" cmpd="sng" algn="ctr">
                      <a:noFill/>
                    </a:lnL>
                    <a:lnR w="6350" cap="flat" cmpd="sng" algn="ctr">
                      <a:noFill/>
                    </a:lnR>
                    <a:lnT w="6350" cap="flat" cmpd="sng" algn="ctr">
                      <a:noFill/>
                    </a:lnT>
                    <a:lnB w="6350" cap="flat" cmpd="sng" algn="ctr">
                      <a:solidFill>
                        <a:srgbClr val="DADCE0"/>
                      </a:solidFill>
                    </a:lnB>
                    <a:solidFill>
                      <a:srgbClr val="FFFFFF"/>
                    </a:solidFill>
                  </a:tcPr>
                </a:tc>
                <a:tc>
                  <a:txBody>
                    <a:bodyPr wrap="square"/>
                    <a:lstStyle/>
                    <a:p>
                      <a:r>
                        <a:rPr sz="880" b="0">
                          <a:solidFill>
                            <a:srgbClr val="202124"/>
                          </a:solidFill>
                          <a:latin typeface="Arial"/>
                        </a:rPr>
                        <a:t>Engineer</a:t>
                      </a:r>
                    </a:p>
                  </a:txBody>
                  <a:tcPr marL="45720" marR="45720" marT="22860" marB="22860" anchor="ctr">
                    <a:lnL w="6350" cap="flat" cmpd="sng" algn="ctr">
                      <a:noFill/>
                    </a:lnL>
                    <a:lnR w="6350" cap="flat" cmpd="sng" algn="ctr">
                      <a:noFill/>
                    </a:lnR>
                    <a:lnT w="6350" cap="flat" cmpd="sng" algn="ctr">
                      <a:noFill/>
                    </a:lnT>
                    <a:lnB w="6350" cap="flat" cmpd="sng" algn="ctr">
                      <a:solidFill>
                        <a:srgbClr val="DADCE0"/>
                      </a:solidFill>
                    </a:lnB>
                    <a:solidFill>
                      <a:srgbClr val="FFFFFF"/>
                    </a:solidFill>
                  </a:tcPr>
                </a:tc>
              </a:tr>
              <a:tr h="393192">
                <a:tc>
                  <a:txBody>
                    <a:bodyPr wrap="square"/>
                    <a:lstStyle/>
                    <a:p>
                      <a:r>
                        <a:rPr sz="880" b="1">
                          <a:solidFill>
                            <a:srgbClr val="202124"/>
                          </a:solidFill>
                          <a:latin typeface="Arial"/>
                        </a:rPr>
                        <a:t>Seven priced options</a:t>
                      </a:r>
                    </a:p>
                  </a:txBody>
                  <a:tcPr marL="45720" marR="45720" marT="22860" marB="22860" anchor="ctr">
                    <a:lnL w="6350" cap="flat" cmpd="sng" algn="ctr">
                      <a:noFill/>
                    </a:lnL>
                    <a:lnR w="6350" cap="flat" cmpd="sng" algn="ctr">
                      <a:noFill/>
                    </a:lnR>
                    <a:lnT w="6350" cap="flat" cmpd="sng" algn="ctr">
                      <a:noFill/>
                    </a:lnT>
                    <a:lnB w="6350" cap="flat" cmpd="sng" algn="ctr">
                      <a:solidFill>
                        <a:srgbClr val="DADCE0"/>
                      </a:solidFill>
                    </a:lnB>
                    <a:solidFill>
                      <a:srgbClr val="FFFFFF"/>
                    </a:solidFill>
                  </a:tcPr>
                </a:tc>
                <a:tc>
                  <a:txBody>
                    <a:bodyPr wrap="square"/>
                    <a:lstStyle/>
                    <a:p>
                      <a:r>
                        <a:rPr sz="880" b="0">
                          <a:solidFill>
                            <a:srgbClr val="202124"/>
                          </a:solidFill>
                          <a:latin typeface="Arial"/>
                        </a:rPr>
                        <a:t>Stop, slow 10%, continue, shift load, partial fix, replace, watch. Each shows downtime, ₹ expected cost, failure risk, extra bad parts, energy and 'worked 6 of 6 times'. Unsafe options are flagged and never recommended</a:t>
                      </a:r>
                    </a:p>
                  </a:txBody>
                  <a:tcPr marL="45720" marR="45720" marT="22860" marB="22860" anchor="ctr">
                    <a:lnL w="6350" cap="flat" cmpd="sng" algn="ctr">
                      <a:noFill/>
                    </a:lnL>
                    <a:lnR w="6350" cap="flat" cmpd="sng" algn="ctr">
                      <a:noFill/>
                    </a:lnR>
                    <a:lnT w="6350" cap="flat" cmpd="sng" algn="ctr">
                      <a:noFill/>
                    </a:lnT>
                    <a:lnB w="6350" cap="flat" cmpd="sng" algn="ctr">
                      <a:solidFill>
                        <a:srgbClr val="DADCE0"/>
                      </a:solidFill>
                    </a:lnB>
                    <a:solidFill>
                      <a:srgbClr val="FFFFFF"/>
                    </a:solidFill>
                  </a:tcPr>
                </a:tc>
                <a:tc>
                  <a:txBody>
                    <a:bodyPr wrap="square"/>
                    <a:lstStyle/>
                    <a:p>
                      <a:r>
                        <a:rPr sz="880" b="0">
                          <a:solidFill>
                            <a:srgbClr val="202124"/>
                          </a:solidFill>
                          <a:latin typeface="Arial"/>
                        </a:rPr>
                        <a:t>Engineer</a:t>
                      </a:r>
                    </a:p>
                  </a:txBody>
                  <a:tcPr marL="45720" marR="45720" marT="22860" marB="22860" anchor="ctr">
                    <a:lnL w="6350" cap="flat" cmpd="sng" algn="ctr">
                      <a:noFill/>
                    </a:lnL>
                    <a:lnR w="6350" cap="flat" cmpd="sng" algn="ctr">
                      <a:noFill/>
                    </a:lnR>
                    <a:lnT w="6350" cap="flat" cmpd="sng" algn="ctr">
                      <a:noFill/>
                    </a:lnT>
                    <a:lnB w="6350" cap="flat" cmpd="sng" algn="ctr">
                      <a:solidFill>
                        <a:srgbClr val="DADCE0"/>
                      </a:solidFill>
                    </a:lnB>
                    <a:solidFill>
                      <a:srgbClr val="FFFFFF"/>
                    </a:solidFill>
                  </a:tcPr>
                </a:tc>
              </a:tr>
              <a:tr h="393192">
                <a:tc>
                  <a:txBody>
                    <a:bodyPr wrap="square"/>
                    <a:lstStyle/>
                    <a:p>
                      <a:r>
                        <a:rPr sz="880" b="1">
                          <a:solidFill>
                            <a:srgbClr val="202124"/>
                          </a:solidFill>
                          <a:latin typeface="Arial"/>
                        </a:rPr>
                        <a:t>Gemini incident room</a:t>
                      </a:r>
                    </a:p>
                  </a:txBody>
                  <a:tcPr marL="45720" marR="45720" marT="22860" marB="22860" anchor="ctr">
                    <a:lnL w="6350" cap="flat" cmpd="sng" algn="ctr">
                      <a:noFill/>
                    </a:lnL>
                    <a:lnR w="6350" cap="flat" cmpd="sng" algn="ctr">
                      <a:noFill/>
                    </a:lnR>
                    <a:lnT w="6350" cap="flat" cmpd="sng" algn="ctr">
                      <a:noFill/>
                    </a:lnT>
                    <a:lnB w="6350" cap="flat" cmpd="sng" algn="ctr">
                      <a:solidFill>
                        <a:srgbClr val="DADCE0"/>
                      </a:solidFill>
                    </a:lnB>
                    <a:solidFill>
                      <a:srgbClr val="FFFFFF"/>
                    </a:solidFill>
                  </a:tcPr>
                </a:tc>
                <a:tc>
                  <a:txBody>
                    <a:bodyPr wrap="square"/>
                    <a:lstStyle/>
                    <a:p>
                      <a:r>
                        <a:rPr sz="880" b="0">
                          <a:solidFill>
                            <a:srgbClr val="202124"/>
                          </a:solidFill>
                          <a:latin typeface="Arial"/>
                        </a:rPr>
                        <a:t>Diagnostician, Planner and Safety officer review the case from measured facts, past technician notes and the plant's SOPs (lockout-tagout steps included). Their reasoning is saved with the decision</a:t>
                      </a:r>
                    </a:p>
                  </a:txBody>
                  <a:tcPr marL="45720" marR="45720" marT="22860" marB="22860" anchor="ctr">
                    <a:lnL w="6350" cap="flat" cmpd="sng" algn="ctr">
                      <a:noFill/>
                    </a:lnL>
                    <a:lnR w="6350" cap="flat" cmpd="sng" algn="ctr">
                      <a:noFill/>
                    </a:lnR>
                    <a:lnT w="6350" cap="flat" cmpd="sng" algn="ctr">
                      <a:noFill/>
                    </a:lnT>
                    <a:lnB w="6350" cap="flat" cmpd="sng" algn="ctr">
                      <a:solidFill>
                        <a:srgbClr val="DADCE0"/>
                      </a:solidFill>
                    </a:lnB>
                    <a:solidFill>
                      <a:srgbClr val="FFFFFF"/>
                    </a:solidFill>
                  </a:tcPr>
                </a:tc>
                <a:tc>
                  <a:txBody>
                    <a:bodyPr wrap="square"/>
                    <a:lstStyle/>
                    <a:p>
                      <a:r>
                        <a:rPr sz="880" b="0">
                          <a:solidFill>
                            <a:srgbClr val="202124"/>
                          </a:solidFill>
                          <a:latin typeface="Arial"/>
                        </a:rPr>
                        <a:t>Engineer</a:t>
                      </a:r>
                    </a:p>
                  </a:txBody>
                  <a:tcPr marL="45720" marR="45720" marT="22860" marB="22860" anchor="ctr">
                    <a:lnL w="6350" cap="flat" cmpd="sng" algn="ctr">
                      <a:noFill/>
                    </a:lnL>
                    <a:lnR w="6350" cap="flat" cmpd="sng" algn="ctr">
                      <a:noFill/>
                    </a:lnR>
                    <a:lnT w="6350" cap="flat" cmpd="sng" algn="ctr">
                      <a:noFill/>
                    </a:lnT>
                    <a:lnB w="6350" cap="flat" cmpd="sng" algn="ctr">
                      <a:solidFill>
                        <a:srgbClr val="DADCE0"/>
                      </a:solidFill>
                    </a:lnB>
                    <a:solidFill>
                      <a:srgbClr val="FFFFFF"/>
                    </a:solidFill>
                  </a:tcPr>
                </a:tc>
              </a:tr>
              <a:tr h="393192">
                <a:tc>
                  <a:txBody>
                    <a:bodyPr wrap="square"/>
                    <a:lstStyle/>
                    <a:p>
                      <a:r>
                        <a:rPr sz="880" b="1">
                          <a:solidFill>
                            <a:srgbClr val="202124"/>
                          </a:solidFill>
                          <a:latin typeface="Arial"/>
                        </a:rPr>
                        <a:t>Ask OpEx</a:t>
                      </a:r>
                    </a:p>
                  </a:txBody>
                  <a:tcPr marL="45720" marR="45720" marT="22860" marB="22860" anchor="ctr">
                    <a:lnL w="6350" cap="flat" cmpd="sng" algn="ctr">
                      <a:noFill/>
                    </a:lnL>
                    <a:lnR w="6350" cap="flat" cmpd="sng" algn="ctr">
                      <a:noFill/>
                    </a:lnR>
                    <a:lnT w="6350" cap="flat" cmpd="sng" algn="ctr">
                      <a:noFill/>
                    </a:lnT>
                    <a:lnB w="6350" cap="flat" cmpd="sng" algn="ctr">
                      <a:solidFill>
                        <a:srgbClr val="DADCE0"/>
                      </a:solidFill>
                    </a:lnB>
                    <a:solidFill>
                      <a:srgbClr val="FFFFFF"/>
                    </a:solidFill>
                  </a:tcPr>
                </a:tc>
                <a:tc>
                  <a:txBody>
                    <a:bodyPr wrap="square"/>
                    <a:lstStyle/>
                    <a:p>
                      <a:r>
                        <a:rPr sz="880" b="0">
                          <a:solidFill>
                            <a:srgbClr val="202124"/>
                          </a:solidFill>
                          <a:latin typeface="Arial"/>
                        </a:rPr>
                        <a:t>Gemini with six function tools, so every number comes from plant data. Voice in, read-aloud, English plus five Indian languages, photo check of a finished part, a shift-handover note written from live data</a:t>
                      </a:r>
                    </a:p>
                  </a:txBody>
                  <a:tcPr marL="45720" marR="45720" marT="22860" marB="22860" anchor="ctr">
                    <a:lnL w="6350" cap="flat" cmpd="sng" algn="ctr">
                      <a:noFill/>
                    </a:lnL>
                    <a:lnR w="6350" cap="flat" cmpd="sng" algn="ctr">
                      <a:noFill/>
                    </a:lnR>
                    <a:lnT w="6350" cap="flat" cmpd="sng" algn="ctr">
                      <a:noFill/>
                    </a:lnT>
                    <a:lnB w="6350" cap="flat" cmpd="sng" algn="ctr">
                      <a:solidFill>
                        <a:srgbClr val="DADCE0"/>
                      </a:solidFill>
                    </a:lnB>
                    <a:solidFill>
                      <a:srgbClr val="FFFFFF"/>
                    </a:solidFill>
                  </a:tcPr>
                </a:tc>
                <a:tc>
                  <a:txBody>
                    <a:bodyPr wrap="square"/>
                    <a:lstStyle/>
                    <a:p>
                      <a:r>
                        <a:rPr sz="880" b="0">
                          <a:solidFill>
                            <a:srgbClr val="202124"/>
                          </a:solidFill>
                          <a:latin typeface="Arial"/>
                        </a:rPr>
                        <a:t>Operator</a:t>
                      </a:r>
                    </a:p>
                  </a:txBody>
                  <a:tcPr marL="45720" marR="45720" marT="22860" marB="22860" anchor="ctr">
                    <a:lnL w="6350" cap="flat" cmpd="sng" algn="ctr">
                      <a:noFill/>
                    </a:lnL>
                    <a:lnR w="6350" cap="flat" cmpd="sng" algn="ctr">
                      <a:noFill/>
                    </a:lnR>
                    <a:lnT w="6350" cap="flat" cmpd="sng" algn="ctr">
                      <a:noFill/>
                    </a:lnT>
                    <a:lnB w="6350" cap="flat" cmpd="sng" algn="ctr">
                      <a:solidFill>
                        <a:srgbClr val="DADCE0"/>
                      </a:solidFill>
                    </a:lnB>
                    <a:solidFill>
                      <a:srgbClr val="FFFFFF"/>
                    </a:solidFill>
                  </a:tcPr>
                </a:tc>
              </a:tr>
              <a:tr h="393192">
                <a:tc>
                  <a:txBody>
                    <a:bodyPr wrap="square"/>
                    <a:lstStyle/>
                    <a:p>
                      <a:r>
                        <a:rPr sz="880" b="1">
                          <a:solidFill>
                            <a:srgbClr val="202124"/>
                          </a:solidFill>
                          <a:latin typeface="Arial"/>
                        </a:rPr>
                        <a:t>Approval and learning</a:t>
                      </a:r>
                    </a:p>
                  </a:txBody>
                  <a:tcPr marL="45720" marR="45720" marT="22860" marB="22860" anchor="ctr">
                    <a:lnL w="6350" cap="flat" cmpd="sng" algn="ctr">
                      <a:noFill/>
                    </a:lnL>
                    <a:lnR w="6350" cap="flat" cmpd="sng" algn="ctr">
                      <a:noFill/>
                    </a:lnR>
                    <a:lnT w="6350" cap="flat" cmpd="sng" algn="ctr">
                      <a:noFill/>
                    </a:lnT>
                    <a:lnB w="6350" cap="flat" cmpd="sng" algn="ctr">
                      <a:solidFill>
                        <a:srgbClr val="9AA0A6"/>
                      </a:solidFill>
                    </a:lnB>
                    <a:solidFill>
                      <a:srgbClr val="FFFFFF"/>
                    </a:solidFill>
                  </a:tcPr>
                </a:tc>
                <a:tc>
                  <a:txBody>
                    <a:bodyPr wrap="square"/>
                    <a:lstStyle/>
                    <a:p>
                      <a:r>
                        <a:rPr sz="880" b="0">
                          <a:solidFill>
                            <a:srgbClr val="202124"/>
                          </a:solidFill>
                          <a:latin typeface="Arial"/>
                        </a:rPr>
                        <a:t>Approve, reject or pick another option; roles enforced on the server; outcome re-checked 2 plant hours later and fed back into the ranking. A 5-year with-vs-without simulation and 'Rewind the factory' for the plant head</a:t>
                      </a:r>
                    </a:p>
                  </a:txBody>
                  <a:tcPr marL="45720" marR="45720" marT="22860" marB="22860" anchor="ctr">
                    <a:lnL w="6350" cap="flat" cmpd="sng" algn="ctr">
                      <a:noFill/>
                    </a:lnL>
                    <a:lnR w="6350" cap="flat" cmpd="sng" algn="ctr">
                      <a:noFill/>
                    </a:lnR>
                    <a:lnT w="6350" cap="flat" cmpd="sng" algn="ctr">
                      <a:noFill/>
                    </a:lnT>
                    <a:lnB w="6350" cap="flat" cmpd="sng" algn="ctr">
                      <a:solidFill>
                        <a:srgbClr val="9AA0A6"/>
                      </a:solidFill>
                    </a:lnB>
                    <a:solidFill>
                      <a:srgbClr val="FFFFFF"/>
                    </a:solidFill>
                  </a:tcPr>
                </a:tc>
                <a:tc>
                  <a:txBody>
                    <a:bodyPr wrap="square"/>
                    <a:lstStyle/>
                    <a:p>
                      <a:r>
                        <a:rPr sz="880" b="0">
                          <a:solidFill>
                            <a:srgbClr val="202124"/>
                          </a:solidFill>
                          <a:latin typeface="Arial"/>
                        </a:rPr>
                        <a:t>All roles</a:t>
                      </a:r>
                    </a:p>
                  </a:txBody>
                  <a:tcPr marL="45720" marR="45720" marT="22860" marB="22860" anchor="ctr">
                    <a:lnL w="6350" cap="flat" cmpd="sng" algn="ctr">
                      <a:noFill/>
                    </a:lnL>
                    <a:lnR w="6350" cap="flat" cmpd="sng" algn="ctr">
                      <a:noFill/>
                    </a:lnR>
                    <a:lnT w="6350" cap="flat" cmpd="sng" algn="ctr">
                      <a:noFill/>
                    </a:lnT>
                    <a:lnB w="6350" cap="flat" cmpd="sng" algn="ctr">
                      <a:solidFill>
                        <a:srgbClr val="9AA0A6"/>
                      </a:solidFill>
                    </a:lnB>
                    <a:solidFill>
                      <a:srgbClr val="FFFFFF"/>
                    </a:solidFill>
                  </a:tcPr>
                </a:tc>
              </a:tr>
            </a:tbl>
          </a:graphicData>
        </a:graphic>
      </p:graphicFrame>
      <p:sp>
        <p:nvSpPr>
          <p:cNvPr id="89" name="TextBox 88"/>
          <p:cNvSpPr txBox="1"/>
          <p:nvPr/>
        </p:nvSpPr>
        <p:spPr>
          <a:xfrm>
            <a:off x="356616" y="4507992"/>
            <a:ext cx="8458200" cy="274320"/>
          </a:xfrm>
          <a:prstGeom prst="rect">
            <a:avLst/>
          </a:prstGeom>
          <a:noFill/>
        </p:spPr>
        <p:txBody>
          <a:bodyPr wrap="square" lIns="0" rIns="0" tIns="0" bIns="0" anchor="t">
            <a:spAutoFit/>
          </a:bodyPr>
          <a:lstStyle/>
          <a:p>
            <a:pPr algn="l">
              <a:spcAft>
                <a:spcPts val="0"/>
              </a:spcAft>
            </a:pPr>
            <a:r>
              <a:rPr sz="750" b="0" i="0">
                <a:solidFill>
                  <a:srgbClr val="5F6368"/>
                </a:solidFill>
                <a:latin typeface="Arial"/>
              </a:rPr>
              <a:t>Three different numbers appear next to a machine: chance of failure (the prediction model), pattern match (how closely the signals resemble a known fault) and confidence (lowered by data problems). The incident history is seeded from Azure PdM maintenance records re-dated onto this plant; a real plant starts from its own CMMS export. Screens in this deck were captured on different days of the live twin, so M-17's numbers vary.</a:t>
            </a: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pic>
        <p:nvPicPr>
          <p:cNvPr id="92" name="Google Shape;92;p18"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93" name="Google Shape;93;p18"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94" name="Google Shape;94;p18"/>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5" name="Google Shape;95;p18"/>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Process flow diagram or Use-case diagram</a:t>
            </a:r>
            <a:endParaRPr sz="1600">
              <a:latin typeface="Google Sans Flex Medium"/>
              <a:ea typeface="Google Sans Flex Medium"/>
              <a:cs typeface="Google Sans Flex Medium"/>
              <a:sym typeface="Google Sans Flex Medium"/>
            </a:endParaRPr>
          </a:p>
        </p:txBody>
      </p:sp>
      <p:sp>
        <p:nvSpPr>
          <p:cNvPr id="96" name="Headline"/>
          <p:cNvSpPr txBox="1"/>
          <p:nvPr/>
        </p:nvSpPr>
        <p:spPr>
          <a:xfrm>
            <a:off x="356616" y="1207008"/>
            <a:ext cx="8458200" cy="548640"/>
          </a:xfrm>
          <a:prstGeom prst="rect">
            <a:avLst/>
          </a:prstGeom>
          <a:noFill/>
        </p:spPr>
        <p:txBody>
          <a:bodyPr wrap="square" lIns="0" rIns="0" tIns="0" bIns="0" anchor="t">
            <a:spAutoFit/>
          </a:bodyPr>
          <a:lstStyle/>
          <a:p>
            <a:pPr algn="l">
              <a:spcAft>
                <a:spcPts val="300"/>
              </a:spcAft>
            </a:pPr>
            <a:r>
              <a:rPr sz="1300" b="1" i="0">
                <a:solidFill>
                  <a:srgbClr val="202124"/>
                </a:solidFill>
                <a:latin typeface="Arial"/>
              </a:rPr>
              <a:t>The top row runs on its own every plant minute. The bottom row always includes a person, and what the person decides changes the ranking next time.</a:t>
            </a:r>
          </a:p>
        </p:txBody>
      </p:sp>
      <p:sp>
        <p:nvSpPr>
          <p:cNvPr id="97" name="TextBox 96"/>
          <p:cNvSpPr txBox="1"/>
          <p:nvPr/>
        </p:nvSpPr>
        <p:spPr>
          <a:xfrm>
            <a:off x="356616" y="1810512"/>
            <a:ext cx="3657600" cy="182880"/>
          </a:xfrm>
          <a:prstGeom prst="rect">
            <a:avLst/>
          </a:prstGeom>
          <a:noFill/>
        </p:spPr>
        <p:txBody>
          <a:bodyPr wrap="square" lIns="0" rIns="0" tIns="0" bIns="0" anchor="t">
            <a:spAutoFit/>
          </a:bodyPr>
          <a:lstStyle/>
          <a:p>
            <a:pPr algn="l">
              <a:spcAft>
                <a:spcPts val="300"/>
              </a:spcAft>
            </a:pPr>
            <a:r>
              <a:rPr sz="800" b="0" i="0">
                <a:solidFill>
                  <a:srgbClr val="5F6368"/>
                </a:solidFill>
                <a:latin typeface="Arial"/>
              </a:rPr>
              <a:t>Automatic</a:t>
            </a:r>
          </a:p>
        </p:txBody>
      </p:sp>
      <p:sp>
        <p:nvSpPr>
          <p:cNvPr id="98" name="Rounded Rectangle 97"/>
          <p:cNvSpPr/>
          <p:nvPr/>
        </p:nvSpPr>
        <p:spPr>
          <a:xfrm>
            <a:off x="356616" y="1975104"/>
            <a:ext cx="1527048" cy="713232"/>
          </a:xfrm>
          <a:prstGeom prst="roundRect">
            <a:avLst>
              <a:gd name="adj" fmla="val 6000"/>
            </a:avLst>
          </a:prstGeom>
          <a:solidFill>
            <a:srgbClr val="FFFFFF"/>
          </a:solidFill>
          <a:ln w="9525">
            <a:solidFill>
              <a:srgbClr val="DADC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9" name="TextBox 98"/>
          <p:cNvSpPr txBox="1"/>
          <p:nvPr/>
        </p:nvSpPr>
        <p:spPr>
          <a:xfrm>
            <a:off x="429768" y="2020824"/>
            <a:ext cx="1380744" cy="621792"/>
          </a:xfrm>
          <a:prstGeom prst="rect">
            <a:avLst/>
          </a:prstGeom>
          <a:noFill/>
        </p:spPr>
        <p:txBody>
          <a:bodyPr wrap="square" lIns="0" rIns="0" tIns="0" bIns="0" anchor="ctr">
            <a:spAutoFit/>
          </a:bodyPr>
          <a:lstStyle/>
          <a:p>
            <a:pPr algn="ctr">
              <a:spcAft>
                <a:spcPts val="100"/>
              </a:spcAft>
            </a:pPr>
            <a:r>
              <a:rPr sz="900" b="1" i="0">
                <a:solidFill>
                  <a:srgbClr val="202124"/>
                </a:solidFill>
                <a:latin typeface="Arial"/>
              </a:rPr>
              <a:t>1  Readings</a:t>
            </a:r>
          </a:p>
          <a:p>
            <a:pPr algn="ctr">
              <a:spcAft>
                <a:spcPts val="100"/>
              </a:spcAft>
            </a:pPr>
            <a:r>
              <a:rPr sz="750" b="0" i="0">
                <a:solidFill>
                  <a:srgbClr val="5F6368"/>
                </a:solidFill>
                <a:latin typeface="Arial"/>
              </a:rPr>
              <a:t>vibration, temperature, rpm,
torque, current, coolant pressure</a:t>
            </a:r>
          </a:p>
        </p:txBody>
      </p:sp>
      <p:cxnSp>
        <p:nvCxnSpPr>
          <p:cNvPr id="100" name="Connector 99"/>
          <p:cNvCxnSpPr/>
          <p:nvPr/>
        </p:nvCxnSpPr>
        <p:spPr>
          <a:xfrm>
            <a:off x="1901952" y="2331720"/>
            <a:ext cx="146304" cy="0"/>
          </a:xfrm>
          <a:prstGeom prst="line">
            <a:avLst/>
          </a:prstGeom>
          <a:ln w="15875">
            <a:solidFill>
              <a:srgbClr val="1A56D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1" name="Rounded Rectangle 100"/>
          <p:cNvSpPr/>
          <p:nvPr/>
        </p:nvSpPr>
        <p:spPr>
          <a:xfrm>
            <a:off x="2066543" y="1975104"/>
            <a:ext cx="1527048" cy="713232"/>
          </a:xfrm>
          <a:prstGeom prst="roundRect">
            <a:avLst>
              <a:gd name="adj" fmla="val 6000"/>
            </a:avLst>
          </a:prstGeom>
          <a:solidFill>
            <a:srgbClr val="FFFFFF"/>
          </a:solidFill>
          <a:ln w="9525">
            <a:solidFill>
              <a:srgbClr val="DADC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2" name="TextBox 101"/>
          <p:cNvSpPr txBox="1"/>
          <p:nvPr/>
        </p:nvSpPr>
        <p:spPr>
          <a:xfrm>
            <a:off x="2139696" y="2020824"/>
            <a:ext cx="1380744" cy="621792"/>
          </a:xfrm>
          <a:prstGeom prst="rect">
            <a:avLst/>
          </a:prstGeom>
          <a:noFill/>
        </p:spPr>
        <p:txBody>
          <a:bodyPr wrap="square" lIns="0" rIns="0" tIns="0" bIns="0" anchor="ctr">
            <a:spAutoFit/>
          </a:bodyPr>
          <a:lstStyle/>
          <a:p>
            <a:pPr algn="ctr">
              <a:spcAft>
                <a:spcPts val="100"/>
              </a:spcAft>
            </a:pPr>
            <a:r>
              <a:rPr sz="900" b="1" i="0">
                <a:solidFill>
                  <a:srgbClr val="202124"/>
                </a:solidFill>
                <a:latin typeface="Arial"/>
              </a:rPr>
              <a:t>2  Data health</a:t>
            </a:r>
          </a:p>
          <a:p>
            <a:pPr algn="ctr">
              <a:spcAft>
                <a:spcPts val="100"/>
              </a:spcAft>
            </a:pPr>
            <a:r>
              <a:rPr sz="750" b="0" i="0">
                <a:solidFill>
                  <a:srgbClr val="5F6368"/>
                </a:solidFill>
                <a:latin typeface="Arial"/>
              </a:rPr>
              <a:t>missing, drift, physics check
→ confidence multiplier</a:t>
            </a:r>
          </a:p>
        </p:txBody>
      </p:sp>
      <p:cxnSp>
        <p:nvCxnSpPr>
          <p:cNvPr id="103" name="Connector 102"/>
          <p:cNvCxnSpPr/>
          <p:nvPr/>
        </p:nvCxnSpPr>
        <p:spPr>
          <a:xfrm>
            <a:off x="3611879" y="2331720"/>
            <a:ext cx="146305" cy="0"/>
          </a:xfrm>
          <a:prstGeom prst="line">
            <a:avLst/>
          </a:prstGeom>
          <a:ln w="15875">
            <a:solidFill>
              <a:srgbClr val="1A56D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4" name="Rounded Rectangle 103"/>
          <p:cNvSpPr/>
          <p:nvPr/>
        </p:nvSpPr>
        <p:spPr>
          <a:xfrm>
            <a:off x="3776472" y="1975104"/>
            <a:ext cx="1527048" cy="713232"/>
          </a:xfrm>
          <a:prstGeom prst="roundRect">
            <a:avLst>
              <a:gd name="adj" fmla="val 6000"/>
            </a:avLst>
          </a:prstGeom>
          <a:solidFill>
            <a:srgbClr val="FFFFFF"/>
          </a:solidFill>
          <a:ln w="9525">
            <a:solidFill>
              <a:srgbClr val="DADC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5" name="TextBox 104"/>
          <p:cNvSpPr txBox="1"/>
          <p:nvPr/>
        </p:nvSpPr>
        <p:spPr>
          <a:xfrm>
            <a:off x="3849624" y="2020824"/>
            <a:ext cx="1380744" cy="621792"/>
          </a:xfrm>
          <a:prstGeom prst="rect">
            <a:avLst/>
          </a:prstGeom>
          <a:noFill/>
        </p:spPr>
        <p:txBody>
          <a:bodyPr wrap="square" lIns="0" rIns="0" tIns="0" bIns="0" anchor="ctr">
            <a:spAutoFit/>
          </a:bodyPr>
          <a:lstStyle/>
          <a:p>
            <a:pPr algn="ctr">
              <a:spcAft>
                <a:spcPts val="100"/>
              </a:spcAft>
            </a:pPr>
            <a:r>
              <a:rPr sz="900" b="1" i="0">
                <a:solidFill>
                  <a:srgbClr val="202124"/>
                </a:solidFill>
                <a:latin typeface="Arial"/>
              </a:rPr>
              <a:t>3  Detect</a:t>
            </a:r>
          </a:p>
          <a:p>
            <a:pPr algn="ctr">
              <a:spcAft>
                <a:spcPts val="100"/>
              </a:spcAft>
            </a:pPr>
            <a:r>
              <a:rPr sz="750" b="0" i="0">
                <a:solidFill>
                  <a:srgbClr val="5F6368"/>
                </a:solidFill>
                <a:latin typeface="Arial"/>
              </a:rPr>
              <a:t>how far outside normal,
for how long</a:t>
            </a:r>
          </a:p>
        </p:txBody>
      </p:sp>
      <p:cxnSp>
        <p:nvCxnSpPr>
          <p:cNvPr id="106" name="Connector 105"/>
          <p:cNvCxnSpPr/>
          <p:nvPr/>
        </p:nvCxnSpPr>
        <p:spPr>
          <a:xfrm>
            <a:off x="5321807" y="2331720"/>
            <a:ext cx="146305" cy="0"/>
          </a:xfrm>
          <a:prstGeom prst="line">
            <a:avLst/>
          </a:prstGeom>
          <a:ln w="15875">
            <a:solidFill>
              <a:srgbClr val="1A56D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7" name="Rounded Rectangle 106"/>
          <p:cNvSpPr/>
          <p:nvPr/>
        </p:nvSpPr>
        <p:spPr>
          <a:xfrm>
            <a:off x="5486400" y="1975104"/>
            <a:ext cx="1527048" cy="713232"/>
          </a:xfrm>
          <a:prstGeom prst="roundRect">
            <a:avLst>
              <a:gd name="adj" fmla="val 6000"/>
            </a:avLst>
          </a:prstGeom>
          <a:solidFill>
            <a:srgbClr val="FFFFFF"/>
          </a:solidFill>
          <a:ln w="9525">
            <a:solidFill>
              <a:srgbClr val="DADC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8" name="TextBox 107"/>
          <p:cNvSpPr txBox="1"/>
          <p:nvPr/>
        </p:nvSpPr>
        <p:spPr>
          <a:xfrm>
            <a:off x="5559552" y="2020824"/>
            <a:ext cx="1380744" cy="621792"/>
          </a:xfrm>
          <a:prstGeom prst="rect">
            <a:avLst/>
          </a:prstGeom>
          <a:noFill/>
        </p:spPr>
        <p:txBody>
          <a:bodyPr wrap="square" lIns="0" rIns="0" tIns="0" bIns="0" anchor="ctr">
            <a:spAutoFit/>
          </a:bodyPr>
          <a:lstStyle/>
          <a:p>
            <a:pPr algn="ctr">
              <a:spcAft>
                <a:spcPts val="100"/>
              </a:spcAft>
            </a:pPr>
            <a:r>
              <a:rPr sz="900" b="1" i="0">
                <a:solidFill>
                  <a:srgbClr val="202124"/>
                </a:solidFill>
                <a:latin typeface="Arial"/>
              </a:rPr>
              <a:t>4  Diagnose</a:t>
            </a:r>
          </a:p>
          <a:p>
            <a:pPr algn="ctr">
              <a:spcAft>
                <a:spcPts val="100"/>
              </a:spcAft>
            </a:pPr>
            <a:r>
              <a:rPr sz="750" b="0" i="0">
                <a:solidFill>
                  <a:srgbClr val="5F6368"/>
                </a:solidFill>
                <a:latin typeface="Arial"/>
              </a:rPr>
              <a:t>one cause, chain of impact,
'seen this before?'</a:t>
            </a:r>
          </a:p>
        </p:txBody>
      </p:sp>
      <p:cxnSp>
        <p:nvCxnSpPr>
          <p:cNvPr id="109" name="Connector 108"/>
          <p:cNvCxnSpPr/>
          <p:nvPr/>
        </p:nvCxnSpPr>
        <p:spPr>
          <a:xfrm>
            <a:off x="7031736" y="2331720"/>
            <a:ext cx="146304" cy="0"/>
          </a:xfrm>
          <a:prstGeom prst="line">
            <a:avLst/>
          </a:prstGeom>
          <a:ln w="15875">
            <a:solidFill>
              <a:srgbClr val="1A56D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0" name="Rounded Rectangle 109"/>
          <p:cNvSpPr/>
          <p:nvPr/>
        </p:nvSpPr>
        <p:spPr>
          <a:xfrm>
            <a:off x="7196328" y="1975104"/>
            <a:ext cx="1527048" cy="713232"/>
          </a:xfrm>
          <a:prstGeom prst="roundRect">
            <a:avLst>
              <a:gd name="adj" fmla="val 6000"/>
            </a:avLst>
          </a:prstGeom>
          <a:solidFill>
            <a:srgbClr val="FFFFFF"/>
          </a:solidFill>
          <a:ln w="9525">
            <a:solidFill>
              <a:srgbClr val="DADC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1" name="TextBox 110"/>
          <p:cNvSpPr txBox="1"/>
          <p:nvPr/>
        </p:nvSpPr>
        <p:spPr>
          <a:xfrm>
            <a:off x="7269480" y="2020824"/>
            <a:ext cx="1380744" cy="621792"/>
          </a:xfrm>
          <a:prstGeom prst="rect">
            <a:avLst/>
          </a:prstGeom>
          <a:noFill/>
        </p:spPr>
        <p:txBody>
          <a:bodyPr wrap="square" lIns="0" rIns="0" tIns="0" bIns="0" anchor="ctr">
            <a:spAutoFit/>
          </a:bodyPr>
          <a:lstStyle/>
          <a:p>
            <a:pPr algn="ctr">
              <a:spcAft>
                <a:spcPts val="100"/>
              </a:spcAft>
            </a:pPr>
            <a:r>
              <a:rPr sz="900" b="1" i="0">
                <a:solidFill>
                  <a:srgbClr val="202124"/>
                </a:solidFill>
                <a:latin typeface="Arial"/>
              </a:rPr>
              <a:t>5  Predict</a:t>
            </a:r>
          </a:p>
          <a:p>
            <a:pPr algn="ctr">
              <a:spcAft>
                <a:spcPts val="100"/>
              </a:spcAft>
            </a:pPr>
            <a:r>
              <a:rPr sz="750" b="0" i="0">
                <a:solidFill>
                  <a:srgbClr val="5F6368"/>
                </a:solidFill>
                <a:latin typeface="Arial"/>
              </a:rPr>
              <a:t>failure window, remaining
life, quality, energy</a:t>
            </a:r>
          </a:p>
        </p:txBody>
      </p:sp>
      <p:cxnSp>
        <p:nvCxnSpPr>
          <p:cNvPr id="112" name="Connector 111"/>
          <p:cNvCxnSpPr/>
          <p:nvPr/>
        </p:nvCxnSpPr>
        <p:spPr>
          <a:xfrm>
            <a:off x="7959851" y="2706624"/>
            <a:ext cx="0" cy="420624"/>
          </a:xfrm>
          <a:prstGeom prst="line">
            <a:avLst/>
          </a:prstGeom>
          <a:ln w="15875">
            <a:solidFill>
              <a:srgbClr val="1A56D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3" name="TextBox 112"/>
          <p:cNvSpPr txBox="1"/>
          <p:nvPr/>
        </p:nvSpPr>
        <p:spPr>
          <a:xfrm>
            <a:off x="356616" y="2852928"/>
            <a:ext cx="3657600" cy="182880"/>
          </a:xfrm>
          <a:prstGeom prst="rect">
            <a:avLst/>
          </a:prstGeom>
          <a:noFill/>
        </p:spPr>
        <p:txBody>
          <a:bodyPr wrap="square" lIns="0" rIns="0" tIns="0" bIns="0" anchor="t">
            <a:spAutoFit/>
          </a:bodyPr>
          <a:lstStyle/>
          <a:p>
            <a:pPr algn="l">
              <a:spcAft>
                <a:spcPts val="300"/>
              </a:spcAft>
            </a:pPr>
            <a:r>
              <a:rPr sz="800" b="0" i="0">
                <a:solidFill>
                  <a:srgbClr val="5F6368"/>
                </a:solidFill>
                <a:latin typeface="Arial"/>
              </a:rPr>
              <a:t>With a person in the loop (read right to left)</a:t>
            </a:r>
          </a:p>
        </p:txBody>
      </p:sp>
      <p:sp>
        <p:nvSpPr>
          <p:cNvPr id="114" name="Rounded Rectangle 113"/>
          <p:cNvSpPr/>
          <p:nvPr/>
        </p:nvSpPr>
        <p:spPr>
          <a:xfrm>
            <a:off x="356616" y="3145536"/>
            <a:ext cx="1527048" cy="713232"/>
          </a:xfrm>
          <a:prstGeom prst="roundRect">
            <a:avLst>
              <a:gd name="adj" fmla="val 6000"/>
            </a:avLst>
          </a:prstGeom>
          <a:solidFill>
            <a:srgbClr val="E6F4EA"/>
          </a:solidFill>
          <a:ln w="9525">
            <a:solidFill>
              <a:srgbClr val="9CCFB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5" name="TextBox 114"/>
          <p:cNvSpPr txBox="1"/>
          <p:nvPr/>
        </p:nvSpPr>
        <p:spPr>
          <a:xfrm>
            <a:off x="429768" y="3191256"/>
            <a:ext cx="1380744" cy="621792"/>
          </a:xfrm>
          <a:prstGeom prst="rect">
            <a:avLst/>
          </a:prstGeom>
          <a:noFill/>
        </p:spPr>
        <p:txBody>
          <a:bodyPr wrap="square" lIns="0" rIns="0" tIns="0" bIns="0" anchor="ctr">
            <a:spAutoFit/>
          </a:bodyPr>
          <a:lstStyle/>
          <a:p>
            <a:pPr algn="ctr">
              <a:spcAft>
                <a:spcPts val="100"/>
              </a:spcAft>
            </a:pPr>
            <a:r>
              <a:rPr sz="900" b="1" i="0">
                <a:solidFill>
                  <a:srgbClr val="202124"/>
                </a:solidFill>
                <a:latin typeface="Arial"/>
              </a:rPr>
              <a:t>10  Learn</a:t>
            </a:r>
          </a:p>
          <a:p>
            <a:pPr algn="ctr">
              <a:spcAft>
                <a:spcPts val="100"/>
              </a:spcAft>
            </a:pPr>
            <a:r>
              <a:rPr sz="750" b="0" i="0">
                <a:solidFill>
                  <a:srgbClr val="5F6368"/>
                </a:solidFill>
                <a:latin typeface="Arial"/>
              </a:rPr>
              <a:t>success counts per
problem × action</a:t>
            </a:r>
          </a:p>
        </p:txBody>
      </p:sp>
      <p:sp>
        <p:nvSpPr>
          <p:cNvPr id="116" name="Rounded Rectangle 115"/>
          <p:cNvSpPr/>
          <p:nvPr/>
        </p:nvSpPr>
        <p:spPr>
          <a:xfrm>
            <a:off x="2066543" y="3145536"/>
            <a:ext cx="1527048" cy="713232"/>
          </a:xfrm>
          <a:prstGeom prst="roundRect">
            <a:avLst>
              <a:gd name="adj" fmla="val 6000"/>
            </a:avLst>
          </a:prstGeom>
          <a:solidFill>
            <a:srgbClr val="FFFFFF"/>
          </a:solidFill>
          <a:ln w="9525">
            <a:solidFill>
              <a:srgbClr val="DADC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7" name="TextBox 116"/>
          <p:cNvSpPr txBox="1"/>
          <p:nvPr/>
        </p:nvSpPr>
        <p:spPr>
          <a:xfrm>
            <a:off x="2139696" y="3191256"/>
            <a:ext cx="1380744" cy="621792"/>
          </a:xfrm>
          <a:prstGeom prst="rect">
            <a:avLst/>
          </a:prstGeom>
          <a:noFill/>
        </p:spPr>
        <p:txBody>
          <a:bodyPr wrap="square" lIns="0" rIns="0" tIns="0" bIns="0" anchor="ctr">
            <a:spAutoFit/>
          </a:bodyPr>
          <a:lstStyle/>
          <a:p>
            <a:pPr algn="ctr">
              <a:spcAft>
                <a:spcPts val="100"/>
              </a:spcAft>
            </a:pPr>
            <a:r>
              <a:rPr sz="900" b="1" i="0">
                <a:solidFill>
                  <a:srgbClr val="202124"/>
                </a:solidFill>
                <a:latin typeface="Arial"/>
              </a:rPr>
              <a:t>9  Act, then check</a:t>
            </a:r>
          </a:p>
          <a:p>
            <a:pPr algn="ctr">
              <a:spcAft>
                <a:spcPts val="100"/>
              </a:spcAft>
            </a:pPr>
            <a:r>
              <a:rPr sz="750" b="0" i="0">
                <a:solidFill>
                  <a:srgbClr val="5F6368"/>
                </a:solidFill>
                <a:latin typeface="Arial"/>
              </a:rPr>
              <a:t>outcome measured 2 plant
hours later</a:t>
            </a:r>
          </a:p>
        </p:txBody>
      </p:sp>
      <p:cxnSp>
        <p:nvCxnSpPr>
          <p:cNvPr id="118" name="Connector 117"/>
          <p:cNvCxnSpPr/>
          <p:nvPr/>
        </p:nvCxnSpPr>
        <p:spPr>
          <a:xfrm flipH="1">
            <a:off x="1901951" y="3502152"/>
            <a:ext cx="146304" cy="0"/>
          </a:xfrm>
          <a:prstGeom prst="line">
            <a:avLst/>
          </a:prstGeom>
          <a:ln w="15875">
            <a:solidFill>
              <a:srgbClr val="1A56D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9" name="Rounded Rectangle 118"/>
          <p:cNvSpPr/>
          <p:nvPr/>
        </p:nvSpPr>
        <p:spPr>
          <a:xfrm>
            <a:off x="3776472" y="3145536"/>
            <a:ext cx="1527048" cy="713232"/>
          </a:xfrm>
          <a:prstGeom prst="roundRect">
            <a:avLst>
              <a:gd name="adj" fmla="val 6000"/>
            </a:avLst>
          </a:prstGeom>
          <a:solidFill>
            <a:srgbClr val="E8F0FE"/>
          </a:solidFill>
          <a:ln w="9525">
            <a:solidFill>
              <a:srgbClr val="1A56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0" name="TextBox 119"/>
          <p:cNvSpPr txBox="1"/>
          <p:nvPr/>
        </p:nvSpPr>
        <p:spPr>
          <a:xfrm>
            <a:off x="3849624" y="3191256"/>
            <a:ext cx="1380744" cy="621792"/>
          </a:xfrm>
          <a:prstGeom prst="rect">
            <a:avLst/>
          </a:prstGeom>
          <a:noFill/>
        </p:spPr>
        <p:txBody>
          <a:bodyPr wrap="square" lIns="0" rIns="0" tIns="0" bIns="0" anchor="ctr">
            <a:spAutoFit/>
          </a:bodyPr>
          <a:lstStyle/>
          <a:p>
            <a:pPr algn="ctr">
              <a:spcAft>
                <a:spcPts val="100"/>
              </a:spcAft>
            </a:pPr>
            <a:r>
              <a:rPr sz="900" b="1" i="0">
                <a:solidFill>
                  <a:srgbClr val="202124"/>
                </a:solidFill>
                <a:latin typeface="Arial"/>
              </a:rPr>
              <a:t>8  Human decides</a:t>
            </a:r>
          </a:p>
          <a:p>
            <a:pPr algn="ctr">
              <a:spcAft>
                <a:spcPts val="100"/>
              </a:spcAft>
            </a:pPr>
            <a:r>
              <a:rPr sz="750" b="0" i="0">
                <a:solidFill>
                  <a:srgbClr val="5F6368"/>
                </a:solidFill>
                <a:latin typeface="Arial"/>
              </a:rPr>
              <a:t>approve / reject / modify,
by role, with a note</a:t>
            </a:r>
          </a:p>
        </p:txBody>
      </p:sp>
      <p:cxnSp>
        <p:nvCxnSpPr>
          <p:cNvPr id="121" name="Connector 120"/>
          <p:cNvCxnSpPr/>
          <p:nvPr/>
        </p:nvCxnSpPr>
        <p:spPr>
          <a:xfrm flipH="1">
            <a:off x="3611879" y="3502152"/>
            <a:ext cx="146305" cy="0"/>
          </a:xfrm>
          <a:prstGeom prst="line">
            <a:avLst/>
          </a:prstGeom>
          <a:ln w="15875">
            <a:solidFill>
              <a:srgbClr val="1A56D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2" name="Rounded Rectangle 121"/>
          <p:cNvSpPr/>
          <p:nvPr/>
        </p:nvSpPr>
        <p:spPr>
          <a:xfrm>
            <a:off x="5486399" y="3145536"/>
            <a:ext cx="1527048" cy="713232"/>
          </a:xfrm>
          <a:prstGeom prst="roundRect">
            <a:avLst>
              <a:gd name="adj" fmla="val 6000"/>
            </a:avLst>
          </a:prstGeom>
          <a:solidFill>
            <a:srgbClr val="FFFFFF"/>
          </a:solidFill>
          <a:ln w="9525">
            <a:solidFill>
              <a:srgbClr val="DADC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3" name="TextBox 122"/>
          <p:cNvSpPr txBox="1"/>
          <p:nvPr/>
        </p:nvSpPr>
        <p:spPr>
          <a:xfrm>
            <a:off x="5559551" y="3191256"/>
            <a:ext cx="1380744" cy="621792"/>
          </a:xfrm>
          <a:prstGeom prst="rect">
            <a:avLst/>
          </a:prstGeom>
          <a:noFill/>
        </p:spPr>
        <p:txBody>
          <a:bodyPr wrap="square" lIns="0" rIns="0" tIns="0" bIns="0" anchor="ctr">
            <a:spAutoFit/>
          </a:bodyPr>
          <a:lstStyle/>
          <a:p>
            <a:pPr algn="ctr">
              <a:spcAft>
                <a:spcPts val="100"/>
              </a:spcAft>
            </a:pPr>
            <a:r>
              <a:rPr sz="900" b="1" i="0">
                <a:solidFill>
                  <a:srgbClr val="202124"/>
                </a:solidFill>
                <a:latin typeface="Arial"/>
              </a:rPr>
              <a:t>7  Gemini incident room</a:t>
            </a:r>
          </a:p>
          <a:p>
            <a:pPr algn="ctr">
              <a:spcAft>
                <a:spcPts val="100"/>
              </a:spcAft>
            </a:pPr>
            <a:r>
              <a:rPr sz="750" b="0" i="0">
                <a:solidFill>
                  <a:srgbClr val="5F6368"/>
                </a:solidFill>
                <a:latin typeface="Arial"/>
              </a:rPr>
              <a:t>Diagnostician · Planner ·
Safety officer</a:t>
            </a:r>
          </a:p>
        </p:txBody>
      </p:sp>
      <p:cxnSp>
        <p:nvCxnSpPr>
          <p:cNvPr id="124" name="Connector 123"/>
          <p:cNvCxnSpPr/>
          <p:nvPr/>
        </p:nvCxnSpPr>
        <p:spPr>
          <a:xfrm flipH="1">
            <a:off x="5321807" y="3502152"/>
            <a:ext cx="146305" cy="0"/>
          </a:xfrm>
          <a:prstGeom prst="line">
            <a:avLst/>
          </a:prstGeom>
          <a:ln w="15875">
            <a:solidFill>
              <a:srgbClr val="1A56D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5" name="Rounded Rectangle 124"/>
          <p:cNvSpPr/>
          <p:nvPr/>
        </p:nvSpPr>
        <p:spPr>
          <a:xfrm>
            <a:off x="7196327" y="3145536"/>
            <a:ext cx="1527048" cy="713232"/>
          </a:xfrm>
          <a:prstGeom prst="roundRect">
            <a:avLst>
              <a:gd name="adj" fmla="val 6000"/>
            </a:avLst>
          </a:prstGeom>
          <a:solidFill>
            <a:srgbClr val="FFFFFF"/>
          </a:solidFill>
          <a:ln w="9525">
            <a:solidFill>
              <a:srgbClr val="DADC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6" name="TextBox 125"/>
          <p:cNvSpPr txBox="1"/>
          <p:nvPr/>
        </p:nvSpPr>
        <p:spPr>
          <a:xfrm>
            <a:off x="7269479" y="3191256"/>
            <a:ext cx="1380744" cy="621792"/>
          </a:xfrm>
          <a:prstGeom prst="rect">
            <a:avLst/>
          </a:prstGeom>
          <a:noFill/>
        </p:spPr>
        <p:txBody>
          <a:bodyPr wrap="square" lIns="0" rIns="0" tIns="0" bIns="0" anchor="ctr">
            <a:spAutoFit/>
          </a:bodyPr>
          <a:lstStyle/>
          <a:p>
            <a:pPr algn="ctr">
              <a:spcAft>
                <a:spcPts val="100"/>
              </a:spcAft>
            </a:pPr>
            <a:r>
              <a:rPr sz="900" b="1" i="0">
                <a:solidFill>
                  <a:srgbClr val="202124"/>
                </a:solidFill>
                <a:latin typeface="Arial"/>
              </a:rPr>
              <a:t>6  Price 7 options</a:t>
            </a:r>
          </a:p>
          <a:p>
            <a:pPr algn="ctr">
              <a:spcAft>
                <a:spcPts val="100"/>
              </a:spcAft>
            </a:pPr>
            <a:r>
              <a:rPr sz="750" b="0" i="0">
                <a:solidFill>
                  <a:srgbClr val="5F6368"/>
                </a:solidFill>
                <a:latin typeface="Arial"/>
              </a:rPr>
              <a:t>₹ cost, failure risk, scrap,
energy, 'worked before'</a:t>
            </a:r>
          </a:p>
        </p:txBody>
      </p:sp>
      <p:cxnSp>
        <p:nvCxnSpPr>
          <p:cNvPr id="127" name="Connector 126"/>
          <p:cNvCxnSpPr/>
          <p:nvPr/>
        </p:nvCxnSpPr>
        <p:spPr>
          <a:xfrm flipH="1">
            <a:off x="7031735" y="3502152"/>
            <a:ext cx="146305" cy="0"/>
          </a:xfrm>
          <a:prstGeom prst="line">
            <a:avLst/>
          </a:prstGeom>
          <a:ln w="15875">
            <a:solidFill>
              <a:srgbClr val="1A56D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28" name="Connector 127"/>
          <p:cNvCxnSpPr/>
          <p:nvPr/>
        </p:nvCxnSpPr>
        <p:spPr>
          <a:xfrm>
            <a:off x="1120140" y="3877056"/>
            <a:ext cx="0" cy="128016"/>
          </a:xfrm>
          <a:prstGeom prst="line">
            <a:avLst/>
          </a:prstGeom>
          <a:ln w="19050">
            <a:solidFill>
              <a:srgbClr val="1E7D4A"/>
            </a:solidFill>
          </a:ln>
        </p:spPr>
        <p:style>
          <a:lnRef idx="2">
            <a:schemeClr val="accent1"/>
          </a:lnRef>
          <a:fillRef idx="0">
            <a:schemeClr val="accent1"/>
          </a:fillRef>
          <a:effectRef idx="1">
            <a:schemeClr val="accent1"/>
          </a:effectRef>
          <a:fontRef idx="minor">
            <a:schemeClr val="tx1"/>
          </a:fontRef>
        </p:style>
      </p:cxnSp>
      <p:cxnSp>
        <p:nvCxnSpPr>
          <p:cNvPr id="129" name="Connector 128"/>
          <p:cNvCxnSpPr/>
          <p:nvPr/>
        </p:nvCxnSpPr>
        <p:spPr>
          <a:xfrm>
            <a:off x="1120140" y="4005072"/>
            <a:ext cx="6839711" cy="0"/>
          </a:xfrm>
          <a:prstGeom prst="line">
            <a:avLst/>
          </a:prstGeom>
          <a:ln w="19050">
            <a:solidFill>
              <a:srgbClr val="1E7D4A"/>
            </a:solidFill>
          </a:ln>
        </p:spPr>
        <p:style>
          <a:lnRef idx="2">
            <a:schemeClr val="accent1"/>
          </a:lnRef>
          <a:fillRef idx="0">
            <a:schemeClr val="accent1"/>
          </a:fillRef>
          <a:effectRef idx="1">
            <a:schemeClr val="accent1"/>
          </a:effectRef>
          <a:fontRef idx="minor">
            <a:schemeClr val="tx1"/>
          </a:fontRef>
        </p:style>
      </p:cxnSp>
      <p:cxnSp>
        <p:nvCxnSpPr>
          <p:cNvPr id="130" name="Connector 129"/>
          <p:cNvCxnSpPr/>
          <p:nvPr/>
        </p:nvCxnSpPr>
        <p:spPr>
          <a:xfrm flipV="1">
            <a:off x="7959851" y="3895344"/>
            <a:ext cx="0" cy="109728"/>
          </a:xfrm>
          <a:prstGeom prst="line">
            <a:avLst/>
          </a:prstGeom>
          <a:ln w="19050">
            <a:solidFill>
              <a:srgbClr val="1E7D4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1" name="TextBox 130"/>
          <p:cNvSpPr txBox="1"/>
          <p:nvPr/>
        </p:nvSpPr>
        <p:spPr>
          <a:xfrm>
            <a:off x="1257300" y="4032504"/>
            <a:ext cx="5486400" cy="201168"/>
          </a:xfrm>
          <a:prstGeom prst="rect">
            <a:avLst/>
          </a:prstGeom>
          <a:noFill/>
        </p:spPr>
        <p:txBody>
          <a:bodyPr wrap="square" lIns="0" rIns="0" tIns="0" bIns="0" anchor="t">
            <a:spAutoFit/>
          </a:bodyPr>
          <a:lstStyle/>
          <a:p>
            <a:pPr algn="l">
              <a:spcAft>
                <a:spcPts val="300"/>
              </a:spcAft>
            </a:pPr>
            <a:r>
              <a:rPr sz="850" b="1" i="0">
                <a:solidFill>
                  <a:srgbClr val="1E7D4A"/>
                </a:solidFill>
                <a:latin typeface="Arial"/>
              </a:rPr>
              <a:t>What worked in this plant feeds step 6 the next time the same problem appears</a:t>
            </a:r>
          </a:p>
        </p:txBody>
      </p:sp>
      <p:sp>
        <p:nvSpPr>
          <p:cNvPr id="132" name="TextBox 131"/>
          <p:cNvSpPr txBox="1"/>
          <p:nvPr/>
        </p:nvSpPr>
        <p:spPr>
          <a:xfrm>
            <a:off x="356616" y="4370832"/>
            <a:ext cx="2697480" cy="457200"/>
          </a:xfrm>
          <a:prstGeom prst="rect">
            <a:avLst/>
          </a:prstGeom>
          <a:noFill/>
        </p:spPr>
        <p:txBody>
          <a:bodyPr wrap="square" lIns="0" rIns="0" tIns="0" bIns="0" anchor="t">
            <a:spAutoFit/>
          </a:bodyPr>
          <a:lstStyle/>
          <a:p>
            <a:pPr algn="l">
              <a:spcAft>
                <a:spcPts val="0"/>
              </a:spcAft>
            </a:pPr>
            <a:r>
              <a:rPr sz="850" b="1" i="0">
                <a:solidFill>
                  <a:srgbClr val="202124"/>
                </a:solidFill>
                <a:latin typeface="Arial"/>
              </a:rPr>
              <a:t>Operator. </a:t>
            </a:r>
            <a:r>
              <a:rPr sz="850" b="0" i="0">
                <a:solidFill>
                  <a:srgbClr val="5F6368"/>
                </a:solidFill>
                <a:latin typeface="Arial"/>
              </a:rPr>
              <a:t>acknowledges alerts, approves tool changes, standby and recalibration, asks by voice</a:t>
            </a:r>
          </a:p>
        </p:txBody>
      </p:sp>
      <p:sp>
        <p:nvSpPr>
          <p:cNvPr id="133" name="TextBox 132"/>
          <p:cNvSpPr txBox="1"/>
          <p:nvPr/>
        </p:nvSpPr>
        <p:spPr>
          <a:xfrm>
            <a:off x="3191256" y="4370832"/>
            <a:ext cx="2697480" cy="457200"/>
          </a:xfrm>
          <a:prstGeom prst="rect">
            <a:avLst/>
          </a:prstGeom>
          <a:noFill/>
        </p:spPr>
        <p:txBody>
          <a:bodyPr wrap="square" lIns="0" rIns="0" tIns="0" bIns="0" anchor="t">
            <a:spAutoFit/>
          </a:bodyPr>
          <a:lstStyle/>
          <a:p>
            <a:pPr algn="l">
              <a:spcAft>
                <a:spcPts val="0"/>
              </a:spcAft>
            </a:pPr>
            <a:r>
              <a:rPr sz="850" b="1" i="0">
                <a:solidFill>
                  <a:srgbClr val="202124"/>
                </a:solidFill>
                <a:latin typeface="Arial"/>
              </a:rPr>
              <a:t>Maintenance engineer. </a:t>
            </a:r>
            <a:r>
              <a:rPr sz="850" b="0" i="0">
                <a:solidFill>
                  <a:srgbClr val="5F6368"/>
                </a:solidFill>
                <a:latin typeface="Arial"/>
              </a:rPr>
              <a:t>approves stops, speed cuts and part swaps; writes investigations; adds SOPs</a:t>
            </a:r>
          </a:p>
        </p:txBody>
      </p:sp>
      <p:sp>
        <p:nvSpPr>
          <p:cNvPr id="134" name="TextBox 133"/>
          <p:cNvSpPr txBox="1"/>
          <p:nvPr/>
        </p:nvSpPr>
        <p:spPr>
          <a:xfrm>
            <a:off x="6025896" y="4370832"/>
            <a:ext cx="2697480" cy="457200"/>
          </a:xfrm>
          <a:prstGeom prst="rect">
            <a:avLst/>
          </a:prstGeom>
          <a:noFill/>
        </p:spPr>
        <p:txBody>
          <a:bodyPr wrap="square" lIns="0" rIns="0" tIns="0" bIns="0" anchor="t">
            <a:spAutoFit/>
          </a:bodyPr>
          <a:lstStyle/>
          <a:p>
            <a:pPr algn="l">
              <a:spcAft>
                <a:spcPts val="0"/>
              </a:spcAft>
            </a:pPr>
            <a:r>
              <a:rPr sz="850" b="1" i="0">
                <a:solidFill>
                  <a:srgbClr val="202124"/>
                </a:solidFill>
                <a:latin typeface="Arial"/>
              </a:rPr>
              <a:t>Plant manager. </a:t>
            </a:r>
            <a:r>
              <a:rPr sz="850" b="0" i="0">
                <a:solidFill>
                  <a:srgbClr val="5F6368"/>
                </a:solidFill>
                <a:latin typeface="Arial"/>
              </a:rPr>
              <a:t>sets priorities and ₹ assumptions, reads the learning log, runs the 5-year case</a:t>
            </a:r>
          </a:p>
        </p:txBody>
      </p:sp>
      <p:sp>
        <p:nvSpPr>
          <p:cNvPr id="135" name="TextBox 134"/>
          <p:cNvSpPr txBox="1"/>
          <p:nvPr/>
        </p:nvSpPr>
        <p:spPr>
          <a:xfrm>
            <a:off x="356616" y="4773168"/>
            <a:ext cx="8458200" cy="274320"/>
          </a:xfrm>
          <a:prstGeom prst="rect">
            <a:avLst/>
          </a:prstGeom>
          <a:noFill/>
        </p:spPr>
        <p:txBody>
          <a:bodyPr wrap="square" lIns="0" rIns="0" tIns="0" bIns="0" anchor="t">
            <a:spAutoFit/>
          </a:bodyPr>
          <a:lstStyle/>
          <a:p>
            <a:pPr algn="l">
              <a:spcAft>
                <a:spcPts val="0"/>
              </a:spcAft>
            </a:pPr>
            <a:r>
              <a:rPr sz="750" b="0" i="0">
                <a:solidFill>
                  <a:srgbClr val="5F6368"/>
                </a:solidFill>
                <a:latin typeface="Arial"/>
              </a:rPr>
              <a:t>Warnings are held for 45 plant minutes so they do not flicker (ISA-18.2). Screens stay grey when normal; colour appears with an icon and a word only when something is wrong (ISA-101).</a:t>
            </a: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pic>
        <p:nvPicPr>
          <p:cNvPr id="100" name="Google Shape;100;p19"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01" name="Google Shape;101;p19"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02" name="Google Shape;102;p19"/>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3" name="Google Shape;103;p19"/>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Wireframes/Mock diagrams of the proposed solution (optional)</a:t>
            </a:r>
            <a:endParaRPr sz="1600">
              <a:latin typeface="Google Sans Flex Medium"/>
              <a:ea typeface="Google Sans Flex Medium"/>
              <a:cs typeface="Google Sans Flex Medium"/>
              <a:sym typeface="Google Sans Flex Medium"/>
            </a:endParaRPr>
          </a:p>
        </p:txBody>
      </p:sp>
      <p:sp>
        <p:nvSpPr>
          <p:cNvPr id="104" name="Headline"/>
          <p:cNvSpPr txBox="1"/>
          <p:nvPr/>
        </p:nvSpPr>
        <p:spPr>
          <a:xfrm>
            <a:off x="356616" y="1207008"/>
            <a:ext cx="8458200" cy="457200"/>
          </a:xfrm>
          <a:prstGeom prst="rect">
            <a:avLst/>
          </a:prstGeom>
          <a:noFill/>
        </p:spPr>
        <p:txBody>
          <a:bodyPr wrap="square" lIns="0" rIns="0" tIns="0" bIns="0" anchor="t">
            <a:spAutoFit/>
          </a:bodyPr>
          <a:lstStyle/>
          <a:p>
            <a:pPr algn="l">
              <a:spcAft>
                <a:spcPts val="300"/>
              </a:spcAft>
            </a:pPr>
            <a:r>
              <a:rPr sz="1300" b="1" i="0">
                <a:solidFill>
                  <a:srgbClr val="202124"/>
                </a:solidFill>
                <a:latin typeface="Arial"/>
              </a:rPr>
              <a:t>The same four questions on a phone at the machine and on a desktop in the maintenance office</a:t>
            </a:r>
          </a:p>
        </p:txBody>
      </p:sp>
      <p:pic>
        <p:nvPicPr>
          <p:cNvPr id="105" name="Picture 104" descr="23_mobile_overview_0_0_780_1420.png"/>
          <p:cNvPicPr>
            <a:picLocks noChangeAspect="1"/>
          </p:cNvPicPr>
          <p:nvPr/>
        </p:nvPicPr>
        <p:blipFill>
          <a:blip r:embed="rId5"/>
          <a:stretch>
            <a:fillRect/>
          </a:stretch>
        </p:blipFill>
        <p:spPr>
          <a:xfrm>
            <a:off x="356616" y="1737360"/>
            <a:ext cx="1607283" cy="2926080"/>
          </a:xfrm>
          <a:prstGeom prst="rect">
            <a:avLst/>
          </a:prstGeom>
          <a:ln w="9525">
            <a:solidFill>
              <a:srgbClr val="DADCE0"/>
            </a:solidFill>
          </a:ln>
        </p:spPr>
      </p:pic>
      <p:pic>
        <p:nvPicPr>
          <p:cNvPr id="106" name="Picture 105" descr="24_mobile_m17_0_0_780_1330.png"/>
          <p:cNvPicPr>
            <a:picLocks noChangeAspect="1"/>
          </p:cNvPicPr>
          <p:nvPr/>
        </p:nvPicPr>
        <p:blipFill>
          <a:blip r:embed="rId6"/>
          <a:stretch>
            <a:fillRect/>
          </a:stretch>
        </p:blipFill>
        <p:spPr>
          <a:xfrm>
            <a:off x="2103120" y="1737360"/>
            <a:ext cx="1716046" cy="2926080"/>
          </a:xfrm>
          <a:prstGeom prst="rect">
            <a:avLst/>
          </a:prstGeom>
          <a:ln w="9525">
            <a:solidFill>
              <a:srgbClr val="DADCE0"/>
            </a:solidFill>
          </a:ln>
        </p:spPr>
      </p:pic>
      <p:pic>
        <p:nvPicPr>
          <p:cNvPr id="107" name="Picture 106" descr="04_machine_top_500_150_2880_1800.png"/>
          <p:cNvPicPr>
            <a:picLocks noChangeAspect="1"/>
          </p:cNvPicPr>
          <p:nvPr/>
        </p:nvPicPr>
        <p:blipFill>
          <a:blip r:embed="rId7"/>
          <a:stretch>
            <a:fillRect/>
          </a:stretch>
        </p:blipFill>
        <p:spPr>
          <a:xfrm>
            <a:off x="4023360" y="1737360"/>
            <a:ext cx="3363329" cy="2331720"/>
          </a:xfrm>
          <a:prstGeom prst="rect">
            <a:avLst/>
          </a:prstGeom>
          <a:ln w="9525">
            <a:solidFill>
              <a:srgbClr val="DADCE0"/>
            </a:solidFill>
          </a:ln>
        </p:spPr>
      </p:pic>
      <p:sp>
        <p:nvSpPr>
          <p:cNvPr id="108" name="TextBox 107"/>
          <p:cNvSpPr txBox="1"/>
          <p:nvPr/>
        </p:nvSpPr>
        <p:spPr>
          <a:xfrm>
            <a:off x="4023360" y="4160520"/>
            <a:ext cx="4800600" cy="640080"/>
          </a:xfrm>
          <a:prstGeom prst="rect">
            <a:avLst/>
          </a:prstGeom>
          <a:noFill/>
        </p:spPr>
        <p:txBody>
          <a:bodyPr wrap="square" lIns="0" rIns="0" tIns="0" bIns="0" anchor="t">
            <a:spAutoFit/>
          </a:bodyPr>
          <a:lstStyle/>
          <a:p>
            <a:pPr algn="l">
              <a:spcAft>
                <a:spcPts val="0"/>
              </a:spcAft>
            </a:pPr>
            <a:r>
              <a:rPr sz="850" b="0" i="0">
                <a:solidFill>
                  <a:srgbClr val="202124"/>
                </a:solidFill>
                <a:latin typeface="Arial"/>
              </a:rPr>
              <a:t>Every machine page answers, in order: 1 What we detected, 2 Why it is happening, 3 What happens next, 4 What should we do. Jargon has a '?' with a plain explanation, long lists show the top three first, and nothing times out.</a:t>
            </a:r>
          </a:p>
        </p:txBody>
      </p:sp>
      <p:sp>
        <p:nvSpPr>
          <p:cNvPr id="109" name="TextBox 108"/>
          <p:cNvSpPr txBox="1"/>
          <p:nvPr/>
        </p:nvSpPr>
        <p:spPr>
          <a:xfrm>
            <a:off x="356616" y="4709160"/>
            <a:ext cx="3108960" cy="274320"/>
          </a:xfrm>
          <a:prstGeom prst="rect">
            <a:avLst/>
          </a:prstGeom>
          <a:noFill/>
        </p:spPr>
        <p:txBody>
          <a:bodyPr wrap="square" lIns="0" rIns="0" tIns="0" bIns="0" anchor="t">
            <a:spAutoFit/>
          </a:bodyPr>
          <a:lstStyle/>
          <a:p>
            <a:pPr algn="l">
              <a:spcAft>
                <a:spcPts val="300"/>
              </a:spcAft>
            </a:pPr>
            <a:r>
              <a:rPr sz="750" b="0" i="0">
                <a:solidFill>
                  <a:srgbClr val="5F6368"/>
                </a:solidFill>
                <a:latin typeface="Arial"/>
              </a:rPr>
              <a:t>Phone: the overview and M-17 during the same critical episode.</a:t>
            </a: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pic>
        <p:nvPicPr>
          <p:cNvPr id="108" name="Google Shape;108;p20"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09" name="Google Shape;109;p20"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10" name="Google Shape;110;p20"/>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1" name="Google Shape;111;p20"/>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Architecture diagram of the proposed solution</a:t>
            </a:r>
            <a:endParaRPr sz="1600">
              <a:latin typeface="Google Sans Flex Medium"/>
              <a:ea typeface="Google Sans Flex Medium"/>
              <a:cs typeface="Google Sans Flex Medium"/>
              <a:sym typeface="Google Sans Flex Medium"/>
            </a:endParaRPr>
          </a:p>
        </p:txBody>
      </p:sp>
      <p:sp>
        <p:nvSpPr>
          <p:cNvPr id="112" name="Headline"/>
          <p:cNvSpPr txBox="1"/>
          <p:nvPr/>
        </p:nvSpPr>
        <p:spPr>
          <a:xfrm>
            <a:off x="356616" y="1207008"/>
            <a:ext cx="8458200" cy="457200"/>
          </a:xfrm>
          <a:prstGeom prst="rect">
            <a:avLst/>
          </a:prstGeom>
          <a:noFill/>
        </p:spPr>
        <p:txBody>
          <a:bodyPr wrap="square" lIns="0" rIns="0" tIns="0" bIns="0" anchor="t">
            <a:spAutoFit/>
          </a:bodyPr>
          <a:lstStyle/>
          <a:p>
            <a:pPr algn="l">
              <a:spcAft>
                <a:spcPts val="300"/>
              </a:spcAft>
            </a:pPr>
            <a:r>
              <a:rPr sz="1300" b="1" i="0">
                <a:solidFill>
                  <a:srgbClr val="202124"/>
                </a:solidFill>
                <a:latin typeface="Arial"/>
              </a:rPr>
              <a:t>One Cloud Run container with Gemini beside it and Postgres underneath</a:t>
            </a:r>
          </a:p>
        </p:txBody>
      </p:sp>
      <p:sp>
        <p:nvSpPr>
          <p:cNvPr id="113" name="Rounded Rectangle 112"/>
          <p:cNvSpPr/>
          <p:nvPr/>
        </p:nvSpPr>
        <p:spPr>
          <a:xfrm>
            <a:off x="356616" y="1783080"/>
            <a:ext cx="1417320" cy="777240"/>
          </a:xfrm>
          <a:prstGeom prst="roundRect">
            <a:avLst>
              <a:gd name="adj" fmla="val 6000"/>
            </a:avLst>
          </a:prstGeom>
          <a:solidFill>
            <a:srgbClr val="F1F3F4"/>
          </a:solidFill>
          <a:ln w="9525">
            <a:solidFill>
              <a:srgbClr val="DADC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4" name="TextBox 113"/>
          <p:cNvSpPr txBox="1"/>
          <p:nvPr/>
        </p:nvSpPr>
        <p:spPr>
          <a:xfrm>
            <a:off x="429768" y="1828800"/>
            <a:ext cx="1271016" cy="685800"/>
          </a:xfrm>
          <a:prstGeom prst="rect">
            <a:avLst/>
          </a:prstGeom>
          <a:noFill/>
        </p:spPr>
        <p:txBody>
          <a:bodyPr wrap="square" lIns="0" rIns="0" tIns="0" bIns="0" anchor="ctr">
            <a:spAutoFit/>
          </a:bodyPr>
          <a:lstStyle/>
          <a:p>
            <a:pPr algn="ctr">
              <a:spcAft>
                <a:spcPts val="100"/>
              </a:spcAft>
            </a:pPr>
            <a:r>
              <a:rPr sz="900" b="1" i="0">
                <a:solidFill>
                  <a:srgbClr val="202124"/>
                </a:solidFill>
                <a:latin typeface="Arial"/>
              </a:rPr>
              <a:t>Shop floor</a:t>
            </a:r>
          </a:p>
          <a:p>
            <a:pPr algn="ctr">
              <a:spcAft>
                <a:spcPts val="100"/>
              </a:spcAft>
            </a:pPr>
            <a:r>
              <a:rPr sz="750" b="0" i="0">
                <a:solidFill>
                  <a:srgbClr val="5F6368"/>
                </a:solidFill>
                <a:latin typeface="Arial"/>
              </a:rPr>
              <a:t>CNC controllers and sensors
via OPC UA / MTConnect
gateway or direct push</a:t>
            </a:r>
          </a:p>
        </p:txBody>
      </p:sp>
      <p:sp>
        <p:nvSpPr>
          <p:cNvPr id="115" name="Rounded Rectangle 114"/>
          <p:cNvSpPr/>
          <p:nvPr/>
        </p:nvSpPr>
        <p:spPr>
          <a:xfrm>
            <a:off x="356616" y="2926080"/>
            <a:ext cx="1417320" cy="640080"/>
          </a:xfrm>
          <a:prstGeom prst="roundRect">
            <a:avLst>
              <a:gd name="adj" fmla="val 6000"/>
            </a:avLst>
          </a:prstGeom>
          <a:solidFill>
            <a:srgbClr val="FFFFFF"/>
          </a:solidFill>
          <a:ln w="9525">
            <a:solidFill>
              <a:srgbClr val="DADC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6" name="TextBox 115"/>
          <p:cNvSpPr txBox="1"/>
          <p:nvPr/>
        </p:nvSpPr>
        <p:spPr>
          <a:xfrm>
            <a:off x="429768" y="2971800"/>
            <a:ext cx="1271016" cy="548640"/>
          </a:xfrm>
          <a:prstGeom prst="rect">
            <a:avLst/>
          </a:prstGeom>
          <a:noFill/>
        </p:spPr>
        <p:txBody>
          <a:bodyPr wrap="square" lIns="0" rIns="0" tIns="0" bIns="0" anchor="ctr">
            <a:spAutoFit/>
          </a:bodyPr>
          <a:lstStyle/>
          <a:p>
            <a:pPr algn="ctr">
              <a:spcAft>
                <a:spcPts val="100"/>
              </a:spcAft>
            </a:pPr>
            <a:r>
              <a:rPr sz="900" b="1" i="0">
                <a:solidFill>
                  <a:srgbClr val="202124"/>
                </a:solidFill>
                <a:latin typeface="Arial"/>
              </a:rPr>
              <a:t>Pub/Sub</a:t>
            </a:r>
          </a:p>
          <a:p>
            <a:pPr algn="ctr">
              <a:spcAft>
                <a:spcPts val="100"/>
              </a:spcAft>
            </a:pPr>
            <a:r>
              <a:rPr sz="750" b="0" i="0">
                <a:solidFill>
                  <a:srgbClr val="5F6368"/>
                </a:solidFill>
                <a:latin typeface="Arial"/>
              </a:rPr>
              <a:t>readings in,
critical alerts out</a:t>
            </a:r>
          </a:p>
        </p:txBody>
      </p:sp>
      <p:cxnSp>
        <p:nvCxnSpPr>
          <p:cNvPr id="117" name="Connector 116"/>
          <p:cNvCxnSpPr/>
          <p:nvPr/>
        </p:nvCxnSpPr>
        <p:spPr>
          <a:xfrm>
            <a:off x="1069848" y="2578608"/>
            <a:ext cx="0" cy="329184"/>
          </a:xfrm>
          <a:prstGeom prst="line">
            <a:avLst/>
          </a:prstGeom>
          <a:ln w="15875">
            <a:solidFill>
              <a:srgbClr val="5F636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8" name="Rectangle 117"/>
          <p:cNvSpPr/>
          <p:nvPr/>
        </p:nvSpPr>
        <p:spPr>
          <a:xfrm>
            <a:off x="2011680" y="1645920"/>
            <a:ext cx="4114800" cy="2542032"/>
          </a:xfrm>
          <a:prstGeom prst="rect">
            <a:avLst/>
          </a:prstGeom>
          <a:solidFill>
            <a:srgbClr val="FFFFFF"/>
          </a:solidFill>
          <a:ln w="12700">
            <a:solidFill>
              <a:srgbClr val="1A56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9" name="TextBox 118"/>
          <p:cNvSpPr txBox="1"/>
          <p:nvPr/>
        </p:nvSpPr>
        <p:spPr>
          <a:xfrm>
            <a:off x="2121408" y="1709928"/>
            <a:ext cx="3931920" cy="228600"/>
          </a:xfrm>
          <a:prstGeom prst="rect">
            <a:avLst/>
          </a:prstGeom>
          <a:noFill/>
        </p:spPr>
        <p:txBody>
          <a:bodyPr wrap="square" lIns="0" rIns="0" tIns="0" bIns="0" anchor="t">
            <a:spAutoFit/>
          </a:bodyPr>
          <a:lstStyle/>
          <a:p>
            <a:pPr algn="l">
              <a:spcAft>
                <a:spcPts val="0"/>
              </a:spcAft>
            </a:pPr>
            <a:r>
              <a:rPr sz="950" b="1" i="0">
                <a:solidFill>
                  <a:srgbClr val="1A56DB"/>
                </a:solidFill>
                <a:latin typeface="Arial"/>
              </a:rPr>
              <a:t>Cloud Run, one container, asia-south1 </a:t>
            </a:r>
            <a:r>
              <a:rPr sz="750" b="0" i="0">
                <a:solidFill>
                  <a:srgbClr val="5F6368"/>
                </a:solidFill>
                <a:latin typeface="Arial"/>
              </a:rPr>
              <a:t>· one URL for every device</a:t>
            </a:r>
          </a:p>
        </p:txBody>
      </p:sp>
      <p:sp>
        <p:nvSpPr>
          <p:cNvPr id="120" name="Rounded Rectangle 119"/>
          <p:cNvSpPr/>
          <p:nvPr/>
        </p:nvSpPr>
        <p:spPr>
          <a:xfrm>
            <a:off x="2121408" y="2011680"/>
            <a:ext cx="1225296" cy="932688"/>
          </a:xfrm>
          <a:prstGeom prst="roundRect">
            <a:avLst>
              <a:gd name="adj" fmla="val 6000"/>
            </a:avLst>
          </a:prstGeom>
          <a:solidFill>
            <a:srgbClr val="F1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1" name="TextBox 120"/>
          <p:cNvSpPr txBox="1"/>
          <p:nvPr/>
        </p:nvSpPr>
        <p:spPr>
          <a:xfrm>
            <a:off x="2194560" y="2057400"/>
            <a:ext cx="1078992" cy="841248"/>
          </a:xfrm>
          <a:prstGeom prst="rect">
            <a:avLst/>
          </a:prstGeom>
          <a:noFill/>
        </p:spPr>
        <p:txBody>
          <a:bodyPr wrap="square" lIns="0" rIns="0" tIns="0" bIns="0" anchor="ctr">
            <a:spAutoFit/>
          </a:bodyPr>
          <a:lstStyle/>
          <a:p>
            <a:pPr algn="ctr">
              <a:spcAft>
                <a:spcPts val="100"/>
              </a:spcAft>
            </a:pPr>
            <a:r>
              <a:rPr sz="850" b="1" i="0">
                <a:solidFill>
                  <a:srgbClr val="202124"/>
                </a:solidFill>
                <a:latin typeface="Arial"/>
              </a:rPr>
              <a:t>React 19 web app</a:t>
            </a:r>
          </a:p>
          <a:p>
            <a:pPr algn="ctr">
              <a:spcAft>
                <a:spcPts val="100"/>
              </a:spcAft>
            </a:pPr>
            <a:r>
              <a:rPr sz="750" b="0" i="0">
                <a:solidFill>
                  <a:srgbClr val="5F6368"/>
                </a:solidFill>
                <a:latin typeface="Arial"/>
              </a:rPr>
              <a:t>accessible UI, voice,
6 languages</a:t>
            </a:r>
          </a:p>
        </p:txBody>
      </p:sp>
      <p:sp>
        <p:nvSpPr>
          <p:cNvPr id="122" name="Rounded Rectangle 121"/>
          <p:cNvSpPr/>
          <p:nvPr/>
        </p:nvSpPr>
        <p:spPr>
          <a:xfrm>
            <a:off x="3438144" y="2011680"/>
            <a:ext cx="1225296" cy="932688"/>
          </a:xfrm>
          <a:prstGeom prst="roundRect">
            <a:avLst>
              <a:gd name="adj" fmla="val 6000"/>
            </a:avLst>
          </a:prstGeom>
          <a:solidFill>
            <a:srgbClr val="F1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3" name="TextBox 122"/>
          <p:cNvSpPr txBox="1"/>
          <p:nvPr/>
        </p:nvSpPr>
        <p:spPr>
          <a:xfrm>
            <a:off x="3511296" y="2057400"/>
            <a:ext cx="1078992" cy="841248"/>
          </a:xfrm>
          <a:prstGeom prst="rect">
            <a:avLst/>
          </a:prstGeom>
          <a:noFill/>
        </p:spPr>
        <p:txBody>
          <a:bodyPr wrap="square" lIns="0" rIns="0" tIns="0" bIns="0" anchor="ctr">
            <a:spAutoFit/>
          </a:bodyPr>
          <a:lstStyle/>
          <a:p>
            <a:pPr algn="ctr">
              <a:spcAft>
                <a:spcPts val="100"/>
              </a:spcAft>
            </a:pPr>
            <a:r>
              <a:rPr sz="850" b="1" i="0">
                <a:solidFill>
                  <a:srgbClr val="202124"/>
                </a:solidFill>
                <a:latin typeface="Arial"/>
              </a:rPr>
              <a:t>FastAPI</a:t>
            </a:r>
          </a:p>
          <a:p>
            <a:pPr algn="ctr">
              <a:spcAft>
                <a:spcPts val="100"/>
              </a:spcAft>
            </a:pPr>
            <a:r>
              <a:rPr sz="750" b="0" i="0">
                <a:solidFill>
                  <a:srgbClr val="5F6368"/>
                </a:solidFill>
                <a:latin typeface="Arial"/>
              </a:rPr>
              <a:t>Google sign-in, roles,
API, ingest endpoint</a:t>
            </a:r>
          </a:p>
        </p:txBody>
      </p:sp>
      <p:sp>
        <p:nvSpPr>
          <p:cNvPr id="124" name="Rounded Rectangle 123"/>
          <p:cNvSpPr/>
          <p:nvPr/>
        </p:nvSpPr>
        <p:spPr>
          <a:xfrm>
            <a:off x="4754880" y="2011680"/>
            <a:ext cx="1225296" cy="932688"/>
          </a:xfrm>
          <a:prstGeom prst="roundRect">
            <a:avLst>
              <a:gd name="adj" fmla="val 6000"/>
            </a:avLst>
          </a:prstGeom>
          <a:solidFill>
            <a:srgbClr val="F1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5" name="TextBox 124"/>
          <p:cNvSpPr txBox="1"/>
          <p:nvPr/>
        </p:nvSpPr>
        <p:spPr>
          <a:xfrm>
            <a:off x="4828032" y="2057400"/>
            <a:ext cx="1078992" cy="841248"/>
          </a:xfrm>
          <a:prstGeom prst="rect">
            <a:avLst/>
          </a:prstGeom>
          <a:noFill/>
        </p:spPr>
        <p:txBody>
          <a:bodyPr wrap="square" lIns="0" rIns="0" tIns="0" bIns="0" anchor="ctr">
            <a:spAutoFit/>
          </a:bodyPr>
          <a:lstStyle/>
          <a:p>
            <a:pPr algn="ctr">
              <a:spcAft>
                <a:spcPts val="100"/>
              </a:spcAft>
            </a:pPr>
            <a:r>
              <a:rPr sz="850" b="1" i="0">
                <a:solidFill>
                  <a:srgbClr val="202124"/>
                </a:solidFill>
                <a:latin typeface="Arial"/>
              </a:rPr>
              <a:t>Live plant twin</a:t>
            </a:r>
          </a:p>
          <a:p>
            <a:pPr algn="ctr">
              <a:spcAft>
                <a:spcPts val="100"/>
              </a:spcAft>
            </a:pPr>
            <a:r>
              <a:rPr sz="750" b="0" i="0">
                <a:solidFill>
                  <a:srgbClr val="5F6368"/>
                </a:solidFill>
                <a:latin typeface="Arial"/>
              </a:rPr>
              <a:t>1-min readings, analytics
cached per plant minute</a:t>
            </a:r>
          </a:p>
        </p:txBody>
      </p:sp>
      <p:sp>
        <p:nvSpPr>
          <p:cNvPr id="126" name="Rounded Rectangle 125"/>
          <p:cNvSpPr/>
          <p:nvPr/>
        </p:nvSpPr>
        <p:spPr>
          <a:xfrm>
            <a:off x="2121408" y="3054096"/>
            <a:ext cx="1225296" cy="932688"/>
          </a:xfrm>
          <a:prstGeom prst="roundRect">
            <a:avLst>
              <a:gd name="adj" fmla="val 6000"/>
            </a:avLst>
          </a:prstGeom>
          <a:solidFill>
            <a:srgbClr val="F1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7" name="TextBox 126"/>
          <p:cNvSpPr txBox="1"/>
          <p:nvPr/>
        </p:nvSpPr>
        <p:spPr>
          <a:xfrm>
            <a:off x="2194560" y="3099815"/>
            <a:ext cx="1078992" cy="841248"/>
          </a:xfrm>
          <a:prstGeom prst="rect">
            <a:avLst/>
          </a:prstGeom>
          <a:noFill/>
        </p:spPr>
        <p:txBody>
          <a:bodyPr wrap="square" lIns="0" rIns="0" tIns="0" bIns="0" anchor="ctr">
            <a:spAutoFit/>
          </a:bodyPr>
          <a:lstStyle/>
          <a:p>
            <a:pPr algn="ctr">
              <a:spcAft>
                <a:spcPts val="100"/>
              </a:spcAft>
            </a:pPr>
            <a:r>
              <a:rPr sz="850" b="1" i="0">
                <a:solidFill>
                  <a:srgbClr val="202124"/>
                </a:solidFill>
                <a:latin typeface="Arial"/>
              </a:rPr>
              <a:t>Decision engine</a:t>
            </a:r>
          </a:p>
          <a:p>
            <a:pPr algn="ctr">
              <a:spcAft>
                <a:spcPts val="100"/>
              </a:spcAft>
            </a:pPr>
            <a:r>
              <a:rPr sz="750" b="0" i="0">
                <a:solidFill>
                  <a:srgbClr val="5F6368"/>
                </a:solidFill>
                <a:latin typeface="Arial"/>
              </a:rPr>
              <a:t>7 priced options, ranking,
learning loop</a:t>
            </a:r>
          </a:p>
        </p:txBody>
      </p:sp>
      <p:sp>
        <p:nvSpPr>
          <p:cNvPr id="128" name="Rounded Rectangle 127"/>
          <p:cNvSpPr/>
          <p:nvPr/>
        </p:nvSpPr>
        <p:spPr>
          <a:xfrm>
            <a:off x="3438144" y="3054096"/>
            <a:ext cx="1225296" cy="932688"/>
          </a:xfrm>
          <a:prstGeom prst="roundRect">
            <a:avLst>
              <a:gd name="adj" fmla="val 6000"/>
            </a:avLst>
          </a:prstGeom>
          <a:solidFill>
            <a:srgbClr val="F1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9" name="TextBox 128"/>
          <p:cNvSpPr txBox="1"/>
          <p:nvPr/>
        </p:nvSpPr>
        <p:spPr>
          <a:xfrm>
            <a:off x="3511296" y="3099815"/>
            <a:ext cx="1078992" cy="841248"/>
          </a:xfrm>
          <a:prstGeom prst="rect">
            <a:avLst/>
          </a:prstGeom>
          <a:noFill/>
        </p:spPr>
        <p:txBody>
          <a:bodyPr wrap="square" lIns="0" rIns="0" tIns="0" bIns="0" anchor="ctr">
            <a:spAutoFit/>
          </a:bodyPr>
          <a:lstStyle/>
          <a:p>
            <a:pPr algn="ctr">
              <a:spcAft>
                <a:spcPts val="100"/>
              </a:spcAft>
            </a:pPr>
            <a:r>
              <a:rPr sz="850" b="1" i="0">
                <a:solidFill>
                  <a:srgbClr val="202124"/>
                </a:solidFill>
                <a:latin typeface="Arial"/>
              </a:rPr>
              <a:t>5-year simulator</a:t>
            </a:r>
          </a:p>
          <a:p>
            <a:pPr algn="ctr">
              <a:spcAft>
                <a:spcPts val="100"/>
              </a:spcAft>
            </a:pPr>
            <a:r>
              <a:rPr sz="750" b="0" i="0">
                <a:solidFill>
                  <a:srgbClr val="5F6368"/>
                </a:solidFill>
                <a:latin typeface="Arial"/>
              </a:rPr>
              <a:t>2.1 M machine-hours
in about 4.5 s</a:t>
            </a:r>
          </a:p>
        </p:txBody>
      </p:sp>
      <p:sp>
        <p:nvSpPr>
          <p:cNvPr id="130" name="Rounded Rectangle 129"/>
          <p:cNvSpPr/>
          <p:nvPr/>
        </p:nvSpPr>
        <p:spPr>
          <a:xfrm>
            <a:off x="4754880" y="3054096"/>
            <a:ext cx="1225296" cy="932688"/>
          </a:xfrm>
          <a:prstGeom prst="roundRect">
            <a:avLst>
              <a:gd name="adj" fmla="val 6000"/>
            </a:avLst>
          </a:prstGeom>
          <a:solidFill>
            <a:srgbClr val="F1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1" name="TextBox 130"/>
          <p:cNvSpPr txBox="1"/>
          <p:nvPr/>
        </p:nvSpPr>
        <p:spPr>
          <a:xfrm>
            <a:off x="4828032" y="3099815"/>
            <a:ext cx="1078992" cy="841248"/>
          </a:xfrm>
          <a:prstGeom prst="rect">
            <a:avLst/>
          </a:prstGeom>
          <a:noFill/>
        </p:spPr>
        <p:txBody>
          <a:bodyPr wrap="square" lIns="0" rIns="0" tIns="0" bIns="0" anchor="ctr">
            <a:spAutoFit/>
          </a:bodyPr>
          <a:lstStyle/>
          <a:p>
            <a:pPr algn="ctr">
              <a:spcAft>
                <a:spcPts val="100"/>
              </a:spcAft>
            </a:pPr>
            <a:r>
              <a:rPr sz="850" b="1" i="0">
                <a:solidFill>
                  <a:srgbClr val="202124"/>
                </a:solidFill>
                <a:latin typeface="Arial"/>
              </a:rPr>
              <a:t>Gemini agents + copilot</a:t>
            </a:r>
          </a:p>
          <a:p>
            <a:pPr algn="ctr">
              <a:spcAft>
                <a:spcPts val="100"/>
              </a:spcAft>
            </a:pPr>
            <a:r>
              <a:rPr sz="750" b="0" i="0">
                <a:solidFill>
                  <a:srgbClr val="5F6368"/>
                </a:solidFill>
                <a:latin typeface="Arial"/>
              </a:rPr>
              <a:t>function calling,
hybrid search over SOPs</a:t>
            </a:r>
          </a:p>
        </p:txBody>
      </p:sp>
      <p:cxnSp>
        <p:nvCxnSpPr>
          <p:cNvPr id="132" name="Connector 131"/>
          <p:cNvCxnSpPr/>
          <p:nvPr/>
        </p:nvCxnSpPr>
        <p:spPr>
          <a:xfrm>
            <a:off x="1792224" y="3154680"/>
            <a:ext cx="201168" cy="0"/>
          </a:xfrm>
          <a:prstGeom prst="line">
            <a:avLst/>
          </a:prstGeom>
          <a:ln w="15875">
            <a:solidFill>
              <a:srgbClr val="5F636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33" name="Connector 132"/>
          <p:cNvCxnSpPr/>
          <p:nvPr/>
        </p:nvCxnSpPr>
        <p:spPr>
          <a:xfrm>
            <a:off x="1792224" y="2167128"/>
            <a:ext cx="201168" cy="0"/>
          </a:xfrm>
          <a:prstGeom prst="line">
            <a:avLst/>
          </a:prstGeom>
          <a:ln w="15875">
            <a:solidFill>
              <a:srgbClr val="5F636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4" name="Rounded Rectangle 133"/>
          <p:cNvSpPr/>
          <p:nvPr/>
        </p:nvSpPr>
        <p:spPr>
          <a:xfrm>
            <a:off x="6400800" y="1645920"/>
            <a:ext cx="2423160" cy="585216"/>
          </a:xfrm>
          <a:prstGeom prst="roundRect">
            <a:avLst>
              <a:gd name="adj" fmla="val 6000"/>
            </a:avLst>
          </a:prstGeom>
          <a:solidFill>
            <a:srgbClr val="E8F0FE"/>
          </a:solidFill>
          <a:ln w="9525">
            <a:solidFill>
              <a:srgbClr val="1A56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5" name="TextBox 134"/>
          <p:cNvSpPr txBox="1"/>
          <p:nvPr/>
        </p:nvSpPr>
        <p:spPr>
          <a:xfrm>
            <a:off x="6473952" y="1691640"/>
            <a:ext cx="2276856" cy="493776"/>
          </a:xfrm>
          <a:prstGeom prst="rect">
            <a:avLst/>
          </a:prstGeom>
          <a:noFill/>
        </p:spPr>
        <p:txBody>
          <a:bodyPr wrap="square" lIns="0" rIns="0" tIns="0" bIns="0" anchor="ctr">
            <a:spAutoFit/>
          </a:bodyPr>
          <a:lstStyle/>
          <a:p>
            <a:pPr algn="ctr">
              <a:spcAft>
                <a:spcPts val="100"/>
              </a:spcAft>
            </a:pPr>
            <a:r>
              <a:rPr sz="850" b="1" i="0">
                <a:solidFill>
                  <a:srgbClr val="202124"/>
                </a:solidFill>
                <a:latin typeface="Arial"/>
              </a:rPr>
              <a:t>Gemini</a:t>
            </a:r>
          </a:p>
          <a:p>
            <a:pPr algn="ctr">
              <a:spcAft>
                <a:spcPts val="100"/>
              </a:spcAft>
            </a:pPr>
            <a:r>
              <a:rPr sz="680" b="0" i="0">
                <a:solidFill>
                  <a:srgbClr val="5F6368"/>
                </a:solidFill>
                <a:latin typeface="Arial"/>
              </a:rPr>
              <a:t>3.5-flash-lite default · 3.8-flash · embedding-001
Vertex AI in production, AI Studio key for the demo</a:t>
            </a:r>
          </a:p>
        </p:txBody>
      </p:sp>
      <p:cxnSp>
        <p:nvCxnSpPr>
          <p:cNvPr id="136" name="Connector 135"/>
          <p:cNvCxnSpPr/>
          <p:nvPr/>
        </p:nvCxnSpPr>
        <p:spPr>
          <a:xfrm>
            <a:off x="6144768" y="1938528"/>
            <a:ext cx="237744" cy="0"/>
          </a:xfrm>
          <a:prstGeom prst="line">
            <a:avLst/>
          </a:prstGeom>
          <a:ln w="15875">
            <a:solidFill>
              <a:srgbClr val="5F636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7" name="Rounded Rectangle 136"/>
          <p:cNvSpPr/>
          <p:nvPr/>
        </p:nvSpPr>
        <p:spPr>
          <a:xfrm>
            <a:off x="6400800" y="2304288"/>
            <a:ext cx="2423160" cy="585216"/>
          </a:xfrm>
          <a:prstGeom prst="roundRect">
            <a:avLst>
              <a:gd name="adj" fmla="val 6000"/>
            </a:avLst>
          </a:prstGeom>
          <a:solidFill>
            <a:srgbClr val="FFFFFF"/>
          </a:solidFill>
          <a:ln w="9525">
            <a:solidFill>
              <a:srgbClr val="DADC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8" name="TextBox 137"/>
          <p:cNvSpPr txBox="1"/>
          <p:nvPr/>
        </p:nvSpPr>
        <p:spPr>
          <a:xfrm>
            <a:off x="6473952" y="2350008"/>
            <a:ext cx="2276856" cy="493776"/>
          </a:xfrm>
          <a:prstGeom prst="rect">
            <a:avLst/>
          </a:prstGeom>
          <a:noFill/>
        </p:spPr>
        <p:txBody>
          <a:bodyPr wrap="square" lIns="0" rIns="0" tIns="0" bIns="0" anchor="ctr">
            <a:spAutoFit/>
          </a:bodyPr>
          <a:lstStyle/>
          <a:p>
            <a:pPr algn="ctr">
              <a:spcAft>
                <a:spcPts val="100"/>
              </a:spcAft>
            </a:pPr>
            <a:r>
              <a:rPr sz="850" b="1" i="0">
                <a:solidFill>
                  <a:srgbClr val="202124"/>
                </a:solidFill>
                <a:latin typeface="Arial"/>
              </a:rPr>
              <a:t>Postgres: Supabase (Mumbai) today</a:t>
            </a:r>
          </a:p>
          <a:p>
            <a:pPr algn="ctr">
              <a:spcAft>
                <a:spcPts val="100"/>
              </a:spcAft>
            </a:pPr>
            <a:r>
              <a:rPr sz="680" b="0" i="0">
                <a:solidFill>
                  <a:srgbClr val="5F6368"/>
                </a:solidFill>
                <a:latin typeface="Arial"/>
              </a:rPr>
              <a:t>users, roles, decisions, incidents, runs, audit log · RLS on
Cloud SQL for PostgreSQL is a connection-string change</a:t>
            </a:r>
          </a:p>
        </p:txBody>
      </p:sp>
      <p:cxnSp>
        <p:nvCxnSpPr>
          <p:cNvPr id="139" name="Connector 138"/>
          <p:cNvCxnSpPr/>
          <p:nvPr/>
        </p:nvCxnSpPr>
        <p:spPr>
          <a:xfrm>
            <a:off x="6144768" y="2606039"/>
            <a:ext cx="237744" cy="0"/>
          </a:xfrm>
          <a:prstGeom prst="line">
            <a:avLst/>
          </a:prstGeom>
          <a:ln w="15875">
            <a:solidFill>
              <a:srgbClr val="5F636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0" name="Rounded Rectangle 139"/>
          <p:cNvSpPr/>
          <p:nvPr/>
        </p:nvSpPr>
        <p:spPr>
          <a:xfrm>
            <a:off x="6400800" y="2962656"/>
            <a:ext cx="2423160" cy="585216"/>
          </a:xfrm>
          <a:prstGeom prst="roundRect">
            <a:avLst>
              <a:gd name="adj" fmla="val 6000"/>
            </a:avLst>
          </a:prstGeom>
          <a:solidFill>
            <a:srgbClr val="FFFFFF"/>
          </a:solidFill>
          <a:ln w="9525">
            <a:solidFill>
              <a:srgbClr val="DADC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1" name="TextBox 140"/>
          <p:cNvSpPr txBox="1"/>
          <p:nvPr/>
        </p:nvSpPr>
        <p:spPr>
          <a:xfrm>
            <a:off x="6473952" y="3008376"/>
            <a:ext cx="2276856" cy="493776"/>
          </a:xfrm>
          <a:prstGeom prst="rect">
            <a:avLst/>
          </a:prstGeom>
          <a:noFill/>
        </p:spPr>
        <p:txBody>
          <a:bodyPr wrap="square" lIns="0" rIns="0" tIns="0" bIns="0" anchor="ctr">
            <a:spAutoFit/>
          </a:bodyPr>
          <a:lstStyle/>
          <a:p>
            <a:pPr algn="ctr">
              <a:spcAft>
                <a:spcPts val="100"/>
              </a:spcAft>
            </a:pPr>
            <a:r>
              <a:rPr sz="850" b="1" i="0">
                <a:solidFill>
                  <a:srgbClr val="202124"/>
                </a:solidFill>
                <a:latin typeface="Arial"/>
              </a:rPr>
              <a:t>BigQuery sandbox</a:t>
            </a:r>
          </a:p>
          <a:p>
            <a:pPr algn="ctr">
              <a:spcAft>
                <a:spcPts val="100"/>
              </a:spcAft>
            </a:pPr>
            <a:r>
              <a:rPr sz="680" b="0" i="0">
                <a:solidFill>
                  <a:srgbClr val="5F6368"/>
                </a:solidFill>
                <a:latin typeface="Arial"/>
              </a:rPr>
              <a:t>daily simulation results, decision snapshot
for Looker Studio</a:t>
            </a:r>
          </a:p>
        </p:txBody>
      </p:sp>
      <p:cxnSp>
        <p:nvCxnSpPr>
          <p:cNvPr id="142" name="Connector 141"/>
          <p:cNvCxnSpPr/>
          <p:nvPr/>
        </p:nvCxnSpPr>
        <p:spPr>
          <a:xfrm>
            <a:off x="6144768" y="3273552"/>
            <a:ext cx="237744" cy="0"/>
          </a:xfrm>
          <a:prstGeom prst="line">
            <a:avLst/>
          </a:prstGeom>
          <a:ln w="15875">
            <a:solidFill>
              <a:srgbClr val="5F636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3" name="Rounded Rectangle 142"/>
          <p:cNvSpPr/>
          <p:nvPr/>
        </p:nvSpPr>
        <p:spPr>
          <a:xfrm>
            <a:off x="6400800" y="3621024"/>
            <a:ext cx="2423160" cy="585216"/>
          </a:xfrm>
          <a:prstGeom prst="roundRect">
            <a:avLst>
              <a:gd name="adj" fmla="val 6000"/>
            </a:avLst>
          </a:prstGeom>
          <a:solidFill>
            <a:srgbClr val="FFFFFF"/>
          </a:solidFill>
          <a:ln w="9525">
            <a:solidFill>
              <a:srgbClr val="DADC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4" name="TextBox 143"/>
          <p:cNvSpPr txBox="1"/>
          <p:nvPr/>
        </p:nvSpPr>
        <p:spPr>
          <a:xfrm>
            <a:off x="6473952" y="3666744"/>
            <a:ext cx="2276856" cy="493776"/>
          </a:xfrm>
          <a:prstGeom prst="rect">
            <a:avLst/>
          </a:prstGeom>
          <a:noFill/>
        </p:spPr>
        <p:txBody>
          <a:bodyPr wrap="square" lIns="0" rIns="0" tIns="0" bIns="0" anchor="ctr">
            <a:spAutoFit/>
          </a:bodyPr>
          <a:lstStyle/>
          <a:p>
            <a:pPr algn="ctr">
              <a:spcAft>
                <a:spcPts val="100"/>
              </a:spcAft>
            </a:pPr>
            <a:r>
              <a:rPr sz="850" b="1" i="0">
                <a:solidFill>
                  <a:srgbClr val="202124"/>
                </a:solidFill>
                <a:latin typeface="Arial"/>
              </a:rPr>
              <a:t>Cloud Storage</a:t>
            </a:r>
          </a:p>
          <a:p>
            <a:pPr algn="ctr">
              <a:spcAft>
                <a:spcPts val="100"/>
              </a:spcAft>
            </a:pPr>
            <a:r>
              <a:rPr sz="680" b="0" i="0">
                <a:solidFill>
                  <a:srgbClr val="5F6368"/>
                </a:solidFill>
                <a:latin typeface="Arial"/>
              </a:rPr>
              <a:t>sensor CSV uploads, part photos</a:t>
            </a:r>
          </a:p>
        </p:txBody>
      </p:sp>
      <p:cxnSp>
        <p:nvCxnSpPr>
          <p:cNvPr id="145" name="Connector 144"/>
          <p:cNvCxnSpPr/>
          <p:nvPr/>
        </p:nvCxnSpPr>
        <p:spPr>
          <a:xfrm>
            <a:off x="6144768" y="3941064"/>
            <a:ext cx="237744" cy="0"/>
          </a:xfrm>
          <a:prstGeom prst="line">
            <a:avLst/>
          </a:prstGeom>
          <a:ln w="15875">
            <a:solidFill>
              <a:srgbClr val="5F636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6" name="TextBox 145"/>
          <p:cNvSpPr txBox="1"/>
          <p:nvPr/>
        </p:nvSpPr>
        <p:spPr>
          <a:xfrm>
            <a:off x="356616" y="4279392"/>
            <a:ext cx="8458200" cy="457200"/>
          </a:xfrm>
          <a:prstGeom prst="rect">
            <a:avLst/>
          </a:prstGeom>
          <a:noFill/>
        </p:spPr>
        <p:txBody>
          <a:bodyPr wrap="square" lIns="0" rIns="0" tIns="0" bIns="0" anchor="t">
            <a:spAutoFit/>
          </a:bodyPr>
          <a:lstStyle/>
          <a:p>
            <a:pPr algn="l">
              <a:lnSpc>
                <a:spcPct val="105000"/>
              </a:lnSpc>
              <a:spcAft>
                <a:spcPts val="300"/>
              </a:spcAft>
            </a:pPr>
            <a:r>
              <a:rPr sz="800" b="1" i="0">
                <a:solidFill>
                  <a:srgbClr val="202124"/>
                </a:solidFill>
                <a:latin typeface="Arial"/>
              </a:rPr>
              <a:t>Scale path. </a:t>
            </a:r>
            <a:r>
              <a:rPr sz="800" b="0" i="0">
                <a:solidFill>
                  <a:srgbClr val="202124"/>
                </a:solidFill>
                <a:latin typeface="Arial"/>
              </a:rPr>
              <a:t>The demo keeps one plant twin in memory on a single instance. With real readings, state lives in Postgres and Pub/Sub, so Cloud Run can run as many instances as a plant group needs; the pipeline that trains the three models and calibrates the simulator runs in 30 s and needs no extra service at this scale.</a:t>
            </a:r>
          </a:p>
          <a:p>
            <a:pPr algn="l">
              <a:lnSpc>
                <a:spcPct val="105000"/>
              </a:lnSpc>
              <a:spcAft>
                <a:spcPts val="300"/>
              </a:spcAft>
            </a:pPr>
            <a:r>
              <a:rPr sz="800" b="1" i="0">
                <a:solidFill>
                  <a:srgbClr val="202124"/>
                </a:solidFill>
                <a:latin typeface="Arial"/>
              </a:rPr>
              <a:t>If Gemini is unreachable </a:t>
            </a:r>
            <a:r>
              <a:rPr sz="800" b="0" i="0">
                <a:solidFill>
                  <a:srgbClr val="202124"/>
                </a:solidFill>
                <a:latin typeface="Arial"/>
              </a:rPr>
              <a:t>the incident room, copilot, shift briefing, photo check and investigation writer fall back to rule-based text and are labelled as such on screen. Detection, prediction and pricing are deterministic and unaffected.</a:t>
            </a: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pic>
        <p:nvPicPr>
          <p:cNvPr id="116" name="Google Shape;116;p21"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17" name="Google Shape;117;p21"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18" name="Google Shape;118;p21"/>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9" name="Google Shape;119;p21"/>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Technologies to be used in the solution</a:t>
            </a:r>
            <a:endParaRPr sz="1600">
              <a:latin typeface="Google Sans Flex Medium"/>
              <a:ea typeface="Google Sans Flex Medium"/>
              <a:cs typeface="Google Sans Flex Medium"/>
              <a:sym typeface="Google Sans Flex Medium"/>
            </a:endParaRPr>
          </a:p>
        </p:txBody>
      </p:sp>
      <p:sp>
        <p:nvSpPr>
          <p:cNvPr id="120" name="Headline"/>
          <p:cNvSpPr txBox="1"/>
          <p:nvPr/>
        </p:nvSpPr>
        <p:spPr>
          <a:xfrm>
            <a:off x="356616" y="1207008"/>
            <a:ext cx="8458200" cy="457200"/>
          </a:xfrm>
          <a:prstGeom prst="rect">
            <a:avLst/>
          </a:prstGeom>
          <a:noFill/>
        </p:spPr>
        <p:txBody>
          <a:bodyPr wrap="square" lIns="0" rIns="0" tIns="0" bIns="0" anchor="t">
            <a:spAutoFit/>
          </a:bodyPr>
          <a:lstStyle/>
          <a:p>
            <a:pPr algn="l">
              <a:spcAft>
                <a:spcPts val="300"/>
              </a:spcAft>
            </a:pPr>
            <a:r>
              <a:rPr sz="1300" b="1" i="0">
                <a:solidFill>
                  <a:srgbClr val="202124"/>
                </a:solidFill>
                <a:latin typeface="Arial"/>
              </a:rPr>
              <a:t>Gemini does the reasoning and the language. Deterministic code does the arithmetic, so every number can be audited.</a:t>
            </a:r>
          </a:p>
        </p:txBody>
      </p:sp>
      <p:graphicFrame>
        <p:nvGraphicFramePr>
          <p:cNvPr id="121" name="Table 120"/>
          <p:cNvGraphicFramePr>
            <a:graphicFrameLocks noGrp="1"/>
          </p:cNvGraphicFramePr>
          <p:nvPr/>
        </p:nvGraphicFramePr>
        <p:xfrm>
          <a:off x="356616" y="1737360"/>
          <a:ext cx="8458200" cy="2715768"/>
        </p:xfrm>
        <a:graphic>
          <a:graphicData uri="http://schemas.openxmlformats.org/drawingml/2006/table">
            <a:tbl>
              <a:tblPr firstRow="1">
                <a:tableStyleId>{5C22544A-7EE6-4342-B048-85BDC9FD1C3A}</a:tableStyleId>
              </a:tblPr>
              <a:tblGrid>
                <a:gridCol w="2514600"/>
                <a:gridCol w="3291840"/>
                <a:gridCol w="2651760"/>
              </a:tblGrid>
              <a:tr h="301752">
                <a:tc>
                  <a:txBody>
                    <a:bodyPr wrap="square"/>
                    <a:lstStyle/>
                    <a:p>
                      <a:r>
                        <a:rPr sz="780" b="1">
                          <a:solidFill>
                            <a:srgbClr val="5F6368"/>
                          </a:solidFill>
                          <a:latin typeface="Arial"/>
                        </a:rPr>
                        <a:t>Technology</a:t>
                      </a:r>
                    </a:p>
                  </a:txBody>
                  <a:tcPr marL="45720" marR="45720" marT="22860" marB="22860" anchor="ctr">
                    <a:lnL w="6350" cap="flat" cmpd="sng" algn="ctr">
                      <a:noFill/>
                    </a:lnL>
                    <a:lnR w="6350" cap="flat" cmpd="sng" algn="ctr">
                      <a:noFill/>
                    </a:lnR>
                    <a:lnT w="6350" cap="flat" cmpd="sng" algn="ctr">
                      <a:noFill/>
                    </a:lnT>
                    <a:lnB w="12700" cap="flat" cmpd="sng" algn="ctr">
                      <a:solidFill>
                        <a:srgbClr val="DADCE0"/>
                      </a:solidFill>
                    </a:lnB>
                    <a:solidFill>
                      <a:srgbClr val="F1F3F4"/>
                    </a:solidFill>
                  </a:tcPr>
                </a:tc>
                <a:tc>
                  <a:txBody>
                    <a:bodyPr wrap="square"/>
                    <a:lstStyle/>
                    <a:p>
                      <a:r>
                        <a:rPr sz="780" b="1">
                          <a:solidFill>
                            <a:srgbClr val="5F6368"/>
                          </a:solidFill>
                          <a:latin typeface="Arial"/>
                        </a:rPr>
                        <a:t>What it does in OpEx</a:t>
                      </a:r>
                    </a:p>
                  </a:txBody>
                  <a:tcPr marL="45720" marR="45720" marT="22860" marB="22860" anchor="ctr">
                    <a:lnL w="6350" cap="flat" cmpd="sng" algn="ctr">
                      <a:noFill/>
                    </a:lnL>
                    <a:lnR w="6350" cap="flat" cmpd="sng" algn="ctr">
                      <a:noFill/>
                    </a:lnR>
                    <a:lnT w="6350" cap="flat" cmpd="sng" algn="ctr">
                      <a:noFill/>
                    </a:lnT>
                    <a:lnB w="12700" cap="flat" cmpd="sng" algn="ctr">
                      <a:solidFill>
                        <a:srgbClr val="DADCE0"/>
                      </a:solidFill>
                    </a:lnB>
                    <a:solidFill>
                      <a:srgbClr val="F1F3F4"/>
                    </a:solidFill>
                  </a:tcPr>
                </a:tc>
                <a:tc>
                  <a:txBody>
                    <a:bodyPr wrap="square"/>
                    <a:lstStyle/>
                    <a:p>
                      <a:r>
                        <a:rPr sz="780" b="1">
                          <a:solidFill>
                            <a:srgbClr val="5F6368"/>
                          </a:solidFill>
                          <a:latin typeface="Arial"/>
                        </a:rPr>
                        <a:t>Why this choice</a:t>
                      </a:r>
                    </a:p>
                  </a:txBody>
                  <a:tcPr marL="45720" marR="45720" marT="22860" marB="22860" anchor="ctr">
                    <a:lnL w="6350" cap="flat" cmpd="sng" algn="ctr">
                      <a:noFill/>
                    </a:lnL>
                    <a:lnR w="6350" cap="flat" cmpd="sng" algn="ctr">
                      <a:noFill/>
                    </a:lnR>
                    <a:lnT w="6350" cap="flat" cmpd="sng" algn="ctr">
                      <a:noFill/>
                    </a:lnT>
                    <a:lnB w="12700" cap="flat" cmpd="sng" algn="ctr">
                      <a:solidFill>
                        <a:srgbClr val="DADCE0"/>
                      </a:solidFill>
                    </a:lnB>
                    <a:solidFill>
                      <a:srgbClr val="F1F3F4"/>
                    </a:solidFill>
                  </a:tcPr>
                </a:tc>
              </a:tr>
              <a:tr h="301752">
                <a:tc>
                  <a:txBody>
                    <a:bodyPr wrap="square"/>
                    <a:lstStyle/>
                    <a:p>
                      <a:r>
                        <a:rPr sz="780" b="1">
                          <a:solidFill>
                            <a:srgbClr val="202124"/>
                          </a:solidFill>
                          <a:latin typeface="Arial"/>
                        </a:rPr>
                        <a:t>Gemini via google-genai: gemini-3.5-flash-lite default, gemini-3.8-flash optional. Vertex AI for production (one flag); AI Studio key for the free demo</a:t>
                      </a:r>
                    </a:p>
                  </a:txBody>
                  <a:tcPr marL="45720" marR="45720" marT="22860" marB="22860" anchor="ctr">
                    <a:lnL w="6350" cap="flat" cmpd="sng" algn="ctr">
                      <a:noFill/>
                    </a:lnL>
                    <a:lnR w="6350" cap="flat" cmpd="sng" algn="ctr">
                      <a:noFill/>
                    </a:lnR>
                    <a:lnT w="6350" cap="flat" cmpd="sng" algn="ctr">
                      <a:noFill/>
                    </a:lnT>
                    <a:lnB w="6350" cap="flat" cmpd="sng" algn="ctr">
                      <a:solidFill>
                        <a:srgbClr val="DADCE0"/>
                      </a:solidFill>
                    </a:lnB>
                    <a:solidFill>
                      <a:srgbClr val="FFFFFF"/>
                    </a:solidFill>
                  </a:tcPr>
                </a:tc>
                <a:tc>
                  <a:txBody>
                    <a:bodyPr wrap="square"/>
                    <a:lstStyle/>
                    <a:p>
                      <a:r>
                        <a:rPr sz="780" b="0">
                          <a:solidFill>
                            <a:srgbClr val="202124"/>
                          </a:solidFill>
                          <a:latin typeface="Arial"/>
                        </a:rPr>
                        <a:t>Three incident-room agents (structured JSON); copilot with 6 function tools; investigation writer; shift briefing; part-photo check; 6 languages</a:t>
                      </a:r>
                    </a:p>
                  </a:txBody>
                  <a:tcPr marL="45720" marR="45720" marT="22860" marB="22860" anchor="ctr">
                    <a:lnL w="6350" cap="flat" cmpd="sng" algn="ctr">
                      <a:noFill/>
                    </a:lnL>
                    <a:lnR w="6350" cap="flat" cmpd="sng" algn="ctr">
                      <a:noFill/>
                    </a:lnR>
                    <a:lnT w="6350" cap="flat" cmpd="sng" algn="ctr">
                      <a:noFill/>
                    </a:lnT>
                    <a:lnB w="6350" cap="flat" cmpd="sng" algn="ctr">
                      <a:solidFill>
                        <a:srgbClr val="DADCE0"/>
                      </a:solidFill>
                    </a:lnB>
                    <a:solidFill>
                      <a:srgbClr val="FFFFFF"/>
                    </a:solidFill>
                  </a:tcPr>
                </a:tc>
                <a:tc>
                  <a:txBody>
                    <a:bodyPr wrap="square"/>
                    <a:lstStyle/>
                    <a:p>
                      <a:r>
                        <a:rPr sz="780" b="0">
                          <a:solidFill>
                            <a:srgbClr val="202124"/>
                          </a:solidFill>
                          <a:latin typeface="Arial"/>
                        </a:rPr>
                        <a:t>Agents receive facts the engine already computed, so a light model is enough; its free tier covers a demo day</a:t>
                      </a:r>
                    </a:p>
                  </a:txBody>
                  <a:tcPr marL="45720" marR="45720" marT="22860" marB="22860" anchor="ctr">
                    <a:lnL w="6350" cap="flat" cmpd="sng" algn="ctr">
                      <a:noFill/>
                    </a:lnL>
                    <a:lnR w="6350" cap="flat" cmpd="sng" algn="ctr">
                      <a:noFill/>
                    </a:lnR>
                    <a:lnT w="6350" cap="flat" cmpd="sng" algn="ctr">
                      <a:noFill/>
                    </a:lnT>
                    <a:lnB w="6350" cap="flat" cmpd="sng" algn="ctr">
                      <a:solidFill>
                        <a:srgbClr val="DADCE0"/>
                      </a:solidFill>
                    </a:lnB>
                    <a:solidFill>
                      <a:srgbClr val="FFFFFF"/>
                    </a:solidFill>
                  </a:tcPr>
                </a:tc>
              </a:tr>
              <a:tr h="301752">
                <a:tc>
                  <a:txBody>
                    <a:bodyPr wrap="square"/>
                    <a:lstStyle/>
                    <a:p>
                      <a:r>
                        <a:rPr sz="780" b="1">
                          <a:solidFill>
                            <a:srgbClr val="202124"/>
                          </a:solidFill>
                          <a:latin typeface="Arial"/>
                        </a:rPr>
                        <a:t>gemini-embedding-001 + TF-IDF</a:t>
                      </a:r>
                    </a:p>
                  </a:txBody>
                  <a:tcPr marL="45720" marR="45720" marT="22860" marB="22860" anchor="ctr">
                    <a:lnL w="6350" cap="flat" cmpd="sng" algn="ctr">
                      <a:noFill/>
                    </a:lnL>
                    <a:lnR w="6350" cap="flat" cmpd="sng" algn="ctr">
                      <a:noFill/>
                    </a:lnR>
                    <a:lnT w="6350" cap="flat" cmpd="sng" algn="ctr">
                      <a:noFill/>
                    </a:lnT>
                    <a:lnB w="6350" cap="flat" cmpd="sng" algn="ctr">
                      <a:solidFill>
                        <a:srgbClr val="DADCE0"/>
                      </a:solidFill>
                    </a:lnB>
                    <a:solidFill>
                      <a:srgbClr val="FFFFFF"/>
                    </a:solidFill>
                  </a:tcPr>
                </a:tc>
                <a:tc>
                  <a:txBody>
                    <a:bodyPr wrap="square"/>
                    <a:lstStyle/>
                    <a:p>
                      <a:r>
                        <a:rPr sz="780" b="0">
                          <a:solidFill>
                            <a:srgbClr val="202124"/>
                          </a:solidFill>
                          <a:latin typeface="Arial"/>
                        </a:rPr>
                        <a:t>Hybrid search over factory memory: SOPs, manuals, 194 past incidents with technician notes</a:t>
                      </a:r>
                    </a:p>
                  </a:txBody>
                  <a:tcPr marL="45720" marR="45720" marT="22860" marB="22860" anchor="ctr">
                    <a:lnL w="6350" cap="flat" cmpd="sng" algn="ctr">
                      <a:noFill/>
                    </a:lnL>
                    <a:lnR w="6350" cap="flat" cmpd="sng" algn="ctr">
                      <a:noFill/>
                    </a:lnR>
                    <a:lnT w="6350" cap="flat" cmpd="sng" algn="ctr">
                      <a:noFill/>
                    </a:lnT>
                    <a:lnB w="6350" cap="flat" cmpd="sng" algn="ctr">
                      <a:solidFill>
                        <a:srgbClr val="DADCE0"/>
                      </a:solidFill>
                    </a:lnB>
                    <a:solidFill>
                      <a:srgbClr val="FFFFFF"/>
                    </a:solidFill>
                  </a:tcPr>
                </a:tc>
                <a:tc>
                  <a:txBody>
                    <a:bodyPr wrap="square"/>
                    <a:lstStyle/>
                    <a:p>
                      <a:r>
                        <a:rPr sz="780" b="0">
                          <a:solidFill>
                            <a:srgbClr val="202124"/>
                          </a:solidFill>
                          <a:latin typeface="Arial"/>
                        </a:rPr>
                        <a:t>About 250 chunks today; numpy in milliseconds, pgvector when it passes ~100k</a:t>
                      </a:r>
                    </a:p>
                  </a:txBody>
                  <a:tcPr marL="45720" marR="45720" marT="22860" marB="22860" anchor="ctr">
                    <a:lnL w="6350" cap="flat" cmpd="sng" algn="ctr">
                      <a:noFill/>
                    </a:lnL>
                    <a:lnR w="6350" cap="flat" cmpd="sng" algn="ctr">
                      <a:noFill/>
                    </a:lnR>
                    <a:lnT w="6350" cap="flat" cmpd="sng" algn="ctr">
                      <a:noFill/>
                    </a:lnT>
                    <a:lnB w="6350" cap="flat" cmpd="sng" algn="ctr">
                      <a:solidFill>
                        <a:srgbClr val="DADCE0"/>
                      </a:solidFill>
                    </a:lnB>
                    <a:solidFill>
                      <a:srgbClr val="FFFFFF"/>
                    </a:solidFill>
                  </a:tcPr>
                </a:tc>
              </a:tr>
              <a:tr h="301752">
                <a:tc>
                  <a:txBody>
                    <a:bodyPr wrap="square"/>
                    <a:lstStyle/>
                    <a:p>
                      <a:r>
                        <a:rPr sz="780" b="1">
                          <a:solidFill>
                            <a:srgbClr val="202124"/>
                          </a:solidFill>
                          <a:latin typeface="Arial"/>
                        </a:rPr>
                        <a:t>Cloud Run (asia-south1)</a:t>
                      </a:r>
                    </a:p>
                  </a:txBody>
                  <a:tcPr marL="45720" marR="45720" marT="22860" marB="22860" anchor="ctr">
                    <a:lnL w="6350" cap="flat" cmpd="sng" algn="ctr">
                      <a:noFill/>
                    </a:lnL>
                    <a:lnR w="6350" cap="flat" cmpd="sng" algn="ctr">
                      <a:noFill/>
                    </a:lnR>
                    <a:lnT w="6350" cap="flat" cmpd="sng" algn="ctr">
                      <a:noFill/>
                    </a:lnT>
                    <a:lnB w="6350" cap="flat" cmpd="sng" algn="ctr">
                      <a:solidFill>
                        <a:srgbClr val="DADCE0"/>
                      </a:solidFill>
                    </a:lnB>
                    <a:solidFill>
                      <a:srgbClr val="FFFFFF"/>
                    </a:solidFill>
                  </a:tcPr>
                </a:tc>
                <a:tc>
                  <a:txBody>
                    <a:bodyPr wrap="square"/>
                    <a:lstStyle/>
                    <a:p>
                      <a:r>
                        <a:rPr sz="780" b="0">
                          <a:solidFill>
                            <a:srgbClr val="202124"/>
                          </a:solidFill>
                          <a:latin typeface="Arial"/>
                        </a:rPr>
                        <a:t>One container: web app, API, live twin, analytics, simulator, agents</a:t>
                      </a:r>
                    </a:p>
                  </a:txBody>
                  <a:tcPr marL="45720" marR="45720" marT="22860" marB="22860" anchor="ctr">
                    <a:lnL w="6350" cap="flat" cmpd="sng" algn="ctr">
                      <a:noFill/>
                    </a:lnL>
                    <a:lnR w="6350" cap="flat" cmpd="sng" algn="ctr">
                      <a:noFill/>
                    </a:lnR>
                    <a:lnT w="6350" cap="flat" cmpd="sng" algn="ctr">
                      <a:noFill/>
                    </a:lnT>
                    <a:lnB w="6350" cap="flat" cmpd="sng" algn="ctr">
                      <a:solidFill>
                        <a:srgbClr val="DADCE0"/>
                      </a:solidFill>
                    </a:lnB>
                    <a:solidFill>
                      <a:srgbClr val="FFFFFF"/>
                    </a:solidFill>
                  </a:tcPr>
                </a:tc>
                <a:tc>
                  <a:txBody>
                    <a:bodyPr wrap="square"/>
                    <a:lstStyle/>
                    <a:p>
                      <a:r>
                        <a:rPr sz="780" b="0">
                          <a:solidFill>
                            <a:srgbClr val="202124"/>
                          </a:solidFill>
                          <a:latin typeface="Arial"/>
                        </a:rPr>
                        <a:t>One URL to judge, scales to zero, one gcloud command to deploy</a:t>
                      </a:r>
                    </a:p>
                  </a:txBody>
                  <a:tcPr marL="45720" marR="45720" marT="22860" marB="22860" anchor="ctr">
                    <a:lnL w="6350" cap="flat" cmpd="sng" algn="ctr">
                      <a:noFill/>
                    </a:lnL>
                    <a:lnR w="6350" cap="flat" cmpd="sng" algn="ctr">
                      <a:noFill/>
                    </a:lnR>
                    <a:lnT w="6350" cap="flat" cmpd="sng" algn="ctr">
                      <a:noFill/>
                    </a:lnT>
                    <a:lnB w="6350" cap="flat" cmpd="sng" algn="ctr">
                      <a:solidFill>
                        <a:srgbClr val="DADCE0"/>
                      </a:solidFill>
                    </a:lnB>
                    <a:solidFill>
                      <a:srgbClr val="FFFFFF"/>
                    </a:solidFill>
                  </a:tcPr>
                </a:tc>
              </a:tr>
              <a:tr h="301752">
                <a:tc>
                  <a:txBody>
                    <a:bodyPr wrap="square"/>
                    <a:lstStyle/>
                    <a:p>
                      <a:r>
                        <a:rPr sz="780" b="1">
                          <a:solidFill>
                            <a:srgbClr val="202124"/>
                          </a:solidFill>
                          <a:latin typeface="Arial"/>
                        </a:rPr>
                        <a:t>Supabase Postgres with Row Level Security</a:t>
                      </a:r>
                    </a:p>
                  </a:txBody>
                  <a:tcPr marL="45720" marR="45720" marT="22860" marB="22860" anchor="ctr">
                    <a:lnL w="6350" cap="flat" cmpd="sng" algn="ctr">
                      <a:noFill/>
                    </a:lnL>
                    <a:lnR w="6350" cap="flat" cmpd="sng" algn="ctr">
                      <a:noFill/>
                    </a:lnR>
                    <a:lnT w="6350" cap="flat" cmpd="sng" algn="ctr">
                      <a:noFill/>
                    </a:lnT>
                    <a:lnB w="6350" cap="flat" cmpd="sng" algn="ctr">
                      <a:solidFill>
                        <a:srgbClr val="DADCE0"/>
                      </a:solidFill>
                    </a:lnB>
                    <a:solidFill>
                      <a:srgbClr val="FFFFFF"/>
                    </a:solidFill>
                  </a:tcPr>
                </a:tc>
                <a:tc>
                  <a:txBody>
                    <a:bodyPr wrap="square"/>
                    <a:lstStyle/>
                    <a:p>
                      <a:r>
                        <a:rPr sz="780" b="0">
                          <a:solidFill>
                            <a:srgbClr val="202124"/>
                          </a:solidFill>
                          <a:latin typeface="Arial"/>
                        </a:rPr>
                        <a:t>Users, roles, decisions, outcomes, incidents, runs, audit log</a:t>
                      </a:r>
                    </a:p>
                  </a:txBody>
                  <a:tcPr marL="45720" marR="45720" marT="22860" marB="22860" anchor="ctr">
                    <a:lnL w="6350" cap="flat" cmpd="sng" algn="ctr">
                      <a:noFill/>
                    </a:lnL>
                    <a:lnR w="6350" cap="flat" cmpd="sng" algn="ctr">
                      <a:noFill/>
                    </a:lnR>
                    <a:lnT w="6350" cap="flat" cmpd="sng" algn="ctr">
                      <a:noFill/>
                    </a:lnT>
                    <a:lnB w="6350" cap="flat" cmpd="sng" algn="ctr">
                      <a:solidFill>
                        <a:srgbClr val="DADCE0"/>
                      </a:solidFill>
                    </a:lnB>
                    <a:solidFill>
                      <a:srgbClr val="FFFFFF"/>
                    </a:solidFill>
                  </a:tcPr>
                </a:tc>
                <a:tc>
                  <a:txBody>
                    <a:bodyPr wrap="square"/>
                    <a:lstStyle/>
                    <a:p>
                      <a:r>
                        <a:rPr sz="780" b="0">
                          <a:solidFill>
                            <a:srgbClr val="202124"/>
                          </a:solidFill>
                          <a:latin typeface="Arial"/>
                        </a:rPr>
                        <a:t>Managed Postgres in Mumbai; SQLite fallback for an offline laptop</a:t>
                      </a:r>
                    </a:p>
                  </a:txBody>
                  <a:tcPr marL="45720" marR="45720" marT="22860" marB="22860" anchor="ctr">
                    <a:lnL w="6350" cap="flat" cmpd="sng" algn="ctr">
                      <a:noFill/>
                    </a:lnL>
                    <a:lnR w="6350" cap="flat" cmpd="sng" algn="ctr">
                      <a:noFill/>
                    </a:lnR>
                    <a:lnT w="6350" cap="flat" cmpd="sng" algn="ctr">
                      <a:noFill/>
                    </a:lnT>
                    <a:lnB w="6350" cap="flat" cmpd="sng" algn="ctr">
                      <a:solidFill>
                        <a:srgbClr val="DADCE0"/>
                      </a:solidFill>
                    </a:lnB>
                    <a:solidFill>
                      <a:srgbClr val="FFFFFF"/>
                    </a:solidFill>
                  </a:tcPr>
                </a:tc>
              </a:tr>
              <a:tr h="301752">
                <a:tc>
                  <a:txBody>
                    <a:bodyPr wrap="square"/>
                    <a:lstStyle/>
                    <a:p>
                      <a:r>
                        <a:rPr sz="780" b="1">
                          <a:solidFill>
                            <a:srgbClr val="202124"/>
                          </a:solidFill>
                          <a:latin typeface="Arial"/>
                        </a:rPr>
                        <a:t>Google sign-in</a:t>
                      </a:r>
                    </a:p>
                  </a:txBody>
                  <a:tcPr marL="45720" marR="45720" marT="22860" marB="22860" anchor="ctr">
                    <a:lnL w="6350" cap="flat" cmpd="sng" algn="ctr">
                      <a:noFill/>
                    </a:lnL>
                    <a:lnR w="6350" cap="flat" cmpd="sng" algn="ctr">
                      <a:noFill/>
                    </a:lnR>
                    <a:lnT w="6350" cap="flat" cmpd="sng" algn="ctr">
                      <a:noFill/>
                    </a:lnT>
                    <a:lnB w="6350" cap="flat" cmpd="sng" algn="ctr">
                      <a:solidFill>
                        <a:srgbClr val="DADCE0"/>
                      </a:solidFill>
                    </a:lnB>
                    <a:solidFill>
                      <a:srgbClr val="FFFFFF"/>
                    </a:solidFill>
                  </a:tcPr>
                </a:tc>
                <a:tc>
                  <a:txBody>
                    <a:bodyPr wrap="square"/>
                    <a:lstStyle/>
                    <a:p>
                      <a:r>
                        <a:rPr sz="780" b="0">
                          <a:solidFill>
                            <a:srgbClr val="202124"/>
                          </a:solidFill>
                          <a:latin typeface="Arial"/>
                        </a:rPr>
                        <a:t>OAuth ID token verified on the server, httpOnly session cookie, roles checked on every request</a:t>
                      </a:r>
                    </a:p>
                  </a:txBody>
                  <a:tcPr marL="45720" marR="45720" marT="22860" marB="22860" anchor="ctr">
                    <a:lnL w="6350" cap="flat" cmpd="sng" algn="ctr">
                      <a:noFill/>
                    </a:lnL>
                    <a:lnR w="6350" cap="flat" cmpd="sng" algn="ctr">
                      <a:noFill/>
                    </a:lnR>
                    <a:lnT w="6350" cap="flat" cmpd="sng" algn="ctr">
                      <a:noFill/>
                    </a:lnT>
                    <a:lnB w="6350" cap="flat" cmpd="sng" algn="ctr">
                      <a:solidFill>
                        <a:srgbClr val="DADCE0"/>
                      </a:solidFill>
                    </a:lnB>
                    <a:solidFill>
                      <a:srgbClr val="FFFFFF"/>
                    </a:solidFill>
                  </a:tcPr>
                </a:tc>
                <a:tc>
                  <a:txBody>
                    <a:bodyPr wrap="square"/>
                    <a:lstStyle/>
                    <a:p>
                      <a:r>
                        <a:rPr sz="780" b="0">
                          <a:solidFill>
                            <a:srgbClr val="202124"/>
                          </a:solidFill>
                          <a:latin typeface="Arial"/>
                        </a:rPr>
                        <a:t>People use the account they have; no passwords stored for real users</a:t>
                      </a:r>
                    </a:p>
                  </a:txBody>
                  <a:tcPr marL="45720" marR="45720" marT="22860" marB="22860" anchor="ctr">
                    <a:lnL w="6350" cap="flat" cmpd="sng" algn="ctr">
                      <a:noFill/>
                    </a:lnL>
                    <a:lnR w="6350" cap="flat" cmpd="sng" algn="ctr">
                      <a:noFill/>
                    </a:lnR>
                    <a:lnT w="6350" cap="flat" cmpd="sng" algn="ctr">
                      <a:noFill/>
                    </a:lnT>
                    <a:lnB w="6350" cap="flat" cmpd="sng" algn="ctr">
                      <a:solidFill>
                        <a:srgbClr val="DADCE0"/>
                      </a:solidFill>
                    </a:lnB>
                    <a:solidFill>
                      <a:srgbClr val="FFFFFF"/>
                    </a:solidFill>
                  </a:tcPr>
                </a:tc>
              </a:tr>
              <a:tr h="301752">
                <a:tc>
                  <a:txBody>
                    <a:bodyPr wrap="square"/>
                    <a:lstStyle/>
                    <a:p>
                      <a:r>
                        <a:rPr sz="780" b="1">
                          <a:solidFill>
                            <a:srgbClr val="202124"/>
                          </a:solidFill>
                          <a:latin typeface="Arial"/>
                        </a:rPr>
                        <a:t>BigQuery sandbox · Pub/Sub · Cloud Storage</a:t>
                      </a:r>
                    </a:p>
                  </a:txBody>
                  <a:tcPr marL="45720" marR="45720" marT="22860" marB="22860" anchor="ctr">
                    <a:lnL w="6350" cap="flat" cmpd="sng" algn="ctr">
                      <a:noFill/>
                    </a:lnL>
                    <a:lnR w="6350" cap="flat" cmpd="sng" algn="ctr">
                      <a:noFill/>
                    </a:lnR>
                    <a:lnT w="6350" cap="flat" cmpd="sng" algn="ctr">
                      <a:noFill/>
                    </a:lnT>
                    <a:lnB w="6350" cap="flat" cmpd="sng" algn="ctr">
                      <a:solidFill>
                        <a:srgbClr val="DADCE0"/>
                      </a:solidFill>
                    </a:lnB>
                    <a:solidFill>
                      <a:srgbClr val="FFFFFF"/>
                    </a:solidFill>
                  </a:tcPr>
                </a:tc>
                <a:tc>
                  <a:txBody>
                    <a:bodyPr wrap="square"/>
                    <a:lstStyle/>
                    <a:p>
                      <a:r>
                        <a:rPr sz="780" b="0">
                          <a:solidFill>
                            <a:srgbClr val="202124"/>
                          </a:solidFill>
                          <a:latin typeface="Arial"/>
                        </a:rPr>
                        <a:t>Simulation and decision tables for Looker Studio; sensor push in and alerts out; uploads and photos</a:t>
                      </a:r>
                    </a:p>
                  </a:txBody>
                  <a:tcPr marL="45720" marR="45720" marT="22860" marB="22860" anchor="ctr">
                    <a:lnL w="6350" cap="flat" cmpd="sng" algn="ctr">
                      <a:noFill/>
                    </a:lnL>
                    <a:lnR w="6350" cap="flat" cmpd="sng" algn="ctr">
                      <a:noFill/>
                    </a:lnR>
                    <a:lnT w="6350" cap="flat" cmpd="sng" algn="ctr">
                      <a:noFill/>
                    </a:lnT>
                    <a:lnB w="6350" cap="flat" cmpd="sng" algn="ctr">
                      <a:solidFill>
                        <a:srgbClr val="DADCE0"/>
                      </a:solidFill>
                    </a:lnB>
                    <a:solidFill>
                      <a:srgbClr val="FFFFFF"/>
                    </a:solidFill>
                  </a:tcPr>
                </a:tc>
                <a:tc>
                  <a:txBody>
                    <a:bodyPr wrap="square"/>
                    <a:lstStyle/>
                    <a:p>
                      <a:r>
                        <a:rPr sz="780" b="0">
                          <a:solidFill>
                            <a:srgbClr val="202124"/>
                          </a:solidFill>
                          <a:latin typeface="Arial"/>
                        </a:rPr>
                        <a:t>Each has a concrete job and sits inside its free tier at demo scale</a:t>
                      </a:r>
                    </a:p>
                  </a:txBody>
                  <a:tcPr marL="45720" marR="45720" marT="22860" marB="22860" anchor="ctr">
                    <a:lnL w="6350" cap="flat" cmpd="sng" algn="ctr">
                      <a:noFill/>
                    </a:lnL>
                    <a:lnR w="6350" cap="flat" cmpd="sng" algn="ctr">
                      <a:noFill/>
                    </a:lnR>
                    <a:lnT w="6350" cap="flat" cmpd="sng" algn="ctr">
                      <a:noFill/>
                    </a:lnT>
                    <a:lnB w="6350" cap="flat" cmpd="sng" algn="ctr">
                      <a:solidFill>
                        <a:srgbClr val="DADCE0"/>
                      </a:solidFill>
                    </a:lnB>
                    <a:solidFill>
                      <a:srgbClr val="FFFFFF"/>
                    </a:solidFill>
                  </a:tcPr>
                </a:tc>
              </a:tr>
              <a:tr h="301752">
                <a:tc>
                  <a:txBody>
                    <a:bodyPr wrap="square"/>
                    <a:lstStyle/>
                    <a:p>
                      <a:r>
                        <a:rPr sz="780" b="1">
                          <a:solidFill>
                            <a:srgbClr val="202124"/>
                          </a:solidFill>
                          <a:latin typeface="Arial"/>
                        </a:rPr>
                        <a:t>Python 3.12, FastAPI, scikit-learn, numpy</a:t>
                      </a:r>
                    </a:p>
                  </a:txBody>
                  <a:tcPr marL="45720" marR="45720" marT="22860" marB="22860" anchor="ctr">
                    <a:lnL w="6350" cap="flat" cmpd="sng" algn="ctr">
                      <a:noFill/>
                    </a:lnL>
                    <a:lnR w="6350" cap="flat" cmpd="sng" algn="ctr">
                      <a:noFill/>
                    </a:lnR>
                    <a:lnT w="6350" cap="flat" cmpd="sng" algn="ctr">
                      <a:noFill/>
                    </a:lnT>
                    <a:lnB w="6350" cap="flat" cmpd="sng" algn="ctr">
                      <a:solidFill>
                        <a:srgbClr val="DADCE0"/>
                      </a:solidFill>
                    </a:lnB>
                    <a:solidFill>
                      <a:srgbClr val="FFFFFF"/>
                    </a:solidFill>
                  </a:tcPr>
                </a:tc>
                <a:tc>
                  <a:txBody>
                    <a:bodyPr wrap="square"/>
                    <a:lstStyle/>
                    <a:p>
                      <a:r>
                        <a:rPr sz="780" b="0">
                          <a:solidFill>
                            <a:srgbClr val="202124"/>
                          </a:solidFill>
                          <a:latin typeface="Arial"/>
                        </a:rPr>
                        <a:t>Three trained models, analytics, 5-year simulator with shared random draws</a:t>
                      </a:r>
                    </a:p>
                  </a:txBody>
                  <a:tcPr marL="45720" marR="45720" marT="22860" marB="22860" anchor="ctr">
                    <a:lnL w="6350" cap="flat" cmpd="sng" algn="ctr">
                      <a:noFill/>
                    </a:lnL>
                    <a:lnR w="6350" cap="flat" cmpd="sng" algn="ctr">
                      <a:noFill/>
                    </a:lnR>
                    <a:lnT w="6350" cap="flat" cmpd="sng" algn="ctr">
                      <a:noFill/>
                    </a:lnT>
                    <a:lnB w="6350" cap="flat" cmpd="sng" algn="ctr">
                      <a:solidFill>
                        <a:srgbClr val="DADCE0"/>
                      </a:solidFill>
                    </a:lnB>
                    <a:solidFill>
                      <a:srgbClr val="FFFFFF"/>
                    </a:solidFill>
                  </a:tcPr>
                </a:tc>
                <a:tc>
                  <a:txBody>
                    <a:bodyPr wrap="square"/>
                    <a:lstStyle/>
                    <a:p>
                      <a:r>
                        <a:rPr sz="780" b="0">
                          <a:solidFill>
                            <a:srgbClr val="202124"/>
                          </a:solidFill>
                          <a:latin typeface="Arial"/>
                        </a:rPr>
                        <a:t>11,400 lines of code; 38 automated tests pass</a:t>
                      </a:r>
                    </a:p>
                  </a:txBody>
                  <a:tcPr marL="45720" marR="45720" marT="22860" marB="22860" anchor="ctr">
                    <a:lnL w="6350" cap="flat" cmpd="sng" algn="ctr">
                      <a:noFill/>
                    </a:lnL>
                    <a:lnR w="6350" cap="flat" cmpd="sng" algn="ctr">
                      <a:noFill/>
                    </a:lnR>
                    <a:lnT w="6350" cap="flat" cmpd="sng" algn="ctr">
                      <a:noFill/>
                    </a:lnT>
                    <a:lnB w="6350" cap="flat" cmpd="sng" algn="ctr">
                      <a:solidFill>
                        <a:srgbClr val="DADCE0"/>
                      </a:solidFill>
                    </a:lnB>
                    <a:solidFill>
                      <a:srgbClr val="FFFFFF"/>
                    </a:solidFill>
                  </a:tcPr>
                </a:tc>
              </a:tr>
              <a:tr h="301752">
                <a:tc>
                  <a:txBody>
                    <a:bodyPr wrap="square"/>
                    <a:lstStyle/>
                    <a:p>
                      <a:r>
                        <a:rPr sz="780" b="1">
                          <a:solidFill>
                            <a:srgbClr val="202124"/>
                          </a:solidFill>
                          <a:latin typeface="Arial"/>
                        </a:rPr>
                        <a:t>React 19, TypeScript, Recharts, Atkinson Hyperlegible</a:t>
                      </a:r>
                    </a:p>
                  </a:txBody>
                  <a:tcPr marL="45720" marR="45720" marT="22860" marB="22860" anchor="ctr">
                    <a:lnL w="6350" cap="flat" cmpd="sng" algn="ctr">
                      <a:noFill/>
                    </a:lnL>
                    <a:lnR w="6350" cap="flat" cmpd="sng" algn="ctr">
                      <a:noFill/>
                    </a:lnR>
                    <a:lnT w="6350" cap="flat" cmpd="sng" algn="ctr">
                      <a:noFill/>
                    </a:lnT>
                    <a:lnB w="6350" cap="flat" cmpd="sng" algn="ctr">
                      <a:solidFill>
                        <a:srgbClr val="9AA0A6"/>
                      </a:solidFill>
                    </a:lnB>
                    <a:solidFill>
                      <a:srgbClr val="FFFFFF"/>
                    </a:solidFill>
                  </a:tcPr>
                </a:tc>
                <a:tc>
                  <a:txBody>
                    <a:bodyPr wrap="square"/>
                    <a:lstStyle/>
                    <a:p>
                      <a:r>
                        <a:rPr sz="780" b="0">
                          <a:solidFill>
                            <a:srgbClr val="202124"/>
                          </a:solidFill>
                          <a:latin typeface="Arial"/>
                        </a:rPr>
                        <a:t>WCAG 2.2 AA interface, voice in and out, phone to desktop</a:t>
                      </a:r>
                    </a:p>
                  </a:txBody>
                  <a:tcPr marL="45720" marR="45720" marT="22860" marB="22860" anchor="ctr">
                    <a:lnL w="6350" cap="flat" cmpd="sng" algn="ctr">
                      <a:noFill/>
                    </a:lnL>
                    <a:lnR w="6350" cap="flat" cmpd="sng" algn="ctr">
                      <a:noFill/>
                    </a:lnR>
                    <a:lnT w="6350" cap="flat" cmpd="sng" algn="ctr">
                      <a:noFill/>
                    </a:lnT>
                    <a:lnB w="6350" cap="flat" cmpd="sng" algn="ctr">
                      <a:solidFill>
                        <a:srgbClr val="9AA0A6"/>
                      </a:solidFill>
                    </a:lnB>
                    <a:solidFill>
                      <a:srgbClr val="FFFFFF"/>
                    </a:solidFill>
                  </a:tcPr>
                </a:tc>
                <a:tc>
                  <a:txBody>
                    <a:bodyPr wrap="square"/>
                    <a:lstStyle/>
                    <a:p>
                      <a:r>
                        <a:rPr sz="780" b="0">
                          <a:solidFill>
                            <a:srgbClr val="202124"/>
                          </a:solidFill>
                          <a:latin typeface="Arial"/>
                        </a:rPr>
                        <a:t>Shop floors have gloves, glare and older eyes</a:t>
                      </a:r>
                    </a:p>
                  </a:txBody>
                  <a:tcPr marL="45720" marR="45720" marT="22860" marB="22860" anchor="ctr">
                    <a:lnL w="6350" cap="flat" cmpd="sng" algn="ctr">
                      <a:noFill/>
                    </a:lnL>
                    <a:lnR w="6350" cap="flat" cmpd="sng" algn="ctr">
                      <a:noFill/>
                    </a:lnR>
                    <a:lnT w="6350" cap="flat" cmpd="sng" algn="ctr">
                      <a:noFill/>
                    </a:lnT>
                    <a:lnB w="6350" cap="flat" cmpd="sng" algn="ctr">
                      <a:solidFill>
                        <a:srgbClr val="9AA0A6"/>
                      </a:solidFill>
                    </a:lnB>
                    <a:solidFill>
                      <a:srgbClr val="FFFFFF"/>
                    </a:solidFill>
                  </a:tcPr>
                </a:tc>
              </a:tr>
            </a:tbl>
          </a:graphicData>
        </a:graphic>
      </p:graphicFrame>
      <p:sp>
        <p:nvSpPr>
          <p:cNvPr id="122" name="TextBox 121"/>
          <p:cNvSpPr txBox="1"/>
          <p:nvPr/>
        </p:nvSpPr>
        <p:spPr>
          <a:xfrm>
            <a:off x="356616" y="4791456"/>
            <a:ext cx="8458200" cy="274320"/>
          </a:xfrm>
          <a:prstGeom prst="rect">
            <a:avLst/>
          </a:prstGeom>
          <a:noFill/>
        </p:spPr>
        <p:txBody>
          <a:bodyPr wrap="square" lIns="0" rIns="0" tIns="0" bIns="0" anchor="t">
            <a:spAutoFit/>
          </a:bodyPr>
          <a:lstStyle/>
          <a:p>
            <a:pPr algn="l">
              <a:spcAft>
                <a:spcPts val="0"/>
              </a:spcAft>
            </a:pPr>
            <a:r>
              <a:rPr sz="750" b="0" i="0">
                <a:solidFill>
                  <a:srgbClr val="5F6368"/>
                </a:solidFill>
                <a:latin typeface="Arial"/>
              </a:rPr>
              <a:t>Not used at this scale: Dataflow and Vertex AI training (the models train in 30 s inside the container). The next slide lists what we would add with a budget and what each costs today.</a:t>
            </a: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pic>
        <p:nvPicPr>
          <p:cNvPr id="124" name="Google Shape;124;p22"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25" name="Google Shape;125;p22"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26" name="Google Shape;126;p22"/>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7" name="Google Shape;127;p22"/>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Estimated implementation cost (optional)</a:t>
            </a:r>
            <a:endParaRPr sz="1600">
              <a:latin typeface="Google Sans Flex Medium"/>
              <a:ea typeface="Google Sans Flex Medium"/>
              <a:cs typeface="Google Sans Flex Medium"/>
              <a:sym typeface="Google Sans Flex Medium"/>
            </a:endParaRPr>
          </a:p>
        </p:txBody>
      </p:sp>
      <p:sp>
        <p:nvSpPr>
          <p:cNvPr id="128" name="Headline"/>
          <p:cNvSpPr txBox="1"/>
          <p:nvPr/>
        </p:nvSpPr>
        <p:spPr>
          <a:xfrm>
            <a:off x="356616" y="1207008"/>
            <a:ext cx="8458200" cy="548640"/>
          </a:xfrm>
          <a:prstGeom prst="rect">
            <a:avLst/>
          </a:prstGeom>
          <a:noFill/>
        </p:spPr>
        <p:txBody>
          <a:bodyPr wrap="square" lIns="0" rIns="0" tIns="0" bIns="0" anchor="t">
            <a:spAutoFit/>
          </a:bodyPr>
          <a:lstStyle/>
          <a:p>
            <a:pPr algn="l">
              <a:spcAft>
                <a:spcPts val="300"/>
              </a:spcAft>
            </a:pPr>
            <a:r>
              <a:rPr sz="1300" b="1" i="0">
                <a:solidFill>
                  <a:srgbClr val="202124"/>
                </a:solidFill>
                <a:latin typeface="Arial"/>
              </a:rPr>
              <a:t>₹16.8 lakh to start and ₹8.4 lakh a year for 24 machines. Costs are quotes and list prices; the benefit side is simulated.</a:t>
            </a:r>
          </a:p>
        </p:txBody>
      </p:sp>
      <p:graphicFrame>
        <p:nvGraphicFramePr>
          <p:cNvPr id="129" name="Table 128"/>
          <p:cNvGraphicFramePr>
            <a:graphicFrameLocks noGrp="1"/>
          </p:cNvGraphicFramePr>
          <p:nvPr/>
        </p:nvGraphicFramePr>
        <p:xfrm>
          <a:off x="356616" y="1828800"/>
          <a:ext cx="5257800" cy="2194560"/>
        </p:xfrm>
        <a:graphic>
          <a:graphicData uri="http://schemas.openxmlformats.org/drawingml/2006/table">
            <a:tbl>
              <a:tblPr firstRow="1">
                <a:tableStyleId>{5C22544A-7EE6-4342-B048-85BDC9FD1C3A}</a:tableStyleId>
              </a:tblPr>
              <a:tblGrid>
                <a:gridCol w="1051560"/>
                <a:gridCol w="3383280"/>
                <a:gridCol w="822960"/>
              </a:tblGrid>
              <a:tr h="365760">
                <a:tc>
                  <a:txBody>
                    <a:bodyPr wrap="square"/>
                    <a:lstStyle/>
                    <a:p>
                      <a:r>
                        <a:rPr sz="780" b="1">
                          <a:solidFill>
                            <a:srgbClr val="5F6368"/>
                          </a:solidFill>
                          <a:latin typeface="Arial"/>
                        </a:rPr>
                        <a:t>Item</a:t>
                      </a:r>
                    </a:p>
                  </a:txBody>
                  <a:tcPr marL="45720" marR="45720" marT="22860" marB="22860" anchor="ctr">
                    <a:lnL w="6350" cap="flat" cmpd="sng" algn="ctr">
                      <a:noFill/>
                    </a:lnL>
                    <a:lnR w="6350" cap="flat" cmpd="sng" algn="ctr">
                      <a:noFill/>
                    </a:lnR>
                    <a:lnT w="6350" cap="flat" cmpd="sng" algn="ctr">
                      <a:noFill/>
                    </a:lnT>
                    <a:lnB w="12700" cap="flat" cmpd="sng" algn="ctr">
                      <a:solidFill>
                        <a:srgbClr val="DADCE0"/>
                      </a:solidFill>
                    </a:lnB>
                    <a:solidFill>
                      <a:srgbClr val="F1F3F4"/>
                    </a:solidFill>
                  </a:tcPr>
                </a:tc>
                <a:tc>
                  <a:txBody>
                    <a:bodyPr wrap="square"/>
                    <a:lstStyle/>
                    <a:p>
                      <a:r>
                        <a:rPr sz="780" b="1">
                          <a:solidFill>
                            <a:srgbClr val="5F6368"/>
                          </a:solidFill>
                          <a:latin typeface="Arial"/>
                        </a:rPr>
                        <a:t>How the number is built</a:t>
                      </a:r>
                    </a:p>
                  </a:txBody>
                  <a:tcPr marL="45720" marR="45720" marT="22860" marB="22860" anchor="ctr">
                    <a:lnL w="6350" cap="flat" cmpd="sng" algn="ctr">
                      <a:noFill/>
                    </a:lnL>
                    <a:lnR w="6350" cap="flat" cmpd="sng" algn="ctr">
                      <a:noFill/>
                    </a:lnR>
                    <a:lnT w="6350" cap="flat" cmpd="sng" algn="ctr">
                      <a:noFill/>
                    </a:lnT>
                    <a:lnB w="12700" cap="flat" cmpd="sng" algn="ctr">
                      <a:solidFill>
                        <a:srgbClr val="DADCE0"/>
                      </a:solidFill>
                    </a:lnB>
                    <a:solidFill>
                      <a:srgbClr val="F1F3F4"/>
                    </a:solidFill>
                  </a:tcPr>
                </a:tc>
                <a:tc>
                  <a:txBody>
                    <a:bodyPr wrap="square"/>
                    <a:lstStyle/>
                    <a:p>
                      <a:pPr algn="r"/>
                      <a:r>
                        <a:rPr sz="780" b="1">
                          <a:solidFill>
                            <a:srgbClr val="5F6368"/>
                          </a:solidFill>
                          <a:latin typeface="Arial"/>
                        </a:rPr>
                        <a:t>Amount</a:t>
                      </a:r>
                    </a:p>
                  </a:txBody>
                  <a:tcPr marL="45720" marR="45720" marT="22860" marB="22860" anchor="ctr">
                    <a:lnL w="6350" cap="flat" cmpd="sng" algn="ctr">
                      <a:noFill/>
                    </a:lnL>
                    <a:lnR w="6350" cap="flat" cmpd="sng" algn="ctr">
                      <a:noFill/>
                    </a:lnR>
                    <a:lnT w="6350" cap="flat" cmpd="sng" algn="ctr">
                      <a:noFill/>
                    </a:lnT>
                    <a:lnB w="12700" cap="flat" cmpd="sng" algn="ctr">
                      <a:solidFill>
                        <a:srgbClr val="DADCE0"/>
                      </a:solidFill>
                    </a:lnB>
                    <a:solidFill>
                      <a:srgbClr val="F1F3F4"/>
                    </a:solidFill>
                  </a:tcPr>
                </a:tc>
              </a:tr>
              <a:tr h="365760">
                <a:tc>
                  <a:txBody>
                    <a:bodyPr wrap="square"/>
                    <a:lstStyle/>
                    <a:p>
                      <a:r>
                        <a:rPr sz="780" b="1">
                          <a:solidFill>
                            <a:srgbClr val="202124"/>
                          </a:solidFill>
                          <a:latin typeface="Arial"/>
                        </a:rPr>
                        <a:t>Sensor retrofit</a:t>
                      </a:r>
                    </a:p>
                  </a:txBody>
                  <a:tcPr marL="45720" marR="45720" marT="22860" marB="22860" anchor="ctr">
                    <a:lnL w="6350" cap="flat" cmpd="sng" algn="ctr">
                      <a:noFill/>
                    </a:lnL>
                    <a:lnR w="6350" cap="flat" cmpd="sng" algn="ctr">
                      <a:noFill/>
                    </a:lnR>
                    <a:lnT w="6350" cap="flat" cmpd="sng" algn="ctr">
                      <a:noFill/>
                    </a:lnT>
                    <a:lnB w="6350" cap="flat" cmpd="sng" algn="ctr">
                      <a:solidFill>
                        <a:srgbClr val="DADCE0"/>
                      </a:solidFill>
                    </a:lnB>
                    <a:solidFill>
                      <a:srgbClr val="FFFFFF"/>
                    </a:solidFill>
                  </a:tcPr>
                </a:tc>
                <a:tc>
                  <a:txBody>
                    <a:bodyPr wrap="square"/>
                    <a:lstStyle/>
                    <a:p>
                      <a:r>
                        <a:rPr sz="780" b="0">
                          <a:solidFill>
                            <a:srgbClr val="202124"/>
                          </a:solidFill>
                          <a:latin typeface="Arial"/>
                        </a:rPr>
                        <a:t>₹45,000 per machine × 24: wireless vibration + temperature sensor, current clamp, gateway share. Indian list prices: ₹15,000 to 50,000 per wireless vibration sensor; a Banner QM30VT2 lands at ₹55,009 with duties</a:t>
                      </a:r>
                    </a:p>
                  </a:txBody>
                  <a:tcPr marL="45720" marR="45720" marT="22860" marB="22860" anchor="ctr">
                    <a:lnL w="6350" cap="flat" cmpd="sng" algn="ctr">
                      <a:noFill/>
                    </a:lnL>
                    <a:lnR w="6350" cap="flat" cmpd="sng" algn="ctr">
                      <a:noFill/>
                    </a:lnR>
                    <a:lnT w="6350" cap="flat" cmpd="sng" algn="ctr">
                      <a:noFill/>
                    </a:lnT>
                    <a:lnB w="6350" cap="flat" cmpd="sng" algn="ctr">
                      <a:solidFill>
                        <a:srgbClr val="DADCE0"/>
                      </a:solidFill>
                    </a:lnB>
                    <a:solidFill>
                      <a:srgbClr val="FFFFFF"/>
                    </a:solidFill>
                  </a:tcPr>
                </a:tc>
                <a:tc>
                  <a:txBody>
                    <a:bodyPr wrap="square"/>
                    <a:lstStyle/>
                    <a:p>
                      <a:pPr algn="r"/>
                      <a:r>
                        <a:rPr sz="780" b="0">
                          <a:solidFill>
                            <a:srgbClr val="202124"/>
                          </a:solidFill>
                          <a:latin typeface="Arial"/>
                        </a:rPr>
                        <a:t>₹10.8 L</a:t>
                      </a:r>
                    </a:p>
                  </a:txBody>
                  <a:tcPr marL="45720" marR="45720" marT="22860" marB="22860" anchor="ctr">
                    <a:lnL w="6350" cap="flat" cmpd="sng" algn="ctr">
                      <a:noFill/>
                    </a:lnL>
                    <a:lnR w="6350" cap="flat" cmpd="sng" algn="ctr">
                      <a:noFill/>
                    </a:lnR>
                    <a:lnT w="6350" cap="flat" cmpd="sng" algn="ctr">
                      <a:noFill/>
                    </a:lnT>
                    <a:lnB w="6350" cap="flat" cmpd="sng" algn="ctr">
                      <a:solidFill>
                        <a:srgbClr val="DADCE0"/>
                      </a:solidFill>
                    </a:lnB>
                    <a:solidFill>
                      <a:srgbClr val="FFFFFF"/>
                    </a:solidFill>
                  </a:tcPr>
                </a:tc>
              </a:tr>
              <a:tr h="365760">
                <a:tc>
                  <a:txBody>
                    <a:bodyPr wrap="square"/>
                    <a:lstStyle/>
                    <a:p>
                      <a:r>
                        <a:rPr sz="780" b="1">
                          <a:solidFill>
                            <a:srgbClr val="202124"/>
                          </a:solidFill>
                          <a:latin typeface="Arial"/>
                        </a:rPr>
                        <a:t>Setup and training</a:t>
                      </a:r>
                    </a:p>
                  </a:txBody>
                  <a:tcPr marL="45720" marR="45720" marT="22860" marB="22860" anchor="ctr">
                    <a:lnL w="6350" cap="flat" cmpd="sng" algn="ctr">
                      <a:noFill/>
                    </a:lnL>
                    <a:lnR w="6350" cap="flat" cmpd="sng" algn="ctr">
                      <a:noFill/>
                    </a:lnR>
                    <a:lnT w="6350" cap="flat" cmpd="sng" algn="ctr">
                      <a:noFill/>
                    </a:lnT>
                    <a:lnB w="6350" cap="flat" cmpd="sng" algn="ctr">
                      <a:solidFill>
                        <a:srgbClr val="DADCE0"/>
                      </a:solidFill>
                    </a:lnB>
                    <a:solidFill>
                      <a:srgbClr val="FFFFFF"/>
                    </a:solidFill>
                  </a:tcPr>
                </a:tc>
                <a:tc>
                  <a:txBody>
                    <a:bodyPr wrap="square"/>
                    <a:lstStyle/>
                    <a:p>
                      <a:r>
                        <a:rPr sz="780" b="0">
                          <a:solidFill>
                            <a:srgbClr val="202124"/>
                          </a:solidFill>
                          <a:latin typeface="Arial"/>
                        </a:rPr>
                        <a:t>Gateway and driver licence ≈ ₹1.5 L (Kepware FANUC suite $995 plus hardware); 25 engineer-days of integration at ₹12,000 a day = ₹3 L; four training days and travel ≈ ₹1.5 L</a:t>
                      </a:r>
                    </a:p>
                  </a:txBody>
                  <a:tcPr marL="45720" marR="45720" marT="22860" marB="22860" anchor="ctr">
                    <a:lnL w="6350" cap="flat" cmpd="sng" algn="ctr">
                      <a:noFill/>
                    </a:lnL>
                    <a:lnR w="6350" cap="flat" cmpd="sng" algn="ctr">
                      <a:noFill/>
                    </a:lnR>
                    <a:lnT w="6350" cap="flat" cmpd="sng" algn="ctr">
                      <a:noFill/>
                    </a:lnT>
                    <a:lnB w="6350" cap="flat" cmpd="sng" algn="ctr">
                      <a:solidFill>
                        <a:srgbClr val="DADCE0"/>
                      </a:solidFill>
                    </a:lnB>
                    <a:solidFill>
                      <a:srgbClr val="FFFFFF"/>
                    </a:solidFill>
                  </a:tcPr>
                </a:tc>
                <a:tc>
                  <a:txBody>
                    <a:bodyPr wrap="square"/>
                    <a:lstStyle/>
                    <a:p>
                      <a:pPr algn="r"/>
                      <a:r>
                        <a:rPr sz="780" b="0">
                          <a:solidFill>
                            <a:srgbClr val="202124"/>
                          </a:solidFill>
                          <a:latin typeface="Arial"/>
                        </a:rPr>
                        <a:t>₹6.0 L</a:t>
                      </a:r>
                    </a:p>
                  </a:txBody>
                  <a:tcPr marL="45720" marR="45720" marT="22860" marB="22860" anchor="ctr">
                    <a:lnL w="6350" cap="flat" cmpd="sng" algn="ctr">
                      <a:noFill/>
                    </a:lnL>
                    <a:lnR w="6350" cap="flat" cmpd="sng" algn="ctr">
                      <a:noFill/>
                    </a:lnR>
                    <a:lnT w="6350" cap="flat" cmpd="sng" algn="ctr">
                      <a:noFill/>
                    </a:lnT>
                    <a:lnB w="6350" cap="flat" cmpd="sng" algn="ctr">
                      <a:solidFill>
                        <a:srgbClr val="DADCE0"/>
                      </a:solidFill>
                    </a:lnB>
                    <a:solidFill>
                      <a:srgbClr val="FFFFFF"/>
                    </a:solidFill>
                  </a:tcPr>
                </a:tc>
              </a:tr>
              <a:tr h="365760">
                <a:tc>
                  <a:txBody>
                    <a:bodyPr wrap="square"/>
                    <a:lstStyle/>
                    <a:p>
                      <a:r>
                        <a:rPr sz="780" b="1">
                          <a:solidFill>
                            <a:srgbClr val="202124"/>
                          </a:solidFill>
                          <a:latin typeface="Arial"/>
                        </a:rPr>
                        <a:t>Cloud, per year</a:t>
                      </a:r>
                    </a:p>
                  </a:txBody>
                  <a:tcPr marL="45720" marR="45720" marT="22860" marB="22860" anchor="ctr">
                    <a:lnL w="6350" cap="flat" cmpd="sng" algn="ctr">
                      <a:noFill/>
                    </a:lnL>
                    <a:lnR w="6350" cap="flat" cmpd="sng" algn="ctr">
                      <a:noFill/>
                    </a:lnR>
                    <a:lnT w="6350" cap="flat" cmpd="sng" algn="ctr">
                      <a:noFill/>
                    </a:lnT>
                    <a:lnB w="6350" cap="flat" cmpd="sng" algn="ctr">
                      <a:solidFill>
                        <a:srgbClr val="DADCE0"/>
                      </a:solidFill>
                    </a:lnB>
                    <a:solidFill>
                      <a:srgbClr val="FFFFFF"/>
                    </a:solidFill>
                  </a:tcPr>
                </a:tc>
                <a:tc>
                  <a:txBody>
                    <a:bodyPr wrap="square"/>
                    <a:lstStyle/>
                    <a:p>
                      <a:r>
                        <a:rPr sz="780" b="0">
                          <a:solidFill>
                            <a:srgbClr val="202124"/>
                          </a:solidFill>
                          <a:latin typeface="Arial"/>
                        </a:rPr>
                        <a:t>Budgeted at ₹2.4 L; the estimate on the right is about ₹1.5 L, the rest is headroom</a:t>
                      </a:r>
                    </a:p>
                  </a:txBody>
                  <a:tcPr marL="45720" marR="45720" marT="22860" marB="22860" anchor="ctr">
                    <a:lnL w="6350" cap="flat" cmpd="sng" algn="ctr">
                      <a:noFill/>
                    </a:lnL>
                    <a:lnR w="6350" cap="flat" cmpd="sng" algn="ctr">
                      <a:noFill/>
                    </a:lnR>
                    <a:lnT w="6350" cap="flat" cmpd="sng" algn="ctr">
                      <a:noFill/>
                    </a:lnT>
                    <a:lnB w="6350" cap="flat" cmpd="sng" algn="ctr">
                      <a:solidFill>
                        <a:srgbClr val="DADCE0"/>
                      </a:solidFill>
                    </a:lnB>
                    <a:solidFill>
                      <a:srgbClr val="FFFFFF"/>
                    </a:solidFill>
                  </a:tcPr>
                </a:tc>
                <a:tc>
                  <a:txBody>
                    <a:bodyPr wrap="square"/>
                    <a:lstStyle/>
                    <a:p>
                      <a:pPr algn="r"/>
                      <a:r>
                        <a:rPr sz="780" b="0">
                          <a:solidFill>
                            <a:srgbClr val="202124"/>
                          </a:solidFill>
                          <a:latin typeface="Arial"/>
                        </a:rPr>
                        <a:t>₹2.4 L</a:t>
                      </a:r>
                    </a:p>
                  </a:txBody>
                  <a:tcPr marL="45720" marR="45720" marT="22860" marB="22860" anchor="ctr">
                    <a:lnL w="6350" cap="flat" cmpd="sng" algn="ctr">
                      <a:noFill/>
                    </a:lnL>
                    <a:lnR w="6350" cap="flat" cmpd="sng" algn="ctr">
                      <a:noFill/>
                    </a:lnR>
                    <a:lnT w="6350" cap="flat" cmpd="sng" algn="ctr">
                      <a:noFill/>
                    </a:lnT>
                    <a:lnB w="6350" cap="flat" cmpd="sng" algn="ctr">
                      <a:solidFill>
                        <a:srgbClr val="DADCE0"/>
                      </a:solidFill>
                    </a:lnB>
                    <a:solidFill>
                      <a:srgbClr val="FFFFFF"/>
                    </a:solidFill>
                  </a:tcPr>
                </a:tc>
              </a:tr>
              <a:tr h="365760">
                <a:tc>
                  <a:txBody>
                    <a:bodyPr wrap="square"/>
                    <a:lstStyle/>
                    <a:p>
                      <a:r>
                        <a:rPr sz="780" b="1">
                          <a:solidFill>
                            <a:srgbClr val="202124"/>
                          </a:solidFill>
                          <a:latin typeface="Arial"/>
                        </a:rPr>
                        <a:t>Support, per year</a:t>
                      </a:r>
                    </a:p>
                  </a:txBody>
                  <a:tcPr marL="45720" marR="45720" marT="22860" marB="22860" anchor="ctr">
                    <a:lnL w="6350" cap="flat" cmpd="sng" algn="ctr">
                      <a:noFill/>
                    </a:lnL>
                    <a:lnR w="6350" cap="flat" cmpd="sng" algn="ctr">
                      <a:noFill/>
                    </a:lnR>
                    <a:lnT w="6350" cap="flat" cmpd="sng" algn="ctr">
                      <a:noFill/>
                    </a:lnT>
                    <a:lnB w="6350" cap="flat" cmpd="sng" algn="ctr">
                      <a:solidFill>
                        <a:srgbClr val="DADCE0"/>
                      </a:solidFill>
                    </a:lnB>
                    <a:solidFill>
                      <a:srgbClr val="FFFFFF"/>
                    </a:solidFill>
                  </a:tcPr>
                </a:tc>
                <a:tc>
                  <a:txBody>
                    <a:bodyPr wrap="square"/>
                    <a:lstStyle/>
                    <a:p>
                      <a:r>
                        <a:rPr sz="780" b="0">
                          <a:solidFill>
                            <a:srgbClr val="202124"/>
                          </a:solidFill>
                          <a:latin typeface="Arial"/>
                        </a:rPr>
                        <a:t>A ₹50,000 monthly retainer: about four engineer-days a month for model re-fits, help desk and updates</a:t>
                      </a:r>
                    </a:p>
                  </a:txBody>
                  <a:tcPr marL="45720" marR="45720" marT="22860" marB="22860" anchor="ctr">
                    <a:lnL w="6350" cap="flat" cmpd="sng" algn="ctr">
                      <a:noFill/>
                    </a:lnL>
                    <a:lnR w="6350" cap="flat" cmpd="sng" algn="ctr">
                      <a:noFill/>
                    </a:lnR>
                    <a:lnT w="6350" cap="flat" cmpd="sng" algn="ctr">
                      <a:noFill/>
                    </a:lnT>
                    <a:lnB w="6350" cap="flat" cmpd="sng" algn="ctr">
                      <a:solidFill>
                        <a:srgbClr val="DADCE0"/>
                      </a:solidFill>
                    </a:lnB>
                    <a:solidFill>
                      <a:srgbClr val="FFFFFF"/>
                    </a:solidFill>
                  </a:tcPr>
                </a:tc>
                <a:tc>
                  <a:txBody>
                    <a:bodyPr wrap="square"/>
                    <a:lstStyle/>
                    <a:p>
                      <a:pPr algn="r"/>
                      <a:r>
                        <a:rPr sz="780" b="0">
                          <a:solidFill>
                            <a:srgbClr val="202124"/>
                          </a:solidFill>
                          <a:latin typeface="Arial"/>
                        </a:rPr>
                        <a:t>₹6.0 L</a:t>
                      </a:r>
                    </a:p>
                  </a:txBody>
                  <a:tcPr marL="45720" marR="45720" marT="22860" marB="22860" anchor="ctr">
                    <a:lnL w="6350" cap="flat" cmpd="sng" algn="ctr">
                      <a:noFill/>
                    </a:lnL>
                    <a:lnR w="6350" cap="flat" cmpd="sng" algn="ctr">
                      <a:noFill/>
                    </a:lnR>
                    <a:lnT w="6350" cap="flat" cmpd="sng" algn="ctr">
                      <a:noFill/>
                    </a:lnT>
                    <a:lnB w="6350" cap="flat" cmpd="sng" algn="ctr">
                      <a:solidFill>
                        <a:srgbClr val="DADCE0"/>
                      </a:solidFill>
                    </a:lnB>
                    <a:solidFill>
                      <a:srgbClr val="FFFFFF"/>
                    </a:solidFill>
                  </a:tcPr>
                </a:tc>
              </a:tr>
              <a:tr h="365760">
                <a:tc>
                  <a:txBody>
                    <a:bodyPr wrap="square"/>
                    <a:lstStyle/>
                    <a:p>
                      <a:r>
                        <a:rPr sz="780" b="1">
                          <a:solidFill>
                            <a:srgbClr val="202124"/>
                          </a:solidFill>
                          <a:latin typeface="Arial"/>
                        </a:rPr>
                        <a:t>Five-year total</a:t>
                      </a:r>
                    </a:p>
                  </a:txBody>
                  <a:tcPr marL="45720" marR="45720" marT="22860" marB="22860" anchor="ctr">
                    <a:lnL w="6350" cap="flat" cmpd="sng" algn="ctr">
                      <a:noFill/>
                    </a:lnL>
                    <a:lnR w="6350" cap="flat" cmpd="sng" algn="ctr">
                      <a:noFill/>
                    </a:lnR>
                    <a:lnT w="6350" cap="flat" cmpd="sng" algn="ctr">
                      <a:noFill/>
                    </a:lnT>
                    <a:lnB w="6350" cap="flat" cmpd="sng" algn="ctr">
                      <a:solidFill>
                        <a:srgbClr val="9AA0A6"/>
                      </a:solidFill>
                    </a:lnB>
                    <a:solidFill>
                      <a:srgbClr val="FFFFFF"/>
                    </a:solidFill>
                  </a:tcPr>
                </a:tc>
                <a:tc>
                  <a:txBody>
                    <a:bodyPr wrap="square"/>
                    <a:lstStyle/>
                    <a:p>
                      <a:r>
                        <a:rPr sz="780" b="0">
                          <a:solidFill>
                            <a:srgbClr val="202124"/>
                          </a:solidFill>
                          <a:latin typeface="Arial"/>
                        </a:rPr>
                        <a:t>₹16.8 L once + ₹8.4 L × 5</a:t>
                      </a:r>
                    </a:p>
                  </a:txBody>
                  <a:tcPr marL="45720" marR="45720" marT="22860" marB="22860" anchor="ctr">
                    <a:lnL w="6350" cap="flat" cmpd="sng" algn="ctr">
                      <a:noFill/>
                    </a:lnL>
                    <a:lnR w="6350" cap="flat" cmpd="sng" algn="ctr">
                      <a:noFill/>
                    </a:lnR>
                    <a:lnT w="6350" cap="flat" cmpd="sng" algn="ctr">
                      <a:noFill/>
                    </a:lnT>
                    <a:lnB w="6350" cap="flat" cmpd="sng" algn="ctr">
                      <a:solidFill>
                        <a:srgbClr val="9AA0A6"/>
                      </a:solidFill>
                    </a:lnB>
                    <a:solidFill>
                      <a:srgbClr val="FFFFFF"/>
                    </a:solidFill>
                  </a:tcPr>
                </a:tc>
                <a:tc>
                  <a:txBody>
                    <a:bodyPr wrap="square"/>
                    <a:lstStyle/>
                    <a:p>
                      <a:pPr algn="r"/>
                      <a:r>
                        <a:rPr sz="780" b="0">
                          <a:solidFill>
                            <a:srgbClr val="202124"/>
                          </a:solidFill>
                          <a:latin typeface="Arial"/>
                        </a:rPr>
                        <a:t>₹58.8 L</a:t>
                      </a:r>
                    </a:p>
                  </a:txBody>
                  <a:tcPr marL="45720" marR="45720" marT="22860" marB="22860" anchor="ctr">
                    <a:lnL w="6350" cap="flat" cmpd="sng" algn="ctr">
                      <a:noFill/>
                    </a:lnL>
                    <a:lnR w="6350" cap="flat" cmpd="sng" algn="ctr">
                      <a:noFill/>
                    </a:lnR>
                    <a:lnT w="6350" cap="flat" cmpd="sng" algn="ctr">
                      <a:noFill/>
                    </a:lnT>
                    <a:lnB w="6350" cap="flat" cmpd="sng" algn="ctr">
                      <a:solidFill>
                        <a:srgbClr val="9AA0A6"/>
                      </a:solidFill>
                    </a:lnB>
                    <a:solidFill>
                      <a:srgbClr val="FFFFFF"/>
                    </a:solidFill>
                  </a:tcPr>
                </a:tc>
              </a:tr>
            </a:tbl>
          </a:graphicData>
        </a:graphic>
      </p:graphicFrame>
      <p:sp>
        <p:nvSpPr>
          <p:cNvPr id="130" name="Rectangle 129"/>
          <p:cNvSpPr/>
          <p:nvPr/>
        </p:nvSpPr>
        <p:spPr>
          <a:xfrm>
            <a:off x="5715000" y="1828800"/>
            <a:ext cx="3108960" cy="2331720"/>
          </a:xfrm>
          <a:prstGeom prst="rect">
            <a:avLst/>
          </a:prstGeom>
          <a:solidFill>
            <a:srgbClr val="F1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1" name="TextBox 130"/>
          <p:cNvSpPr txBox="1"/>
          <p:nvPr/>
        </p:nvSpPr>
        <p:spPr>
          <a:xfrm>
            <a:off x="5852160" y="1901952"/>
            <a:ext cx="2834640" cy="228600"/>
          </a:xfrm>
          <a:prstGeom prst="rect">
            <a:avLst/>
          </a:prstGeom>
          <a:noFill/>
        </p:spPr>
        <p:txBody>
          <a:bodyPr wrap="square" lIns="0" rIns="0" tIns="0" bIns="0" anchor="t">
            <a:spAutoFit/>
          </a:bodyPr>
          <a:lstStyle/>
          <a:p>
            <a:pPr algn="l">
              <a:spcAft>
                <a:spcPts val="300"/>
              </a:spcAft>
            </a:pPr>
            <a:r>
              <a:rPr sz="950" b="1" i="0">
                <a:solidFill>
                  <a:srgbClr val="202124"/>
                </a:solidFill>
                <a:latin typeface="Arial"/>
              </a:rPr>
              <a:t>Cloud cost a month, estimated</a:t>
            </a:r>
          </a:p>
        </p:txBody>
      </p:sp>
      <p:sp>
        <p:nvSpPr>
          <p:cNvPr id="132" name="TextBox 131"/>
          <p:cNvSpPr txBox="1"/>
          <p:nvPr/>
        </p:nvSpPr>
        <p:spPr>
          <a:xfrm>
            <a:off x="5852160" y="2176272"/>
            <a:ext cx="2880360" cy="2011680"/>
          </a:xfrm>
          <a:prstGeom prst="rect">
            <a:avLst/>
          </a:prstGeom>
          <a:noFill/>
        </p:spPr>
        <p:txBody>
          <a:bodyPr wrap="square" lIns="0" rIns="0" tIns="0" bIns="0">
            <a:spAutoFit/>
          </a:bodyPr>
          <a:lstStyle/>
          <a:p>
            <a:pPr marL="137160" indent="-137160">
              <a:spcAft>
                <a:spcPts val="400"/>
              </a:spcAft>
              <a:buChar char="•"/>
            </a:pPr>
            <a:r>
              <a:rPr sz="800" b="0">
                <a:solidFill>
                  <a:srgbClr val="202124"/>
                </a:solidFill>
                <a:latin typeface="Arial"/>
              </a:rPr>
              <a:t>Gemini 3.5 Flash-Lite: about 300 agent and copilot calls a day × 6k tokens ≈ 54 M tokens a month. 40 M in × $0.30 + 14 M out × $2.50 ≈ $47 ≈ ₹4.5k</a:t>
            </a:r>
          </a:p>
          <a:p>
            <a:pPr marL="137160" indent="-137160">
              <a:spcAft>
                <a:spcPts val="400"/>
              </a:spcAft>
              <a:buChar char="•"/>
            </a:pPr>
            <a:r>
              <a:rPr sz="800" b="0">
                <a:solidFill>
                  <a:srgbClr val="202124"/>
                </a:solidFill>
                <a:latin typeface="Arial"/>
              </a:rPr>
              <a:t>Cloud Run, 1 vCPU and 2 GiB kept warm around the clock so the plant twin never sleeps: 2.63 M s × ($0.000018 + 2 × $0.000002) ≈ $58 ≈ ₹5.5k</a:t>
            </a:r>
          </a:p>
          <a:p>
            <a:pPr marL="137160" indent="-137160">
              <a:spcAft>
                <a:spcPts val="400"/>
              </a:spcAft>
              <a:buChar char="•"/>
            </a:pPr>
            <a:r>
              <a:rPr sz="800" b="0">
                <a:solidFill>
                  <a:srgbClr val="202124"/>
                </a:solidFill>
                <a:latin typeface="Arial"/>
              </a:rPr>
              <a:t>Supabase Pro $25 ≈ ₹2.4k. BigQuery sandbox, Cloud Storage and Pub/Sub stay inside their free tiers</a:t>
            </a:r>
          </a:p>
          <a:p>
            <a:pPr marL="137160" indent="-137160">
              <a:spcAft>
                <a:spcPts val="400"/>
              </a:spcAft>
              <a:buChar char="•"/>
            </a:pPr>
            <a:r>
              <a:rPr sz="800" b="1">
                <a:solidFill>
                  <a:srgbClr val="202124"/>
                </a:solidFill>
                <a:latin typeface="Arial"/>
              </a:rPr>
              <a:t>About $130 ≈ ₹12.3k a month, ₹1.5 L a year</a:t>
            </a:r>
          </a:p>
        </p:txBody>
      </p:sp>
      <p:sp>
        <p:nvSpPr>
          <p:cNvPr id="133" name="TextBox 132"/>
          <p:cNvSpPr txBox="1"/>
          <p:nvPr/>
        </p:nvSpPr>
        <p:spPr>
          <a:xfrm>
            <a:off x="356616" y="4407408"/>
            <a:ext cx="8458200" cy="365760"/>
          </a:xfrm>
          <a:prstGeom prst="rect">
            <a:avLst/>
          </a:prstGeom>
          <a:noFill/>
        </p:spPr>
        <p:txBody>
          <a:bodyPr wrap="square" lIns="0" rIns="0" tIns="0" bIns="0" anchor="t">
            <a:spAutoFit/>
          </a:bodyPr>
          <a:lstStyle/>
          <a:p>
            <a:pPr algn="l">
              <a:spcAft>
                <a:spcPts val="0"/>
              </a:spcAft>
            </a:pPr>
            <a:r>
              <a:rPr sz="950" b="0" i="0">
                <a:solidFill>
                  <a:srgbClr val="202124"/>
                </a:solidFill>
                <a:latin typeface="Arial"/>
              </a:rPr>
              <a:t>Against </a:t>
            </a:r>
            <a:r>
              <a:rPr sz="950" b="1" i="0">
                <a:solidFill>
                  <a:srgbClr val="202124"/>
                </a:solidFill>
                <a:latin typeface="Arial"/>
              </a:rPr>
              <a:t>₹58.8 L</a:t>
            </a:r>
            <a:r>
              <a:rPr sz="950" b="0" i="0">
                <a:solidFill>
                  <a:srgbClr val="202124"/>
                </a:solidFill>
                <a:latin typeface="Arial"/>
              </a:rPr>
              <a:t> of cost the default simulation returns </a:t>
            </a:r>
            <a:r>
              <a:rPr sz="950" b="1" i="0">
                <a:solidFill>
                  <a:srgbClr val="202124"/>
                </a:solidFill>
                <a:latin typeface="Arial"/>
              </a:rPr>
              <a:t>₹7.69 Cr</a:t>
            </a:r>
            <a:r>
              <a:rPr sz="950" b="0" i="0">
                <a:solidFill>
                  <a:srgbClr val="202124"/>
                </a:solidFill>
                <a:latin typeface="Arial"/>
              </a:rPr>
              <a:t> of benefit, ₹7.11 Cr net, over five years. Return = net ÷ cost = 12.1×, payback in month 3. The pessimistic run (60% adherence, 70% coverage) nets ₹3.2 Cr, 5.5×.</a:t>
            </a:r>
          </a:p>
        </p:txBody>
      </p:sp>
      <p:sp>
        <p:nvSpPr>
          <p:cNvPr id="134" name="TextBox 133"/>
          <p:cNvSpPr txBox="1"/>
          <p:nvPr/>
        </p:nvSpPr>
        <p:spPr>
          <a:xfrm>
            <a:off x="356616" y="4791456"/>
            <a:ext cx="8458200" cy="274320"/>
          </a:xfrm>
          <a:prstGeom prst="rect">
            <a:avLst/>
          </a:prstGeom>
          <a:noFill/>
        </p:spPr>
        <p:txBody>
          <a:bodyPr wrap="square" lIns="0" rIns="0" tIns="0" bIns="0" anchor="t">
            <a:spAutoFit/>
          </a:bodyPr>
          <a:lstStyle/>
          <a:p>
            <a:pPr algn="l">
              <a:spcAft>
                <a:spcPts val="0"/>
              </a:spcAft>
            </a:pPr>
            <a:r>
              <a:rPr sz="750" b="0" i="0">
                <a:solidFill>
                  <a:srgbClr val="5F6368"/>
                </a:solidFill>
                <a:latin typeface="Arial"/>
              </a:rPr>
              <a:t>Gemini API pricing page (Sept 2026 update); Cloud Run instance-based pricing; Supabase Pro plan; sensor prices from Zbotic (2026), tanotis.com (Banner QM30VT2) and IndiaMART listings; day rates are our assumptions. ₹95 per USD. Factory economics are editable under Settings → Factory economics.</a:t>
            </a: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pic>
        <p:nvPicPr>
          <p:cNvPr id="132" name="Google Shape;132;p23"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33" name="Google Shape;133;p23"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34" name="Google Shape;134;p23"/>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5" name="Google Shape;135;p23"/>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Snapshots of the prototype</a:t>
            </a:r>
            <a:endParaRPr sz="1600">
              <a:latin typeface="Google Sans Flex Medium"/>
              <a:ea typeface="Google Sans Flex Medium"/>
              <a:cs typeface="Google Sans Flex Medium"/>
              <a:sym typeface="Google Sans Flex Medium"/>
            </a:endParaRPr>
          </a:p>
        </p:txBody>
      </p:sp>
      <p:sp>
        <p:nvSpPr>
          <p:cNvPr id="136" name="Headline"/>
          <p:cNvSpPr txBox="1"/>
          <p:nvPr/>
        </p:nvSpPr>
        <p:spPr>
          <a:xfrm>
            <a:off x="356616" y="1207008"/>
            <a:ext cx="8458200" cy="548640"/>
          </a:xfrm>
          <a:prstGeom prst="rect">
            <a:avLst/>
          </a:prstGeom>
          <a:noFill/>
        </p:spPr>
        <p:txBody>
          <a:bodyPr wrap="square" lIns="0" rIns="0" tIns="0" bIns="0" anchor="t">
            <a:spAutoFit/>
          </a:bodyPr>
          <a:lstStyle/>
          <a:p>
            <a:pPr algn="l">
              <a:spcAft>
                <a:spcPts val="300"/>
              </a:spcAft>
            </a:pPr>
            <a:r>
              <a:rPr sz="1300" b="1" i="0">
                <a:solidFill>
                  <a:srgbClr val="202124"/>
                </a:solidFill>
                <a:latin typeface="Arial"/>
              </a:rPr>
              <a:t>Gemini at work in the prototype. It adds the procedure, the language and the judgement; the engine supplies the numbers, and every answer carries a Gemini or rule-based label.</a:t>
            </a:r>
          </a:p>
        </p:txBody>
      </p:sp>
      <p:pic>
        <p:nvPicPr>
          <p:cNvPr id="137" name="Picture 136" descr="22_incident_room_safety_700_790_2190_1600.png"/>
          <p:cNvPicPr>
            <a:picLocks noChangeAspect="1"/>
          </p:cNvPicPr>
          <p:nvPr/>
        </p:nvPicPr>
        <p:blipFill>
          <a:blip r:embed="rId5"/>
          <a:stretch>
            <a:fillRect/>
          </a:stretch>
        </p:blipFill>
        <p:spPr>
          <a:xfrm>
            <a:off x="356616" y="1691640"/>
            <a:ext cx="3291840" cy="1789523"/>
          </a:xfrm>
          <a:prstGeom prst="rect">
            <a:avLst/>
          </a:prstGeom>
          <a:ln w="9525">
            <a:solidFill>
              <a:srgbClr val="DADCE0"/>
            </a:solidFill>
          </a:ln>
        </p:spPr>
      </p:pic>
      <p:sp>
        <p:nvSpPr>
          <p:cNvPr id="138" name="TextBox 137"/>
          <p:cNvSpPr txBox="1"/>
          <p:nvPr/>
        </p:nvSpPr>
        <p:spPr>
          <a:xfrm>
            <a:off x="356616" y="3520440"/>
            <a:ext cx="3291840" cy="411480"/>
          </a:xfrm>
          <a:prstGeom prst="rect">
            <a:avLst/>
          </a:prstGeom>
          <a:noFill/>
        </p:spPr>
        <p:txBody>
          <a:bodyPr wrap="square" lIns="0" rIns="0" tIns="0" bIns="0" anchor="t">
            <a:spAutoFit/>
          </a:bodyPr>
          <a:lstStyle/>
          <a:p>
            <a:pPr algn="l">
              <a:spcAft>
                <a:spcPts val="0"/>
              </a:spcAft>
            </a:pPr>
            <a:r>
              <a:rPr sz="750" b="0" i="0">
                <a:solidFill>
                  <a:srgbClr val="5F6368"/>
                </a:solidFill>
                <a:latin typeface="Arial"/>
              </a:rPr>
              <a:t>Incident room, third agent: the Safety officer adds what the engine cannot, lockout-tagout, a 30-minute cool-down and a burn hazard, and names the SOPs it read.</a:t>
            </a:r>
          </a:p>
        </p:txBody>
      </p:sp>
      <p:pic>
        <p:nvPicPr>
          <p:cNvPr id="139" name="Picture 138" descr="20_briefing_gemini_530_1030_2860_1500.png"/>
          <p:cNvPicPr>
            <a:picLocks noChangeAspect="1"/>
          </p:cNvPicPr>
          <p:nvPr/>
        </p:nvPicPr>
        <p:blipFill>
          <a:blip r:embed="rId6"/>
          <a:stretch>
            <a:fillRect/>
          </a:stretch>
        </p:blipFill>
        <p:spPr>
          <a:xfrm>
            <a:off x="356616" y="3950208"/>
            <a:ext cx="3173162" cy="640080"/>
          </a:xfrm>
          <a:prstGeom prst="rect">
            <a:avLst/>
          </a:prstGeom>
          <a:ln w="9525">
            <a:solidFill>
              <a:srgbClr val="DADCE0"/>
            </a:solidFill>
          </a:ln>
        </p:spPr>
      </p:pic>
      <p:sp>
        <p:nvSpPr>
          <p:cNvPr id="140" name="TextBox 139"/>
          <p:cNvSpPr txBox="1"/>
          <p:nvPr/>
        </p:nvSpPr>
        <p:spPr>
          <a:xfrm>
            <a:off x="356616" y="4617720"/>
            <a:ext cx="3291840" cy="274320"/>
          </a:xfrm>
          <a:prstGeom prst="rect">
            <a:avLst/>
          </a:prstGeom>
          <a:noFill/>
        </p:spPr>
        <p:txBody>
          <a:bodyPr wrap="square" lIns="0" rIns="0" tIns="0" bIns="0" anchor="t">
            <a:spAutoFit/>
          </a:bodyPr>
          <a:lstStyle/>
          <a:p>
            <a:pPr algn="l">
              <a:spcAft>
                <a:spcPts val="0"/>
              </a:spcAft>
            </a:pPr>
            <a:r>
              <a:rPr sz="750" b="0" i="0">
                <a:solidFill>
                  <a:srgbClr val="5F6368"/>
                </a:solidFill>
                <a:latin typeface="Arial"/>
              </a:rPr>
              <a:t>Shift briefing written by Gemini from the live overview, read aloud on request.</a:t>
            </a:r>
          </a:p>
        </p:txBody>
      </p:sp>
      <p:pic>
        <p:nvPicPr>
          <p:cNvPr id="141" name="Picture 140" descr="21_copilot_hindi_560_740_2410_1290.png"/>
          <p:cNvPicPr>
            <a:picLocks noChangeAspect="1"/>
          </p:cNvPicPr>
          <p:nvPr/>
        </p:nvPicPr>
        <p:blipFill>
          <a:blip r:embed="rId7"/>
          <a:stretch>
            <a:fillRect/>
          </a:stretch>
        </p:blipFill>
        <p:spPr>
          <a:xfrm>
            <a:off x="3840480" y="1691640"/>
            <a:ext cx="4459778" cy="1325880"/>
          </a:xfrm>
          <a:prstGeom prst="rect">
            <a:avLst/>
          </a:prstGeom>
          <a:ln w="9525">
            <a:solidFill>
              <a:srgbClr val="DADCE0"/>
            </a:solidFill>
          </a:ln>
        </p:spPr>
      </p:pic>
      <p:sp>
        <p:nvSpPr>
          <p:cNvPr id="142" name="TextBox 141"/>
          <p:cNvSpPr txBox="1"/>
          <p:nvPr/>
        </p:nvSpPr>
        <p:spPr>
          <a:xfrm>
            <a:off x="3840480" y="3017520"/>
            <a:ext cx="4983480" cy="274320"/>
          </a:xfrm>
          <a:prstGeom prst="rect">
            <a:avLst/>
          </a:prstGeom>
          <a:noFill/>
        </p:spPr>
        <p:txBody>
          <a:bodyPr wrap="square" lIns="0" rIns="0" tIns="0" bIns="0" anchor="t">
            <a:spAutoFit/>
          </a:bodyPr>
          <a:lstStyle/>
          <a:p>
            <a:pPr algn="l">
              <a:spcAft>
                <a:spcPts val="0"/>
              </a:spcAft>
            </a:pPr>
            <a:r>
              <a:rPr sz="750" b="0" i="0">
                <a:solidFill>
                  <a:srgbClr val="5F6368"/>
                </a:solidFill>
                <a:latin typeface="Arial"/>
              </a:rPr>
              <a:t>Ask OpEx, in Hindi, 'what happens if I shut M-17 down now?': Gemini calls the pricing tool, quotes ₹1.98 L against ₹3.99 L, and cites the lockout-tagout SOP.</a:t>
            </a:r>
          </a:p>
        </p:txBody>
      </p:sp>
      <p:pic>
        <p:nvPicPr>
          <p:cNvPr id="143" name="Picture 142" descr="11_rewind_540_330_2830_1080.png"/>
          <p:cNvPicPr>
            <a:picLocks noChangeAspect="1"/>
          </p:cNvPicPr>
          <p:nvPr/>
        </p:nvPicPr>
        <p:blipFill>
          <a:blip r:embed="rId8"/>
          <a:stretch>
            <a:fillRect/>
          </a:stretch>
        </p:blipFill>
        <p:spPr>
          <a:xfrm>
            <a:off x="3840480" y="3401568"/>
            <a:ext cx="3629558" cy="1188720"/>
          </a:xfrm>
          <a:prstGeom prst="rect">
            <a:avLst/>
          </a:prstGeom>
          <a:ln w="9525">
            <a:solidFill>
              <a:srgbClr val="DADCE0"/>
            </a:solidFill>
          </a:ln>
        </p:spPr>
      </p:pic>
      <p:sp>
        <p:nvSpPr>
          <p:cNvPr id="144" name="TextBox 143"/>
          <p:cNvSpPr txBox="1"/>
          <p:nvPr/>
        </p:nvSpPr>
        <p:spPr>
          <a:xfrm>
            <a:off x="3840480" y="4617720"/>
            <a:ext cx="4983480" cy="274320"/>
          </a:xfrm>
          <a:prstGeom prst="rect">
            <a:avLst/>
          </a:prstGeom>
          <a:noFill/>
        </p:spPr>
        <p:txBody>
          <a:bodyPr wrap="square" lIns="0" rIns="0" tIns="0" bIns="0" anchor="t">
            <a:spAutoFit/>
          </a:bodyPr>
          <a:lstStyle/>
          <a:p>
            <a:pPr algn="l">
              <a:spcAft>
                <a:spcPts val="0"/>
              </a:spcAft>
            </a:pPr>
            <a:r>
              <a:rPr sz="750" b="0" i="0">
                <a:solidFill>
                  <a:srgbClr val="5F6368"/>
                </a:solidFill>
                <a:latin typeface="Arial"/>
              </a:rPr>
              <a:t>Rewind the factory: one of the plant's own breakdowns replayed with OpEx watching, same bearing, same luck, ₹8.4 L protected.</a:t>
            </a: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pic>
        <p:nvPicPr>
          <p:cNvPr id="140" name="Google Shape;140;p24"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41" name="Google Shape;141;p24"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42" name="Google Shape;142;p24"/>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3" name="Google Shape;143;p24"/>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Prototype Performance report/Benchmarking</a:t>
            </a:r>
            <a:endParaRPr sz="1600">
              <a:latin typeface="Google Sans Flex Medium"/>
              <a:ea typeface="Google Sans Flex Medium"/>
              <a:cs typeface="Google Sans Flex Medium"/>
              <a:sym typeface="Google Sans Flex Medium"/>
            </a:endParaRPr>
          </a:p>
        </p:txBody>
      </p:sp>
      <p:sp>
        <p:nvSpPr>
          <p:cNvPr id="144" name="Headline"/>
          <p:cNvSpPr txBox="1"/>
          <p:nvPr/>
        </p:nvSpPr>
        <p:spPr>
          <a:xfrm>
            <a:off x="356616" y="1207008"/>
            <a:ext cx="8458200" cy="548640"/>
          </a:xfrm>
          <a:prstGeom prst="rect">
            <a:avLst/>
          </a:prstGeom>
          <a:noFill/>
        </p:spPr>
        <p:txBody>
          <a:bodyPr wrap="square" lIns="0" rIns="0" tIns="0" bIns="0" anchor="t">
            <a:spAutoFit/>
          </a:bodyPr>
          <a:lstStyle/>
          <a:p>
            <a:pPr algn="l">
              <a:spcAft>
                <a:spcPts val="300"/>
              </a:spcAft>
            </a:pPr>
            <a:r>
              <a:rPr sz="1300" b="1" i="0">
                <a:solidFill>
                  <a:srgbClr val="202124"/>
                </a:solidFill>
                <a:latin typeface="Arial"/>
              </a:rPr>
              <a:t>Model scores on held-out data, and a simulated plant result that stays inside published ranges even when we make our own assumptions worse</a:t>
            </a:r>
          </a:p>
        </p:txBody>
      </p:sp>
      <p:graphicFrame>
        <p:nvGraphicFramePr>
          <p:cNvPr id="145" name="Table 144"/>
          <p:cNvGraphicFramePr>
            <a:graphicFrameLocks noGrp="1"/>
          </p:cNvGraphicFramePr>
          <p:nvPr/>
        </p:nvGraphicFramePr>
        <p:xfrm>
          <a:off x="356616" y="1783080"/>
          <a:ext cx="5120640" cy="2103120"/>
        </p:xfrm>
        <a:graphic>
          <a:graphicData uri="http://schemas.openxmlformats.org/drawingml/2006/table">
            <a:tbl>
              <a:tblPr firstRow="1">
                <a:tableStyleId>{5C22544A-7EE6-4342-B048-85BDC9FD1C3A}</a:tableStyleId>
              </a:tblPr>
              <a:tblGrid>
                <a:gridCol w="1371600"/>
                <a:gridCol w="1371600"/>
                <a:gridCol w="2377440"/>
              </a:tblGrid>
              <a:tr h="420624">
                <a:tc>
                  <a:txBody>
                    <a:bodyPr wrap="square"/>
                    <a:lstStyle/>
                    <a:p>
                      <a:r>
                        <a:rPr sz="740" b="1">
                          <a:solidFill>
                            <a:srgbClr val="5F6368"/>
                          </a:solidFill>
                          <a:latin typeface="Arial"/>
                        </a:rPr>
                        <a:t>Model (held-out test)</a:t>
                      </a:r>
                    </a:p>
                  </a:txBody>
                  <a:tcPr marL="45720" marR="45720" marT="22860" marB="22860" anchor="ctr">
                    <a:lnL w="6350" cap="flat" cmpd="sng" algn="ctr">
                      <a:noFill/>
                    </a:lnL>
                    <a:lnR w="6350" cap="flat" cmpd="sng" algn="ctr">
                      <a:noFill/>
                    </a:lnR>
                    <a:lnT w="6350" cap="flat" cmpd="sng" algn="ctr">
                      <a:noFill/>
                    </a:lnT>
                    <a:lnB w="12700" cap="flat" cmpd="sng" algn="ctr">
                      <a:solidFill>
                        <a:srgbClr val="DADCE0"/>
                      </a:solidFill>
                    </a:lnB>
                    <a:solidFill>
                      <a:srgbClr val="F1F3F4"/>
                    </a:solidFill>
                  </a:tcPr>
                </a:tc>
                <a:tc>
                  <a:txBody>
                    <a:bodyPr wrap="square"/>
                    <a:lstStyle/>
                    <a:p>
                      <a:r>
                        <a:rPr sz="740" b="1">
                          <a:solidFill>
                            <a:srgbClr val="5F6368"/>
                          </a:solidFill>
                          <a:latin typeface="Arial"/>
                        </a:rPr>
                        <a:t>Data</a:t>
                      </a:r>
                    </a:p>
                  </a:txBody>
                  <a:tcPr marL="45720" marR="45720" marT="22860" marB="22860" anchor="ctr">
                    <a:lnL w="6350" cap="flat" cmpd="sng" algn="ctr">
                      <a:noFill/>
                    </a:lnL>
                    <a:lnR w="6350" cap="flat" cmpd="sng" algn="ctr">
                      <a:noFill/>
                    </a:lnR>
                    <a:lnT w="6350" cap="flat" cmpd="sng" algn="ctr">
                      <a:noFill/>
                    </a:lnT>
                    <a:lnB w="12700" cap="flat" cmpd="sng" algn="ctr">
                      <a:solidFill>
                        <a:srgbClr val="DADCE0"/>
                      </a:solidFill>
                    </a:lnB>
                    <a:solidFill>
                      <a:srgbClr val="F1F3F4"/>
                    </a:solidFill>
                  </a:tcPr>
                </a:tc>
                <a:tc>
                  <a:txBody>
                    <a:bodyPr wrap="square"/>
                    <a:lstStyle/>
                    <a:p>
                      <a:r>
                        <a:rPr sz="740" b="1">
                          <a:solidFill>
                            <a:srgbClr val="5F6368"/>
                          </a:solidFill>
                          <a:latin typeface="Arial"/>
                        </a:rPr>
                        <a:t>Result</a:t>
                      </a:r>
                    </a:p>
                  </a:txBody>
                  <a:tcPr marL="45720" marR="45720" marT="22860" marB="22860" anchor="ctr">
                    <a:lnL w="6350" cap="flat" cmpd="sng" algn="ctr">
                      <a:noFill/>
                    </a:lnL>
                    <a:lnR w="6350" cap="flat" cmpd="sng" algn="ctr">
                      <a:noFill/>
                    </a:lnR>
                    <a:lnT w="6350" cap="flat" cmpd="sng" algn="ctr">
                      <a:noFill/>
                    </a:lnT>
                    <a:lnB w="12700" cap="flat" cmpd="sng" algn="ctr">
                      <a:solidFill>
                        <a:srgbClr val="DADCE0"/>
                      </a:solidFill>
                    </a:lnB>
                    <a:solidFill>
                      <a:srgbClr val="F1F3F4"/>
                    </a:solidFill>
                  </a:tcPr>
                </a:tc>
              </a:tr>
              <a:tr h="420624">
                <a:tc>
                  <a:txBody>
                    <a:bodyPr wrap="square"/>
                    <a:lstStyle/>
                    <a:p>
                      <a:r>
                        <a:rPr sz="740" b="1">
                          <a:solidFill>
                            <a:srgbClr val="202124"/>
                          </a:solidFill>
                          <a:latin typeface="Arial"/>
                        </a:rPr>
                        <a:t>Component precursor model, 48 h horizon</a:t>
                      </a:r>
                    </a:p>
                  </a:txBody>
                  <a:tcPr marL="45720" marR="45720" marT="22860" marB="22860" anchor="ctr">
                    <a:lnL w="6350" cap="flat" cmpd="sng" algn="ctr">
                      <a:noFill/>
                    </a:lnL>
                    <a:lnR w="6350" cap="flat" cmpd="sng" algn="ctr">
                      <a:noFill/>
                    </a:lnR>
                    <a:lnT w="6350" cap="flat" cmpd="sng" algn="ctr">
                      <a:noFill/>
                    </a:lnT>
                    <a:lnB w="6350" cap="flat" cmpd="sng" algn="ctr">
                      <a:solidFill>
                        <a:srgbClr val="DADCE0"/>
                      </a:solidFill>
                    </a:lnB>
                    <a:solidFill>
                      <a:srgbClr val="FFFFFF"/>
                    </a:solidFill>
                  </a:tcPr>
                </a:tc>
                <a:tc>
                  <a:txBody>
                    <a:bodyPr wrap="square"/>
                    <a:lstStyle/>
                    <a:p>
                      <a:r>
                        <a:rPr sz="740" b="0">
                          <a:solidFill>
                            <a:srgbClr val="202124"/>
                          </a:solidFill>
                          <a:latin typeface="Arial"/>
                        </a:rPr>
                        <a:t>Azure PdM telemetry (synthetic sample), trained Jan-Aug 2015, tested Sep-Dec</a:t>
                      </a:r>
                    </a:p>
                  </a:txBody>
                  <a:tcPr marL="45720" marR="45720" marT="22860" marB="22860" anchor="ctr">
                    <a:lnL w="6350" cap="flat" cmpd="sng" algn="ctr">
                      <a:noFill/>
                    </a:lnL>
                    <a:lnR w="6350" cap="flat" cmpd="sng" algn="ctr">
                      <a:noFill/>
                    </a:lnR>
                    <a:lnT w="6350" cap="flat" cmpd="sng" algn="ctr">
                      <a:noFill/>
                    </a:lnT>
                    <a:lnB w="6350" cap="flat" cmpd="sng" algn="ctr">
                      <a:solidFill>
                        <a:srgbClr val="DADCE0"/>
                      </a:solidFill>
                    </a:lnB>
                    <a:solidFill>
                      <a:srgbClr val="FFFFFF"/>
                    </a:solidFill>
                  </a:tcPr>
                </a:tc>
                <a:tc>
                  <a:txBody>
                    <a:bodyPr wrap="square"/>
                    <a:lstStyle/>
                    <a:p>
                      <a:r>
                        <a:rPr sz="740" b="0">
                          <a:solidFill>
                            <a:srgbClr val="202124"/>
                          </a:solidFill>
                          <a:latin typeface="Arial"/>
                        </a:rPr>
                        <a:t>Caught 94 to 100% of component failures 24 to 32 h ahead; 11.9 false alarms per machine-year (1.2 to 5.8 per component), all charged in the simulator</a:t>
                      </a:r>
                    </a:p>
                  </a:txBody>
                  <a:tcPr marL="45720" marR="45720" marT="22860" marB="22860" anchor="ctr">
                    <a:lnL w="6350" cap="flat" cmpd="sng" algn="ctr">
                      <a:noFill/>
                    </a:lnL>
                    <a:lnR w="6350" cap="flat" cmpd="sng" algn="ctr">
                      <a:noFill/>
                    </a:lnR>
                    <a:lnT w="6350" cap="flat" cmpd="sng" algn="ctr">
                      <a:noFill/>
                    </a:lnT>
                    <a:lnB w="6350" cap="flat" cmpd="sng" algn="ctr">
                      <a:solidFill>
                        <a:srgbClr val="DADCE0"/>
                      </a:solidFill>
                    </a:lnB>
                    <a:solidFill>
                      <a:srgbClr val="FFFFFF"/>
                    </a:solidFill>
                  </a:tcPr>
                </a:tc>
              </a:tr>
              <a:tr h="420624">
                <a:tc>
                  <a:txBody>
                    <a:bodyPr wrap="square"/>
                    <a:lstStyle/>
                    <a:p>
                      <a:r>
                        <a:rPr sz="740" b="1">
                          <a:solidFill>
                            <a:srgbClr val="202124"/>
                          </a:solidFill>
                          <a:latin typeface="Arial"/>
                        </a:rPr>
                        <a:t>Remaining-life model + 10/90% quantiles</a:t>
                      </a:r>
                    </a:p>
                  </a:txBody>
                  <a:tcPr marL="45720" marR="45720" marT="22860" marB="22860" anchor="ctr">
                    <a:lnL w="6350" cap="flat" cmpd="sng" algn="ctr">
                      <a:noFill/>
                    </a:lnL>
                    <a:lnR w="6350" cap="flat" cmpd="sng" algn="ctr">
                      <a:noFill/>
                    </a:lnR>
                    <a:lnT w="6350" cap="flat" cmpd="sng" algn="ctr">
                      <a:noFill/>
                    </a:lnT>
                    <a:lnB w="6350" cap="flat" cmpd="sng" algn="ctr">
                      <a:solidFill>
                        <a:srgbClr val="DADCE0"/>
                      </a:solidFill>
                    </a:lnB>
                    <a:solidFill>
                      <a:srgbClr val="FFFFFF"/>
                    </a:solidFill>
                  </a:tcPr>
                </a:tc>
                <a:tc>
                  <a:txBody>
                    <a:bodyPr wrap="square"/>
                    <a:lstStyle/>
                    <a:p>
                      <a:r>
                        <a:rPr sz="740" b="0">
                          <a:solidFill>
                            <a:srgbClr val="202124"/>
                          </a:solidFill>
                          <a:latin typeface="Arial"/>
                        </a:rPr>
                        <a:t>NASA C-MAPSS FD001, NASA's 100 test engines</a:t>
                      </a:r>
                    </a:p>
                  </a:txBody>
                  <a:tcPr marL="45720" marR="45720" marT="22860" marB="22860" anchor="ctr">
                    <a:lnL w="6350" cap="flat" cmpd="sng" algn="ctr">
                      <a:noFill/>
                    </a:lnL>
                    <a:lnR w="6350" cap="flat" cmpd="sng" algn="ctr">
                      <a:noFill/>
                    </a:lnR>
                    <a:lnT w="6350" cap="flat" cmpd="sng" algn="ctr">
                      <a:noFill/>
                    </a:lnT>
                    <a:lnB w="6350" cap="flat" cmpd="sng" algn="ctr">
                      <a:solidFill>
                        <a:srgbClr val="DADCE0"/>
                      </a:solidFill>
                    </a:lnB>
                    <a:solidFill>
                      <a:srgbClr val="FFFFFF"/>
                    </a:solidFill>
                  </a:tcPr>
                </a:tc>
                <a:tc>
                  <a:txBody>
                    <a:bodyPr wrap="square"/>
                    <a:lstStyle/>
                    <a:p>
                      <a:r>
                        <a:rPr sz="740" b="0">
                          <a:solidFill>
                            <a:srgbClr val="202124"/>
                          </a:solidFill>
                          <a:latin typeface="Arial"/>
                        </a:rPr>
                        <a:t>RMSE 13.0 cycles (published FD001 results sit around 11 to 16); 10-90% band covers 82%; every engine warned ≥ 10 cycles ahead</a:t>
                      </a:r>
                    </a:p>
                  </a:txBody>
                  <a:tcPr marL="45720" marR="45720" marT="22860" marB="22860" anchor="ctr">
                    <a:lnL w="6350" cap="flat" cmpd="sng" algn="ctr">
                      <a:noFill/>
                    </a:lnL>
                    <a:lnR w="6350" cap="flat" cmpd="sng" algn="ctr">
                      <a:noFill/>
                    </a:lnR>
                    <a:lnT w="6350" cap="flat" cmpd="sng" algn="ctr">
                      <a:noFill/>
                    </a:lnT>
                    <a:lnB w="6350" cap="flat" cmpd="sng" algn="ctr">
                      <a:solidFill>
                        <a:srgbClr val="DADCE0"/>
                      </a:solidFill>
                    </a:lnB>
                    <a:solidFill>
                      <a:srgbClr val="FFFFFF"/>
                    </a:solidFill>
                  </a:tcPr>
                </a:tc>
              </a:tr>
              <a:tr h="420624">
                <a:tc>
                  <a:txBody>
                    <a:bodyPr wrap="square"/>
                    <a:lstStyle/>
                    <a:p>
                      <a:r>
                        <a:rPr sz="740" b="1">
                          <a:solidFill>
                            <a:srgbClr val="202124"/>
                          </a:solidFill>
                          <a:latin typeface="Arial"/>
                        </a:rPr>
                        <a:t>Failure-mode classifier</a:t>
                      </a:r>
                    </a:p>
                  </a:txBody>
                  <a:tcPr marL="45720" marR="45720" marT="22860" marB="22860" anchor="ctr">
                    <a:lnL w="6350" cap="flat" cmpd="sng" algn="ctr">
                      <a:noFill/>
                    </a:lnL>
                    <a:lnR w="6350" cap="flat" cmpd="sng" algn="ctr">
                      <a:noFill/>
                    </a:lnR>
                    <a:lnT w="6350" cap="flat" cmpd="sng" algn="ctr">
                      <a:noFill/>
                    </a:lnT>
                    <a:lnB w="6350" cap="flat" cmpd="sng" algn="ctr">
                      <a:solidFill>
                        <a:srgbClr val="DADCE0"/>
                      </a:solidFill>
                    </a:lnB>
                    <a:solidFill>
                      <a:srgbClr val="FFFFFF"/>
                    </a:solidFill>
                  </a:tcPr>
                </a:tc>
                <a:tc>
                  <a:txBody>
                    <a:bodyPr wrap="square"/>
                    <a:lstStyle/>
                    <a:p>
                      <a:r>
                        <a:rPr sz="740" b="0">
                          <a:solidFill>
                            <a:srgbClr val="202124"/>
                          </a:solidFill>
                          <a:latin typeface="Arial"/>
                        </a:rPr>
                        <a:t>AI4I 2020 (synthetic, known to be easy), 2,000 test rows</a:t>
                      </a:r>
                    </a:p>
                  </a:txBody>
                  <a:tcPr marL="45720" marR="45720" marT="22860" marB="22860" anchor="ctr">
                    <a:lnL w="6350" cap="flat" cmpd="sng" algn="ctr">
                      <a:noFill/>
                    </a:lnL>
                    <a:lnR w="6350" cap="flat" cmpd="sng" algn="ctr">
                      <a:noFill/>
                    </a:lnR>
                    <a:lnT w="6350" cap="flat" cmpd="sng" algn="ctr">
                      <a:noFill/>
                    </a:lnT>
                    <a:lnB w="6350" cap="flat" cmpd="sng" algn="ctr">
                      <a:solidFill>
                        <a:srgbClr val="DADCE0"/>
                      </a:solidFill>
                    </a:lnB>
                    <a:solidFill>
                      <a:srgbClr val="FFFFFF"/>
                    </a:solidFill>
                  </a:tcPr>
                </a:tc>
                <a:tc>
                  <a:txBody>
                    <a:bodyPr wrap="square"/>
                    <a:lstStyle/>
                    <a:p>
                      <a:r>
                        <a:rPr sz="740" b="0">
                          <a:solidFill>
                            <a:srgbClr val="202124"/>
                          </a:solidFill>
                          <a:latin typeface="Arial"/>
                        </a:rPr>
                        <a:t>ROC AUC 0.996, precision 94%, recall 89%; tool-wear failures are near-random in this set (11% caught)</a:t>
                      </a:r>
                    </a:p>
                  </a:txBody>
                  <a:tcPr marL="45720" marR="45720" marT="22860" marB="22860" anchor="ctr">
                    <a:lnL w="6350" cap="flat" cmpd="sng" algn="ctr">
                      <a:noFill/>
                    </a:lnL>
                    <a:lnR w="6350" cap="flat" cmpd="sng" algn="ctr">
                      <a:noFill/>
                    </a:lnR>
                    <a:lnT w="6350" cap="flat" cmpd="sng" algn="ctr">
                      <a:noFill/>
                    </a:lnT>
                    <a:lnB w="6350" cap="flat" cmpd="sng" algn="ctr">
                      <a:solidFill>
                        <a:srgbClr val="DADCE0"/>
                      </a:solidFill>
                    </a:lnB>
                    <a:solidFill>
                      <a:srgbClr val="FFFFFF"/>
                    </a:solidFill>
                  </a:tcPr>
                </a:tc>
              </a:tr>
              <a:tr h="420624">
                <a:tc>
                  <a:txBody>
                    <a:bodyPr wrap="square"/>
                    <a:lstStyle/>
                    <a:p>
                      <a:r>
                        <a:rPr sz="740" b="1">
                          <a:solidFill>
                            <a:srgbClr val="202124"/>
                          </a:solidFill>
                          <a:latin typeface="Arial"/>
                        </a:rPr>
                        <a:t>App</a:t>
                      </a:r>
                    </a:p>
                  </a:txBody>
                  <a:tcPr marL="45720" marR="45720" marT="22860" marB="22860" anchor="ctr">
                    <a:lnL w="6350" cap="flat" cmpd="sng" algn="ctr">
                      <a:noFill/>
                    </a:lnL>
                    <a:lnR w="6350" cap="flat" cmpd="sng" algn="ctr">
                      <a:noFill/>
                    </a:lnR>
                    <a:lnT w="6350" cap="flat" cmpd="sng" algn="ctr">
                      <a:noFill/>
                    </a:lnT>
                    <a:lnB w="6350" cap="flat" cmpd="sng" algn="ctr">
                      <a:solidFill>
                        <a:srgbClr val="9AA0A6"/>
                      </a:solidFill>
                    </a:lnB>
                    <a:solidFill>
                      <a:srgbClr val="FFFFFF"/>
                    </a:solidFill>
                  </a:tcPr>
                </a:tc>
                <a:tc>
                  <a:txBody>
                    <a:bodyPr wrap="square"/>
                    <a:lstStyle/>
                    <a:p>
                      <a:r>
                        <a:rPr sz="740" b="0">
                          <a:solidFill>
                            <a:srgbClr val="202124"/>
                          </a:solidFill>
                          <a:latin typeface="Arial"/>
                        </a:rPr>
                        <a:t>24 machines, 1-minute data</a:t>
                      </a:r>
                    </a:p>
                  </a:txBody>
                  <a:tcPr marL="45720" marR="45720" marT="22860" marB="22860" anchor="ctr">
                    <a:lnL w="6350" cap="flat" cmpd="sng" algn="ctr">
                      <a:noFill/>
                    </a:lnL>
                    <a:lnR w="6350" cap="flat" cmpd="sng" algn="ctr">
                      <a:noFill/>
                    </a:lnR>
                    <a:lnT w="6350" cap="flat" cmpd="sng" algn="ctr">
                      <a:noFill/>
                    </a:lnT>
                    <a:lnB w="6350" cap="flat" cmpd="sng" algn="ctr">
                      <a:solidFill>
                        <a:srgbClr val="9AA0A6"/>
                      </a:solidFill>
                    </a:lnB>
                    <a:solidFill>
                      <a:srgbClr val="FFFFFF"/>
                    </a:solidFill>
                  </a:tcPr>
                </a:tc>
                <a:tc>
                  <a:txBody>
                    <a:bodyPr wrap="square"/>
                    <a:lstStyle/>
                    <a:p>
                      <a:r>
                        <a:rPr sz="740" b="0">
                          <a:solidFill>
                            <a:srgbClr val="202124"/>
                          </a:solidFill>
                          <a:latin typeface="Arial"/>
                        </a:rPr>
                        <a:t>Overview 0.18 s warm; 5-year simulation (2.1 M machine-hours) about 4.5 s; 38 automated tests pass</a:t>
                      </a:r>
                    </a:p>
                  </a:txBody>
                  <a:tcPr marL="45720" marR="45720" marT="22860" marB="22860" anchor="ctr">
                    <a:lnL w="6350" cap="flat" cmpd="sng" algn="ctr">
                      <a:noFill/>
                    </a:lnL>
                    <a:lnR w="6350" cap="flat" cmpd="sng" algn="ctr">
                      <a:noFill/>
                    </a:lnR>
                    <a:lnT w="6350" cap="flat" cmpd="sng" algn="ctr">
                      <a:noFill/>
                    </a:lnT>
                    <a:lnB w="6350" cap="flat" cmpd="sng" algn="ctr">
                      <a:solidFill>
                        <a:srgbClr val="9AA0A6"/>
                      </a:solidFill>
                    </a:lnB>
                    <a:solidFill>
                      <a:srgbClr val="FFFFFF"/>
                    </a:solidFill>
                  </a:tcPr>
                </a:tc>
              </a:tr>
            </a:tbl>
          </a:graphicData>
        </a:graphic>
      </p:graphicFrame>
      <p:graphicFrame>
        <p:nvGraphicFramePr>
          <p:cNvPr id="146" name="Chart 145"/>
          <p:cNvGraphicFramePr>
            <a:graphicFrameLocks noGrp="1"/>
          </p:cNvGraphicFramePr>
          <p:nvPr/>
        </p:nvGraphicFramePr>
        <p:xfrm>
          <a:off x="5486400" y="1920240"/>
          <a:ext cx="3337560" cy="2286000"/>
        </p:xfrm>
        <a:graphic>
          <a:graphicData uri="http://schemas.openxmlformats.org/drawingml/2006/chart">
            <c:chart r:id="rId5"/>
          </a:graphicData>
        </a:graphic>
      </p:graphicFrame>
      <p:sp>
        <p:nvSpPr>
          <p:cNvPr id="147" name="TextBox 146"/>
          <p:cNvSpPr txBox="1"/>
          <p:nvPr/>
        </p:nvSpPr>
        <p:spPr>
          <a:xfrm>
            <a:off x="5486400" y="1737360"/>
            <a:ext cx="3337560" cy="182880"/>
          </a:xfrm>
          <a:prstGeom prst="rect">
            <a:avLst/>
          </a:prstGeom>
          <a:noFill/>
        </p:spPr>
        <p:txBody>
          <a:bodyPr wrap="square" lIns="0" rIns="0" tIns="0" bIns="0" anchor="t">
            <a:spAutoFit/>
          </a:bodyPr>
          <a:lstStyle/>
          <a:p>
            <a:pPr algn="l">
              <a:spcAft>
                <a:spcPts val="300"/>
              </a:spcAft>
            </a:pPr>
            <a:r>
              <a:rPr sz="800" b="1" i="0">
                <a:solidFill>
                  <a:srgbClr val="202124"/>
                </a:solidFill>
                <a:latin typeface="Arial"/>
              </a:rPr>
              <a:t>Simulated improvement vs published ranges (a check, not a result)</a:t>
            </a:r>
          </a:p>
        </p:txBody>
      </p:sp>
      <p:sp>
        <p:nvSpPr>
          <p:cNvPr id="148" name="TextBox 147"/>
          <p:cNvSpPr txBox="1"/>
          <p:nvPr/>
        </p:nvSpPr>
        <p:spPr>
          <a:xfrm>
            <a:off x="356616" y="4261104"/>
            <a:ext cx="8458200" cy="548640"/>
          </a:xfrm>
          <a:prstGeom prst="rect">
            <a:avLst/>
          </a:prstGeom>
          <a:noFill/>
        </p:spPr>
        <p:txBody>
          <a:bodyPr wrap="square" lIns="0" rIns="0" tIns="0" bIns="0">
            <a:spAutoFit/>
          </a:bodyPr>
          <a:lstStyle/>
          <a:p>
            <a:pPr marL="137160" indent="-137160">
              <a:spcAft>
                <a:spcPts val="200"/>
              </a:spcAft>
              <a:buChar char="•"/>
            </a:pPr>
            <a:r>
              <a:rPr sz="780" b="1">
                <a:solidFill>
                  <a:srgbClr val="202124"/>
                </a:solidFill>
                <a:latin typeface="Arial"/>
              </a:rPr>
              <a:t>Validation status. </a:t>
            </a:r>
            <a:r>
              <a:rPr sz="780" b="0">
                <a:solidFill>
                  <a:srgbClr val="202124"/>
                </a:solidFill>
                <a:latin typeface="Arial"/>
              </a:rPr>
              <a:t>Not yet run on a real plant. The live plant is a calibrated twin and the breakdown reduction follows from our own prevention assumption (recall × 90% coverage × 85% adherence), so the chart checks that assumption against published ranges; it does not validate it. The next slide shows the result at 70%, 60% and 50% adherence.</a:t>
            </a:r>
          </a:p>
          <a:p>
            <a:pPr marL="137160" indent="-137160">
              <a:spcAft>
                <a:spcPts val="200"/>
              </a:spcAft>
              <a:buChar char="•"/>
            </a:pPr>
            <a:r>
              <a:rPr sz="780" b="1">
                <a:solidFill>
                  <a:srgbClr val="202124"/>
                </a:solidFill>
                <a:latin typeface="Arial"/>
              </a:rPr>
              <a:t>Downtime fell 63% against the DOE's 35-45% </a:t>
            </a:r>
            <a:r>
              <a:rPr sz="780" b="0">
                <a:solidFill>
                  <a:srgbClr val="202124"/>
                </a:solidFill>
                <a:latin typeface="Arial"/>
              </a:rPr>
              <a:t>because ours counts equipment stops only; material and set-up stops (17.5% of planned time, from a real line) are identical in both worlds, which is also why OEE moves just +1.0 point.</a:t>
            </a:r>
          </a:p>
        </p:txBody>
      </p:sp>
      <p:sp>
        <p:nvSpPr>
          <p:cNvPr id="149" name="TextBox 148"/>
          <p:cNvSpPr txBox="1"/>
          <p:nvPr/>
        </p:nvSpPr>
        <p:spPr>
          <a:xfrm>
            <a:off x="356616" y="4846320"/>
            <a:ext cx="8458200" cy="274320"/>
          </a:xfrm>
          <a:prstGeom prst="rect">
            <a:avLst/>
          </a:prstGeom>
          <a:noFill/>
        </p:spPr>
        <p:txBody>
          <a:bodyPr wrap="square" lIns="0" rIns="0" tIns="0" bIns="0" anchor="t">
            <a:spAutoFit/>
          </a:bodyPr>
          <a:lstStyle/>
          <a:p>
            <a:pPr algn="l">
              <a:spcAft>
                <a:spcPts val="0"/>
              </a:spcAft>
            </a:pPr>
            <a:r>
              <a:rPr sz="750" b="0" i="0">
                <a:solidFill>
                  <a:srgbClr val="5F6368"/>
                </a:solidFill>
                <a:latin typeface="Arial"/>
              </a:rPr>
              <a:t>Ranges: US DOE/FEMP O&amp;M Best Practices Guide R3.0 §5.4 ('independent surveys'); Deloitte Analytics Institute position paper. Scores: models/*.json.</a:t>
            </a: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pic>
        <p:nvPicPr>
          <p:cNvPr id="148" name="Google Shape;148;p25"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49" name="Google Shape;149;p25"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50" name="Google Shape;150;p25"/>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1" name="Google Shape;151;p25"/>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Additional Details/Future Development (if any)</a:t>
            </a:r>
            <a:endParaRPr sz="1600">
              <a:latin typeface="Google Sans Flex Medium"/>
              <a:ea typeface="Google Sans Flex Medium"/>
              <a:cs typeface="Google Sans Flex Medium"/>
              <a:sym typeface="Google Sans Flex Medium"/>
            </a:endParaRPr>
          </a:p>
        </p:txBody>
      </p:sp>
      <p:sp>
        <p:nvSpPr>
          <p:cNvPr id="152" name="Headline"/>
          <p:cNvSpPr txBox="1"/>
          <p:nvPr/>
        </p:nvSpPr>
        <p:spPr>
          <a:xfrm>
            <a:off x="356616" y="1207008"/>
            <a:ext cx="8458200" cy="457200"/>
          </a:xfrm>
          <a:prstGeom prst="rect">
            <a:avLst/>
          </a:prstGeom>
          <a:noFill/>
        </p:spPr>
        <p:txBody>
          <a:bodyPr wrap="square" lIns="0" rIns="0" tIns="0" bIns="0" anchor="t">
            <a:spAutoFit/>
          </a:bodyPr>
          <a:lstStyle/>
          <a:p>
            <a:pPr algn="l">
              <a:spcAft>
                <a:spcPts val="300"/>
              </a:spcAft>
            </a:pPr>
            <a:r>
              <a:rPr sz="1300" b="1" i="0">
                <a:solidFill>
                  <a:srgbClr val="202124"/>
                </a:solidFill>
                <a:latin typeface="Arial"/>
              </a:rPr>
              <a:t>What comes next, why it can grow, and who gains besides the plant's accountant</a:t>
            </a:r>
          </a:p>
        </p:txBody>
      </p:sp>
      <p:sp>
        <p:nvSpPr>
          <p:cNvPr id="153" name="TextBox 152"/>
          <p:cNvSpPr txBox="1"/>
          <p:nvPr/>
        </p:nvSpPr>
        <p:spPr>
          <a:xfrm>
            <a:off x="356616" y="1783080"/>
            <a:ext cx="2697480" cy="228600"/>
          </a:xfrm>
          <a:prstGeom prst="rect">
            <a:avLst/>
          </a:prstGeom>
          <a:noFill/>
        </p:spPr>
        <p:txBody>
          <a:bodyPr wrap="square" lIns="0" rIns="0" tIns="0" bIns="0" anchor="t">
            <a:spAutoFit/>
          </a:bodyPr>
          <a:lstStyle/>
          <a:p>
            <a:pPr algn="l">
              <a:spcAft>
                <a:spcPts val="300"/>
              </a:spcAft>
            </a:pPr>
            <a:r>
              <a:rPr sz="1050" b="1" i="0">
                <a:solidFill>
                  <a:srgbClr val="202124"/>
                </a:solidFill>
                <a:latin typeface="Arial"/>
              </a:rPr>
              <a:t>Next steps</a:t>
            </a:r>
          </a:p>
        </p:txBody>
      </p:sp>
      <p:cxnSp>
        <p:nvCxnSpPr>
          <p:cNvPr id="154" name="Connector 153"/>
          <p:cNvCxnSpPr/>
          <p:nvPr/>
        </p:nvCxnSpPr>
        <p:spPr>
          <a:xfrm>
            <a:off x="356616" y="2057400"/>
            <a:ext cx="2697480" cy="0"/>
          </a:xfrm>
          <a:prstGeom prst="line">
            <a:avLst/>
          </a:prstGeom>
          <a:ln w="9525">
            <a:solidFill>
              <a:srgbClr val="DADCE0"/>
            </a:solidFill>
          </a:ln>
        </p:spPr>
        <p:style>
          <a:lnRef idx="2">
            <a:schemeClr val="accent1"/>
          </a:lnRef>
          <a:fillRef idx="0">
            <a:schemeClr val="accent1"/>
          </a:fillRef>
          <a:effectRef idx="1">
            <a:schemeClr val="accent1"/>
          </a:effectRef>
          <a:fontRef idx="minor">
            <a:schemeClr val="tx1"/>
          </a:fontRef>
        </p:style>
      </p:cxnSp>
      <p:sp>
        <p:nvSpPr>
          <p:cNvPr id="155" name="TextBox 154"/>
          <p:cNvSpPr txBox="1"/>
          <p:nvPr/>
        </p:nvSpPr>
        <p:spPr>
          <a:xfrm>
            <a:off x="356616" y="2148840"/>
            <a:ext cx="2697480" cy="2651760"/>
          </a:xfrm>
          <a:prstGeom prst="rect">
            <a:avLst/>
          </a:prstGeom>
          <a:noFill/>
        </p:spPr>
        <p:txBody>
          <a:bodyPr wrap="square" lIns="0" rIns="0" tIns="0" bIns="0" anchor="t">
            <a:spAutoFit/>
          </a:bodyPr>
          <a:lstStyle/>
          <a:p>
            <a:pPr algn="l">
              <a:lnSpc>
                <a:spcPct val="110000"/>
              </a:lnSpc>
              <a:spcAft>
                <a:spcPts val="700"/>
              </a:spcAft>
            </a:pPr>
            <a:r>
              <a:rPr sz="950" b="1" i="0">
                <a:solidFill>
                  <a:srgbClr val="202124"/>
                </a:solidFill>
                <a:latin typeface="Arial"/>
              </a:rPr>
              <a:t>Pilot. </a:t>
            </a:r>
            <a:r>
              <a:rPr sz="950" b="0" i="0">
                <a:solidFill>
                  <a:srgbClr val="202124"/>
                </a:solidFill>
                <a:latin typeface="Arial"/>
              </a:rPr>
              <a:t>Six machines in one plant with an OPC UA / MTConnect gateway; health estimators re-fitted per machine during commissioning. No plant has signed yet; the ask of the finale is introductions to two ACMA members.</a:t>
            </a:r>
          </a:p>
          <a:p>
            <a:pPr algn="l">
              <a:lnSpc>
                <a:spcPct val="110000"/>
              </a:lnSpc>
              <a:spcAft>
                <a:spcPts val="700"/>
              </a:spcAft>
            </a:pPr>
            <a:r>
              <a:rPr sz="950" b="1" i="0">
                <a:solidFill>
                  <a:srgbClr val="202124"/>
                </a:solidFill>
                <a:latin typeface="Arial"/>
              </a:rPr>
              <a:t>6 to 12 months. </a:t>
            </a:r>
            <a:r>
              <a:rPr sz="950" b="0" i="0">
                <a:solidFill>
                  <a:srgbClr val="202124"/>
                </a:solidFill>
                <a:latin typeface="Arial"/>
              </a:rPr>
              <a:t>Multi-plant view and benchmarking; Dataflow into BigQuery; per-machine fine-tuning on Vertex AI once six months of real data exist; Live API voice for operators.</a:t>
            </a:r>
          </a:p>
          <a:p>
            <a:pPr algn="l">
              <a:lnSpc>
                <a:spcPct val="110000"/>
              </a:lnSpc>
              <a:spcAft>
                <a:spcPts val="700"/>
              </a:spcAft>
            </a:pPr>
            <a:r>
              <a:rPr sz="950" b="1" i="0">
                <a:solidFill>
                  <a:srgbClr val="202124"/>
                </a:solidFill>
                <a:latin typeface="Arial"/>
              </a:rPr>
              <a:t>Later. </a:t>
            </a:r>
            <a:r>
              <a:rPr sz="950" b="0" i="0">
                <a:solidFill>
                  <a:srgbClr val="202124"/>
                </a:solidFill>
                <a:latin typeface="Arial"/>
              </a:rPr>
              <a:t>Line-camera inspection with Visual Inspection AI; spare-parts auto-ordering; tariff-aware scheduling.</a:t>
            </a:r>
          </a:p>
        </p:txBody>
      </p:sp>
      <p:sp>
        <p:nvSpPr>
          <p:cNvPr id="156" name="TextBox 155"/>
          <p:cNvSpPr txBox="1"/>
          <p:nvPr/>
        </p:nvSpPr>
        <p:spPr>
          <a:xfrm>
            <a:off x="3236976" y="1783080"/>
            <a:ext cx="2697480" cy="228600"/>
          </a:xfrm>
          <a:prstGeom prst="rect">
            <a:avLst/>
          </a:prstGeom>
          <a:noFill/>
        </p:spPr>
        <p:txBody>
          <a:bodyPr wrap="square" lIns="0" rIns="0" tIns="0" bIns="0" anchor="t">
            <a:spAutoFit/>
          </a:bodyPr>
          <a:lstStyle/>
          <a:p>
            <a:pPr algn="l">
              <a:spcAft>
                <a:spcPts val="300"/>
              </a:spcAft>
            </a:pPr>
            <a:r>
              <a:rPr sz="1050" b="1" i="0">
                <a:solidFill>
                  <a:srgbClr val="202124"/>
                </a:solidFill>
                <a:latin typeface="Arial"/>
              </a:rPr>
              <a:t>Why it can grow</a:t>
            </a:r>
          </a:p>
        </p:txBody>
      </p:sp>
      <p:cxnSp>
        <p:nvCxnSpPr>
          <p:cNvPr id="157" name="Connector 156"/>
          <p:cNvCxnSpPr/>
          <p:nvPr/>
        </p:nvCxnSpPr>
        <p:spPr>
          <a:xfrm>
            <a:off x="3236976" y="2057400"/>
            <a:ext cx="2697480" cy="0"/>
          </a:xfrm>
          <a:prstGeom prst="line">
            <a:avLst/>
          </a:prstGeom>
          <a:ln w="9525">
            <a:solidFill>
              <a:srgbClr val="DADCE0"/>
            </a:solidFill>
          </a:ln>
        </p:spPr>
        <p:style>
          <a:lnRef idx="2">
            <a:schemeClr val="accent1"/>
          </a:lnRef>
          <a:fillRef idx="0">
            <a:schemeClr val="accent1"/>
          </a:fillRef>
          <a:effectRef idx="1">
            <a:schemeClr val="accent1"/>
          </a:effectRef>
          <a:fontRef idx="minor">
            <a:schemeClr val="tx1"/>
          </a:fontRef>
        </p:style>
      </p:cxnSp>
      <p:sp>
        <p:nvSpPr>
          <p:cNvPr id="158" name="TextBox 157"/>
          <p:cNvSpPr txBox="1"/>
          <p:nvPr/>
        </p:nvSpPr>
        <p:spPr>
          <a:xfrm>
            <a:off x="3236976" y="2148840"/>
            <a:ext cx="2697480" cy="2651760"/>
          </a:xfrm>
          <a:prstGeom prst="rect">
            <a:avLst/>
          </a:prstGeom>
          <a:noFill/>
        </p:spPr>
        <p:txBody>
          <a:bodyPr wrap="square" lIns="0" rIns="0" tIns="0" bIns="0" anchor="t">
            <a:spAutoFit/>
          </a:bodyPr>
          <a:lstStyle/>
          <a:p>
            <a:pPr algn="l">
              <a:lnSpc>
                <a:spcPct val="110000"/>
              </a:lnSpc>
              <a:spcAft>
                <a:spcPts val="700"/>
              </a:spcAft>
            </a:pPr>
            <a:r>
              <a:rPr sz="950" b="0" i="0">
                <a:solidFill>
                  <a:srgbClr val="202124"/>
                </a:solidFill>
                <a:latin typeface="Arial"/>
              </a:rPr>
              <a:t>The 1,100+ ACMA members alone, at ₹8.4 lakh a year each, are about ₹92 crore a year of recurring revenue, before counting non-member job shops. India bought about USD 3.7 billion of machine tools in FY25, roughly half for automotive (IMTMA).</a:t>
            </a:r>
          </a:p>
          <a:p>
            <a:pPr algn="l">
              <a:lnSpc>
                <a:spcPct val="110000"/>
              </a:lnSpc>
              <a:spcAft>
                <a:spcPts val="700"/>
              </a:spcAft>
            </a:pPr>
            <a:r>
              <a:rPr sz="950" b="0" i="0">
                <a:solidFill>
                  <a:srgbClr val="202124"/>
                </a:solidFill>
                <a:latin typeface="Arial"/>
              </a:rPr>
              <a:t>The models see health-index features rather than raw machine-specific sensors, so they transfer to any machine that can produce a health index. One container per plant today; the same image serves a plant group once readings are real, with Postgres holding the state.</a:t>
            </a:r>
          </a:p>
          <a:p>
            <a:pPr algn="l">
              <a:lnSpc>
                <a:spcPct val="110000"/>
              </a:lnSpc>
              <a:spcAft>
                <a:spcPts val="700"/>
              </a:spcAft>
            </a:pPr>
            <a:r>
              <a:rPr sz="950" b="0" i="0">
                <a:solidFill>
                  <a:srgbClr val="202124"/>
                </a:solidFill>
                <a:latin typeface="Arial"/>
              </a:rPr>
              <a:t>Cloud costs about ₹1.5 lakh a year per plant at full use, and nothing until a plant decides to pay.</a:t>
            </a:r>
          </a:p>
        </p:txBody>
      </p:sp>
      <p:sp>
        <p:nvSpPr>
          <p:cNvPr id="159" name="TextBox 158"/>
          <p:cNvSpPr txBox="1"/>
          <p:nvPr/>
        </p:nvSpPr>
        <p:spPr>
          <a:xfrm>
            <a:off x="6117336" y="1783080"/>
            <a:ext cx="2697480" cy="228600"/>
          </a:xfrm>
          <a:prstGeom prst="rect">
            <a:avLst/>
          </a:prstGeom>
          <a:noFill/>
        </p:spPr>
        <p:txBody>
          <a:bodyPr wrap="square" lIns="0" rIns="0" tIns="0" bIns="0" anchor="t">
            <a:spAutoFit/>
          </a:bodyPr>
          <a:lstStyle/>
          <a:p>
            <a:pPr algn="l">
              <a:spcAft>
                <a:spcPts val="300"/>
              </a:spcAft>
            </a:pPr>
            <a:r>
              <a:rPr sz="1050" b="1" i="0">
                <a:solidFill>
                  <a:srgbClr val="202124"/>
                </a:solidFill>
                <a:latin typeface="Arial"/>
              </a:rPr>
              <a:t>Who else gains</a:t>
            </a:r>
          </a:p>
        </p:txBody>
      </p:sp>
      <p:cxnSp>
        <p:nvCxnSpPr>
          <p:cNvPr id="160" name="Connector 159"/>
          <p:cNvCxnSpPr/>
          <p:nvPr/>
        </p:nvCxnSpPr>
        <p:spPr>
          <a:xfrm>
            <a:off x="6117336" y="2057400"/>
            <a:ext cx="2697480" cy="0"/>
          </a:xfrm>
          <a:prstGeom prst="line">
            <a:avLst/>
          </a:prstGeom>
          <a:ln w="9525">
            <a:solidFill>
              <a:srgbClr val="DADCE0"/>
            </a:solidFill>
          </a:ln>
        </p:spPr>
        <p:style>
          <a:lnRef idx="2">
            <a:schemeClr val="accent1"/>
          </a:lnRef>
          <a:fillRef idx="0">
            <a:schemeClr val="accent1"/>
          </a:fillRef>
          <a:effectRef idx="1">
            <a:schemeClr val="accent1"/>
          </a:effectRef>
          <a:fontRef idx="minor">
            <a:schemeClr val="tx1"/>
          </a:fontRef>
        </p:style>
      </p:cxnSp>
      <p:sp>
        <p:nvSpPr>
          <p:cNvPr id="161" name="TextBox 160"/>
          <p:cNvSpPr txBox="1"/>
          <p:nvPr/>
        </p:nvSpPr>
        <p:spPr>
          <a:xfrm>
            <a:off x="6117336" y="2148840"/>
            <a:ext cx="2697480" cy="2651760"/>
          </a:xfrm>
          <a:prstGeom prst="rect">
            <a:avLst/>
          </a:prstGeom>
          <a:noFill/>
        </p:spPr>
        <p:txBody>
          <a:bodyPr wrap="square" lIns="0" rIns="0" tIns="0" bIns="0" anchor="t">
            <a:spAutoFit/>
          </a:bodyPr>
          <a:lstStyle/>
          <a:p>
            <a:pPr algn="l">
              <a:lnSpc>
                <a:spcPct val="110000"/>
              </a:lnSpc>
              <a:spcAft>
                <a:spcPts val="700"/>
              </a:spcAft>
            </a:pPr>
            <a:r>
              <a:rPr sz="950" b="1" i="0">
                <a:solidFill>
                  <a:srgbClr val="202124"/>
                </a:solidFill>
                <a:latin typeface="Arial"/>
              </a:rPr>
              <a:t>Workers. </a:t>
            </a:r>
            <a:r>
              <a:rPr sz="950" b="0" i="0">
                <a:solidFill>
                  <a:srgbClr val="202124"/>
                </a:solidFill>
                <a:latin typeface="Arial"/>
              </a:rPr>
              <a:t>1.5 million people work directly in Indian auto components (ACMA). Fewer 2 a.m. emergency repairs; lockout-tagout steps are part of every stop recommendation.</a:t>
            </a:r>
          </a:p>
          <a:p>
            <a:pPr algn="l">
              <a:lnSpc>
                <a:spcPct val="110000"/>
              </a:lnSpc>
              <a:spcAft>
                <a:spcPts val="700"/>
              </a:spcAft>
            </a:pPr>
            <a:r>
              <a:rPr sz="950" b="1" i="0">
                <a:solidFill>
                  <a:srgbClr val="202124"/>
                </a:solidFill>
                <a:latin typeface="Arial"/>
              </a:rPr>
              <a:t>Language and access. </a:t>
            </a:r>
            <a:r>
              <a:rPr sz="950" b="0" i="0">
                <a:solidFill>
                  <a:srgbClr val="202124"/>
                </a:solidFill>
                <a:latin typeface="Arial"/>
              </a:rPr>
              <a:t>Hindi, Telugu, Tamil, Kannada, Marathi; read-aloud and voice for low-literacy and low-vision staff; WCAG 2.2 AA.</a:t>
            </a:r>
          </a:p>
          <a:p>
            <a:pPr algn="l">
              <a:lnSpc>
                <a:spcPct val="110000"/>
              </a:lnSpc>
              <a:spcAft>
                <a:spcPts val="700"/>
              </a:spcAft>
            </a:pPr>
            <a:r>
              <a:rPr sz="950" b="1" i="0">
                <a:solidFill>
                  <a:srgbClr val="202124"/>
                </a:solidFill>
                <a:latin typeface="Arial"/>
              </a:rPr>
              <a:t>Energy. </a:t>
            </a:r>
            <a:r>
              <a:rPr sz="950" b="0" i="0">
                <a:solidFill>
                  <a:srgbClr val="202124"/>
                </a:solidFill>
                <a:latin typeface="Arial"/>
              </a:rPr>
              <a:t>507 MWh and 342 t CO₂ avoided per 24-machine plant over five years in the simulation, mostly from idle spindles and coolant pumps put on standby.</a:t>
            </a:r>
          </a:p>
        </p:txBody>
      </p:sp>
      <p:sp>
        <p:nvSpPr>
          <p:cNvPr id="162" name="TextBox 161"/>
          <p:cNvSpPr txBox="1"/>
          <p:nvPr/>
        </p:nvSpPr>
        <p:spPr>
          <a:xfrm>
            <a:off x="356616" y="4800600"/>
            <a:ext cx="8458200" cy="274320"/>
          </a:xfrm>
          <a:prstGeom prst="rect">
            <a:avLst/>
          </a:prstGeom>
          <a:noFill/>
        </p:spPr>
        <p:txBody>
          <a:bodyPr wrap="square" lIns="0" rIns="0" tIns="0" bIns="0" anchor="t">
            <a:spAutoFit/>
          </a:bodyPr>
          <a:lstStyle/>
          <a:p>
            <a:pPr algn="l">
              <a:spcAft>
                <a:spcPts val="0"/>
              </a:spcAft>
            </a:pPr>
            <a:r>
              <a:rPr sz="750" b="0" i="0">
                <a:solidFill>
                  <a:srgbClr val="5F6368"/>
                </a:solidFill>
                <a:latin typeface="Arial"/>
              </a:rPr>
              <a:t>IMTMA figure as reported at the AMT/IMTMA briefing, 2025; ACMA FY26 review. Revenue figure is members × our list price, not a forecast.</a:t>
            </a: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pic>
        <p:nvPicPr>
          <p:cNvPr id="156" name="Google Shape;156;p26"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57" name="Google Shape;157;p26"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58" name="Google Shape;158;p26"/>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9" name="Google Shape;159;p26"/>
          <p:cNvSpPr txBox="1"/>
          <p:nvPr/>
        </p:nvSpPr>
        <p:spPr>
          <a:xfrm>
            <a:off x="265350" y="663825"/>
            <a:ext cx="8943000" cy="1333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Provide links to your:</a:t>
            </a:r>
            <a:endParaRPr sz="1600">
              <a:latin typeface="Google Sans Flex Medium"/>
              <a:ea typeface="Google Sans Flex Medium"/>
              <a:cs typeface="Google Sans Flex Medium"/>
              <a:sym typeface="Google Sans Flex Medium"/>
            </a:endParaRPr>
          </a:p>
          <a:p>
            <a:pPr indent="0" lvl="0" marL="0" rtl="0" algn="l">
              <a:spcBef>
                <a:spcPts val="0"/>
              </a:spcBef>
              <a:spcAft>
                <a:spcPts val="0"/>
              </a:spcAft>
              <a:buNone/>
            </a:pPr>
            <a:r>
              <a:t/>
            </a:r>
            <a:endParaRPr sz="1600">
              <a:latin typeface="Google Sans Flex Medium"/>
              <a:ea typeface="Google Sans Flex Medium"/>
              <a:cs typeface="Google Sans Flex Medium"/>
              <a:sym typeface="Google Sans Flex Medium"/>
            </a:endParaRPr>
          </a:p>
          <a:p>
            <a:pPr indent="-317500" lvl="0" marL="457200" rtl="0" algn="l">
              <a:spcBef>
                <a:spcPts val="0"/>
              </a:spcBef>
              <a:spcAft>
                <a:spcPts val="0"/>
              </a:spcAft>
              <a:buSzPts val="1400"/>
              <a:buFont typeface="Google Sans Flex Medium"/>
              <a:buChar char="●"/>
            </a:pPr>
            <a:r>
              <a:rPr lang="en-GB">
                <a:latin typeface="Google Sans Flex Medium"/>
                <a:ea typeface="Google Sans Flex Medium"/>
                <a:cs typeface="Google Sans Flex Medium"/>
                <a:sym typeface="Google Sans Flex Medium"/>
              </a:rPr>
              <a:t>GitHub Public Repository</a:t>
            </a:r>
            <a:endParaRPr>
              <a:latin typeface="Google Sans Flex Medium"/>
              <a:ea typeface="Google Sans Flex Medium"/>
              <a:cs typeface="Google Sans Flex Medium"/>
              <a:sym typeface="Google Sans Flex Medium"/>
            </a:endParaRPr>
            <a:r>
              <a:rPr lang="en-GB">
                <a:solidFill>
                  <a:srgbClr val="1A56DB"/>
                </a:solidFill>
                <a:latin typeface="Google Sans Flex Medium"/>
                <a:ea typeface="Google Sans Flex Medium"/>
                <a:cs typeface="Google Sans Flex Medium"/>
                <a:sym typeface="Google Sans Flex Medium"/>
              </a:rPr>
              <a:t>:  github.com/srihitha2005/Opex</a:t>
            </a:r>
          </a:p>
          <a:p>
            <a:pPr indent="-317500" lvl="0" marL="457200" rtl="0" algn="l">
              <a:spcBef>
                <a:spcPts val="0"/>
              </a:spcBef>
              <a:spcAft>
                <a:spcPts val="0"/>
              </a:spcAft>
              <a:buSzPts val="1400"/>
              <a:buFont typeface="Google Sans Flex Medium"/>
              <a:buChar char="●"/>
            </a:pPr>
            <a:r>
              <a:rPr lang="en-GB">
                <a:latin typeface="Google Sans Flex Medium"/>
                <a:ea typeface="Google Sans Flex Medium"/>
                <a:cs typeface="Google Sans Flex Medium"/>
                <a:sym typeface="Google Sans Flex Medium"/>
              </a:rPr>
              <a:t>Demo Video Link (3 Minutes)</a:t>
            </a:r>
            <a:endParaRPr>
              <a:latin typeface="Google Sans Flex Medium"/>
              <a:ea typeface="Google Sans Flex Medium"/>
              <a:cs typeface="Google Sans Flex Medium"/>
              <a:sym typeface="Google Sans Flex Medium"/>
            </a:endParaRPr>
            <a:r>
              <a:rPr lang="en-GB">
                <a:solidFill>
                  <a:srgbClr val="1A56DB"/>
                </a:solidFill>
                <a:latin typeface="Google Sans Flex Medium"/>
                <a:ea typeface="Google Sans Flex Medium"/>
                <a:cs typeface="Google Sans Flex Medium"/>
                <a:sym typeface="Google Sans Flex Medium"/>
              </a:rPr>
              <a:t>:  [add before submitting]</a:t>
            </a:r>
          </a:p>
          <a:p>
            <a:pPr indent="-317500" lvl="0" marL="457200" rtl="0" algn="l">
              <a:spcBef>
                <a:spcPts val="0"/>
              </a:spcBef>
              <a:spcAft>
                <a:spcPts val="0"/>
              </a:spcAft>
              <a:buSzPts val="1400"/>
              <a:buFont typeface="Google Sans Flex Medium"/>
              <a:buChar char="●"/>
            </a:pPr>
            <a:r>
              <a:rPr lang="en-GB">
                <a:latin typeface="Google Sans Flex Medium"/>
                <a:ea typeface="Google Sans Flex Medium"/>
                <a:cs typeface="Google Sans Flex Medium"/>
                <a:sym typeface="Google Sans Flex Medium"/>
              </a:rPr>
              <a:t>Final Product Link</a:t>
            </a:r>
            <a:endParaRPr>
              <a:latin typeface="Google Sans Flex Medium"/>
              <a:ea typeface="Google Sans Flex Medium"/>
              <a:cs typeface="Google Sans Flex Medium"/>
              <a:sym typeface="Google Sans Flex Medium"/>
            </a:endParaRPr>
            <a:r>
              <a:rPr lang="en-GB">
                <a:solidFill>
                  <a:srgbClr val="1A56DB"/>
                </a:solidFill>
                <a:latin typeface="Google Sans Flex Medium"/>
                <a:ea typeface="Google Sans Flex Medium"/>
                <a:cs typeface="Google Sans Flex Medium"/>
                <a:sym typeface="Google Sans Flex Medium"/>
              </a:rPr>
              <a:t>:  [add before submitting]</a:t>
            </a:r>
          </a:p>
          <a:p>
            <a:pPr indent="0" lvl="0" marL="0" rtl="0" algn="l">
              <a:spcBef>
                <a:spcPts val="0"/>
              </a:spcBef>
              <a:spcAft>
                <a:spcPts val="0"/>
              </a:spcAft>
              <a:buNone/>
            </a:pPr>
            <a:r>
              <a:t/>
            </a:r>
            <a:endParaRPr sz="1600">
              <a:latin typeface="Google Sans Flex Medium"/>
              <a:ea typeface="Google Sans Flex Medium"/>
              <a:cs typeface="Google Sans Flex Medium"/>
              <a:sym typeface="Google Sans Flex Medium"/>
            </a:endParaRPr>
          </a:p>
        </p:txBody>
      </p:sp>
      <p:sp>
        <p:nvSpPr>
          <p:cNvPr id="160" name="TextBox 159"/>
          <p:cNvSpPr txBox="1"/>
          <p:nvPr/>
        </p:nvSpPr>
        <p:spPr>
          <a:xfrm>
            <a:off x="356616" y="2240280"/>
            <a:ext cx="5029200" cy="274320"/>
          </a:xfrm>
          <a:prstGeom prst="rect">
            <a:avLst/>
          </a:prstGeom>
          <a:noFill/>
        </p:spPr>
        <p:txBody>
          <a:bodyPr wrap="square" lIns="0" rIns="0" tIns="0" bIns="0" anchor="t">
            <a:spAutoFit/>
          </a:bodyPr>
          <a:lstStyle/>
          <a:p>
            <a:pPr algn="l">
              <a:spcAft>
                <a:spcPts val="300"/>
              </a:spcAft>
            </a:pPr>
            <a:r>
              <a:rPr sz="1100" b="1" i="0">
                <a:solidFill>
                  <a:srgbClr val="202124"/>
                </a:solidFill>
                <a:latin typeface="Arial"/>
              </a:rPr>
              <a:t>Try it in 60 seconds</a:t>
            </a:r>
          </a:p>
        </p:txBody>
      </p:sp>
      <p:sp>
        <p:nvSpPr>
          <p:cNvPr id="161" name="TextBox 160"/>
          <p:cNvSpPr txBox="1"/>
          <p:nvPr/>
        </p:nvSpPr>
        <p:spPr>
          <a:xfrm>
            <a:off x="356616" y="2560320"/>
            <a:ext cx="5029200" cy="2103120"/>
          </a:xfrm>
          <a:prstGeom prst="rect">
            <a:avLst/>
          </a:prstGeom>
          <a:noFill/>
        </p:spPr>
        <p:txBody>
          <a:bodyPr wrap="square" lIns="0" rIns="0" tIns="0" bIns="0" anchor="t">
            <a:spAutoFit/>
          </a:bodyPr>
          <a:lstStyle/>
          <a:p>
            <a:pPr algn="l">
              <a:lnSpc>
                <a:spcPct val="106000"/>
              </a:lnSpc>
              <a:spcAft>
                <a:spcPts val="600"/>
              </a:spcAft>
            </a:pPr>
            <a:r>
              <a:rPr sz="950" b="1" i="0">
                <a:solidFill>
                  <a:srgbClr val="202124"/>
                </a:solidFill>
                <a:latin typeface="Arial"/>
              </a:rPr>
              <a:t>1.  </a:t>
            </a:r>
            <a:r>
              <a:rPr sz="950" b="0" i="0">
                <a:solidFill>
                  <a:srgbClr val="202124"/>
                </a:solidFill>
                <a:latin typeface="Arial"/>
              </a:rPr>
              <a:t>Click 'Explore as a guest' on the sign-in page (demo accounts are listed in the README).</a:t>
            </a:r>
          </a:p>
          <a:p>
            <a:pPr algn="l">
              <a:lnSpc>
                <a:spcPct val="106000"/>
              </a:lnSpc>
              <a:spcAft>
                <a:spcPts val="600"/>
              </a:spcAft>
            </a:pPr>
            <a:r>
              <a:rPr sz="950" b="1" i="0">
                <a:solidFill>
                  <a:srgbClr val="202124"/>
                </a:solidFill>
                <a:latin typeface="Arial"/>
              </a:rPr>
              <a:t>2.  </a:t>
            </a:r>
            <a:r>
              <a:rPr sz="950" b="0" i="0">
                <a:solidFill>
                  <a:srgbClr val="202124"/>
                </a:solidFill>
                <a:latin typeface="Arial"/>
              </a:rPr>
              <a:t>Open M-17. Read steps 1 to 4, open the AI incident room, compare the priced options, approve one.</a:t>
            </a:r>
          </a:p>
          <a:p>
            <a:pPr algn="l">
              <a:lnSpc>
                <a:spcPct val="106000"/>
              </a:lnSpc>
              <a:spcAft>
                <a:spcPts val="600"/>
              </a:spcAft>
            </a:pPr>
            <a:r>
              <a:rPr sz="950" b="1" i="0">
                <a:solidFill>
                  <a:srgbClr val="202124"/>
                </a:solidFill>
                <a:latin typeface="Arial"/>
              </a:rPr>
              <a:t>3.  </a:t>
            </a:r>
            <a:r>
              <a:rPr sz="950" b="0" i="0">
                <a:solidFill>
                  <a:srgbClr val="202124"/>
                </a:solidFill>
                <a:latin typeface="Arial"/>
              </a:rPr>
              <a:t>Open 5-year simulation, choose a 20-second replay, Simulate, Skip to results, then Rewind the factory.</a:t>
            </a:r>
          </a:p>
          <a:p>
            <a:pPr algn="l">
              <a:lnSpc>
                <a:spcPct val="106000"/>
              </a:lnSpc>
              <a:spcAft>
                <a:spcPts val="600"/>
              </a:spcAft>
            </a:pPr>
            <a:r>
              <a:rPr sz="950" b="1" i="0">
                <a:solidFill>
                  <a:srgbClr val="202124"/>
                </a:solidFill>
                <a:latin typeface="Arial"/>
              </a:rPr>
              <a:t>4.  </a:t>
            </a:r>
            <a:r>
              <a:rPr sz="950" b="0" i="0">
                <a:solidFill>
                  <a:srgbClr val="202124"/>
                </a:solidFill>
                <a:latin typeface="Arial"/>
              </a:rPr>
              <a:t>Ask OpEx: 'What happens if I shut down Machine 17?' by voice, in Hindi if you like.</a:t>
            </a:r>
          </a:p>
          <a:p>
            <a:pPr algn="l">
              <a:lnSpc>
                <a:spcPct val="106000"/>
              </a:lnSpc>
              <a:spcAft>
                <a:spcPts val="600"/>
              </a:spcAft>
            </a:pPr>
            <a:r>
              <a:rPr sz="950" b="1" i="0">
                <a:solidFill>
                  <a:srgbClr val="202124"/>
                </a:solidFill>
                <a:latin typeface="Arial"/>
              </a:rPr>
              <a:t>5.  </a:t>
            </a:r>
            <a:r>
              <a:rPr sz="950" b="0" i="0">
                <a:solidFill>
                  <a:srgbClr val="202124"/>
                </a:solidFill>
                <a:latin typeface="Arial"/>
              </a:rPr>
              <a:t>Settings → Display: high contrast, extra-large text, Lexend, simple words.</a:t>
            </a:r>
          </a:p>
        </p:txBody>
      </p:sp>
      <p:pic>
        <p:nvPicPr>
          <p:cNvPr id="162" name="Picture 161" descr="09_simulation_live_540_300_1680_1170.png"/>
          <p:cNvPicPr>
            <a:picLocks noChangeAspect="1"/>
          </p:cNvPicPr>
          <p:nvPr/>
        </p:nvPicPr>
        <p:blipFill>
          <a:blip r:embed="rId5"/>
          <a:stretch>
            <a:fillRect/>
          </a:stretch>
        </p:blipFill>
        <p:spPr>
          <a:xfrm>
            <a:off x="5623560" y="2240280"/>
            <a:ext cx="3175175" cy="2423160"/>
          </a:xfrm>
          <a:prstGeom prst="rect">
            <a:avLst/>
          </a:prstGeom>
          <a:ln w="9525">
            <a:solidFill>
              <a:srgbClr val="DADCE0"/>
            </a:solidFill>
          </a:ln>
        </p:spPr>
      </p:pic>
      <p:sp>
        <p:nvSpPr>
          <p:cNvPr id="163" name="TextBox 162"/>
          <p:cNvSpPr txBox="1"/>
          <p:nvPr/>
        </p:nvSpPr>
        <p:spPr>
          <a:xfrm>
            <a:off x="5623560" y="4681728"/>
            <a:ext cx="3200400" cy="274320"/>
          </a:xfrm>
          <a:prstGeom prst="rect">
            <a:avLst/>
          </a:prstGeom>
          <a:noFill/>
        </p:spPr>
        <p:txBody>
          <a:bodyPr wrap="square" lIns="0" rIns="0" tIns="0" bIns="0" anchor="t">
            <a:spAutoFit/>
          </a:bodyPr>
          <a:lstStyle/>
          <a:p>
            <a:pPr algn="l">
              <a:spcAft>
                <a:spcPts val="300"/>
              </a:spcAft>
            </a:pPr>
            <a:r>
              <a:rPr sz="750" b="0" i="0">
                <a:solidFill>
                  <a:srgbClr val="5F6368"/>
                </a:solidFill>
                <a:latin typeface="Arial"/>
              </a:rPr>
              <a:t>5-year simulation at day 665: value created so far and the running with-vs-without table.</a:t>
            </a:r>
          </a:p>
        </p:txBody>
      </p:sp>
      <p:sp>
        <p:nvSpPr>
          <p:cNvPr id="164" name="TextBox 163"/>
          <p:cNvSpPr txBox="1"/>
          <p:nvPr/>
        </p:nvSpPr>
        <p:spPr>
          <a:xfrm>
            <a:off x="356616" y="4681728"/>
            <a:ext cx="5029200" cy="228600"/>
          </a:xfrm>
          <a:prstGeom prst="rect">
            <a:avLst/>
          </a:prstGeom>
          <a:noFill/>
        </p:spPr>
        <p:txBody>
          <a:bodyPr wrap="square" lIns="0" rIns="0" tIns="0" bIns="0" anchor="t">
            <a:spAutoFit/>
          </a:bodyPr>
          <a:lstStyle/>
          <a:p>
            <a:pPr algn="l">
              <a:spcAft>
                <a:spcPts val="300"/>
              </a:spcAft>
            </a:pPr>
            <a:r>
              <a:rPr sz="750" b="0" i="0">
                <a:solidFill>
                  <a:srgbClr val="5F6368"/>
                </a:solidFill>
                <a:latin typeface="Arial"/>
              </a:rPr>
              <a:t>AUDIT.md explains every key in plain language; HOW_TO_RUN.md has the 3-minute tour.</a:t>
            </a: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pic>
        <p:nvPicPr>
          <p:cNvPr id="164" name="Google Shape;164;p27"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65" name="Google Shape;165;p27"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66" name="Google Shape;166;p27"/>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1" name="Google Shape;71;p15"/>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How we calculated the 5-year numbers</a:t>
            </a:r>
            <a:endParaRPr sz="1600">
              <a:latin typeface="Google Sans Flex Medium"/>
              <a:ea typeface="Google Sans Flex Medium"/>
              <a:cs typeface="Google Sans Flex Medium"/>
              <a:sym typeface="Google Sans Flex Medium"/>
            </a:endParaRPr>
          </a:p>
        </p:txBody>
      </p:sp>
      <p:sp>
        <p:nvSpPr>
          <p:cNvPr id="167" name="Headline"/>
          <p:cNvSpPr txBox="1"/>
          <p:nvPr/>
        </p:nvSpPr>
        <p:spPr>
          <a:xfrm>
            <a:off x="356616" y="1207008"/>
            <a:ext cx="8458200" cy="457200"/>
          </a:xfrm>
          <a:prstGeom prst="rect">
            <a:avLst/>
          </a:prstGeom>
          <a:noFill/>
        </p:spPr>
        <p:txBody>
          <a:bodyPr wrap="square" lIns="0" rIns="0" tIns="0" bIns="0" anchor="t">
            <a:spAutoFit/>
          </a:bodyPr>
          <a:lstStyle/>
          <a:p>
            <a:pPr algn="l">
              <a:spcAft>
                <a:spcPts val="300"/>
              </a:spcAft>
            </a:pPr>
            <a:r>
              <a:rPr sz="1300" b="1" i="0">
                <a:solidFill>
                  <a:srgbClr val="202124"/>
                </a:solidFill>
                <a:latin typeface="Arial"/>
              </a:rPr>
              <a:t>Same plant, same luck, two policies. Every random draw is shared, so the ₹7.11 Cr comes only from the decisions.</a:t>
            </a:r>
          </a:p>
        </p:txBody>
      </p:sp>
      <p:graphicFrame>
        <p:nvGraphicFramePr>
          <p:cNvPr id="168" name="Table 167"/>
          <p:cNvGraphicFramePr>
            <a:graphicFrameLocks noGrp="1"/>
          </p:cNvGraphicFramePr>
          <p:nvPr/>
        </p:nvGraphicFramePr>
        <p:xfrm>
          <a:off x="356616" y="1691640"/>
          <a:ext cx="5212080" cy="1920240"/>
        </p:xfrm>
        <a:graphic>
          <a:graphicData uri="http://schemas.openxmlformats.org/drawingml/2006/table">
            <a:tbl>
              <a:tblPr firstRow="1">
                <a:tableStyleId>{5C22544A-7EE6-4342-B048-85BDC9FD1C3A}</a:tableStyleId>
              </a:tblPr>
              <a:tblGrid>
                <a:gridCol w="1143000"/>
                <a:gridCol w="3291840"/>
                <a:gridCol w="777240"/>
              </a:tblGrid>
              <a:tr h="274320">
                <a:tc>
                  <a:txBody>
                    <a:bodyPr wrap="square"/>
                    <a:lstStyle/>
                    <a:p>
                      <a:r>
                        <a:rPr sz="760" b="1">
                          <a:solidFill>
                            <a:srgbClr val="5F6368"/>
                          </a:solidFill>
                          <a:latin typeface="Arial"/>
                        </a:rPr>
                        <a:t>Benefit line</a:t>
                      </a:r>
                    </a:p>
                  </a:txBody>
                  <a:tcPr marL="45720" marR="45720" marT="22860" marB="22860" anchor="ctr">
                    <a:lnL w="6350" cap="flat" cmpd="sng" algn="ctr">
                      <a:noFill/>
                    </a:lnL>
                    <a:lnR w="6350" cap="flat" cmpd="sng" algn="ctr">
                      <a:noFill/>
                    </a:lnR>
                    <a:lnT w="6350" cap="flat" cmpd="sng" algn="ctr">
                      <a:noFill/>
                    </a:lnT>
                    <a:lnB w="12700" cap="flat" cmpd="sng" algn="ctr">
                      <a:solidFill>
                        <a:srgbClr val="DADCE0"/>
                      </a:solidFill>
                    </a:lnB>
                    <a:solidFill>
                      <a:srgbClr val="F1F3F4"/>
                    </a:solidFill>
                  </a:tcPr>
                </a:tc>
                <a:tc>
                  <a:txBody>
                    <a:bodyPr wrap="square"/>
                    <a:lstStyle/>
                    <a:p>
                      <a:r>
                        <a:rPr sz="760" b="1">
                          <a:solidFill>
                            <a:srgbClr val="5F6368"/>
                          </a:solidFill>
                          <a:latin typeface="Arial"/>
                        </a:rPr>
                        <a:t>Formula and inputs</a:t>
                      </a:r>
                    </a:p>
                  </a:txBody>
                  <a:tcPr marL="45720" marR="45720" marT="22860" marB="22860" anchor="ctr">
                    <a:lnL w="6350" cap="flat" cmpd="sng" algn="ctr">
                      <a:noFill/>
                    </a:lnL>
                    <a:lnR w="6350" cap="flat" cmpd="sng" algn="ctr">
                      <a:noFill/>
                    </a:lnR>
                    <a:lnT w="6350" cap="flat" cmpd="sng" algn="ctr">
                      <a:noFill/>
                    </a:lnT>
                    <a:lnB w="12700" cap="flat" cmpd="sng" algn="ctr">
                      <a:solidFill>
                        <a:srgbClr val="DADCE0"/>
                      </a:solidFill>
                    </a:lnB>
                    <a:solidFill>
                      <a:srgbClr val="F1F3F4"/>
                    </a:solidFill>
                  </a:tcPr>
                </a:tc>
                <a:tc>
                  <a:txBody>
                    <a:bodyPr wrap="square"/>
                    <a:lstStyle/>
                    <a:p>
                      <a:pPr algn="r"/>
                      <a:r>
                        <a:rPr sz="760" b="1">
                          <a:solidFill>
                            <a:srgbClr val="5F6368"/>
                          </a:solidFill>
                          <a:latin typeface="Arial"/>
                        </a:rPr>
                        <a:t>5 years</a:t>
                      </a:r>
                    </a:p>
                  </a:txBody>
                  <a:tcPr marL="45720" marR="45720" marT="22860" marB="22860" anchor="ctr">
                    <a:lnL w="6350" cap="flat" cmpd="sng" algn="ctr">
                      <a:noFill/>
                    </a:lnL>
                    <a:lnR w="6350" cap="flat" cmpd="sng" algn="ctr">
                      <a:noFill/>
                    </a:lnR>
                    <a:lnT w="6350" cap="flat" cmpd="sng" algn="ctr">
                      <a:noFill/>
                    </a:lnT>
                    <a:lnB w="12700" cap="flat" cmpd="sng" algn="ctr">
                      <a:solidFill>
                        <a:srgbClr val="DADCE0"/>
                      </a:solidFill>
                    </a:lnB>
                    <a:solidFill>
                      <a:srgbClr val="F1F3F4"/>
                    </a:solidFill>
                  </a:tcPr>
                </a:tc>
              </a:tr>
              <a:tr h="274320">
                <a:tc>
                  <a:txBody>
                    <a:bodyPr wrap="square"/>
                    <a:lstStyle/>
                    <a:p>
                      <a:r>
                        <a:rPr sz="760" b="1">
                          <a:solidFill>
                            <a:srgbClr val="202124"/>
                          </a:solidFill>
                          <a:latin typeface="Arial"/>
                        </a:rPr>
                        <a:t>Production protected</a:t>
                      </a:r>
                    </a:p>
                  </a:txBody>
                  <a:tcPr marL="45720" marR="45720" marT="22860" marB="22860" anchor="ctr">
                    <a:lnL w="6350" cap="flat" cmpd="sng" algn="ctr">
                      <a:noFill/>
                    </a:lnL>
                    <a:lnR w="6350" cap="flat" cmpd="sng" algn="ctr">
                      <a:noFill/>
                    </a:lnR>
                    <a:lnT w="6350" cap="flat" cmpd="sng" algn="ctr">
                      <a:noFill/>
                    </a:lnT>
                    <a:lnB w="6350" cap="flat" cmpd="sng" algn="ctr">
                      <a:solidFill>
                        <a:srgbClr val="DADCE0"/>
                      </a:solidFill>
                    </a:lnB>
                    <a:solidFill>
                      <a:srgbClr val="FFFFFF"/>
                    </a:solidFill>
                  </a:tcPr>
                </a:tc>
                <a:tc>
                  <a:txBody>
                    <a:bodyPr wrap="square"/>
                    <a:lstStyle/>
                    <a:p>
                      <a:r>
                        <a:rPr sz="760" b="0">
                          <a:solidFill>
                            <a:srgbClr val="202124"/>
                          </a:solidFill>
                          <a:latin typeface="Arial"/>
                        </a:rPr>
                        <a:t>140,944 extra good parts × contribution ₹175 to 760 per part</a:t>
                      </a:r>
                    </a:p>
                  </a:txBody>
                  <a:tcPr marL="45720" marR="45720" marT="22860" marB="22860" anchor="ctr">
                    <a:lnL w="6350" cap="flat" cmpd="sng" algn="ctr">
                      <a:noFill/>
                    </a:lnL>
                    <a:lnR w="6350" cap="flat" cmpd="sng" algn="ctr">
                      <a:noFill/>
                    </a:lnR>
                    <a:lnT w="6350" cap="flat" cmpd="sng" algn="ctr">
                      <a:noFill/>
                    </a:lnT>
                    <a:lnB w="6350" cap="flat" cmpd="sng" algn="ctr">
                      <a:solidFill>
                        <a:srgbClr val="DADCE0"/>
                      </a:solidFill>
                    </a:lnB>
                    <a:solidFill>
                      <a:srgbClr val="FFFFFF"/>
                    </a:solidFill>
                  </a:tcPr>
                </a:tc>
                <a:tc>
                  <a:txBody>
                    <a:bodyPr wrap="square"/>
                    <a:lstStyle/>
                    <a:p>
                      <a:pPr algn="r"/>
                      <a:r>
                        <a:rPr sz="760" b="0">
                          <a:solidFill>
                            <a:srgbClr val="202124"/>
                          </a:solidFill>
                          <a:latin typeface="Arial"/>
                        </a:rPr>
                        <a:t>₹4.45 Cr</a:t>
                      </a:r>
                    </a:p>
                  </a:txBody>
                  <a:tcPr marL="45720" marR="45720" marT="22860" marB="22860" anchor="ctr">
                    <a:lnL w="6350" cap="flat" cmpd="sng" algn="ctr">
                      <a:noFill/>
                    </a:lnL>
                    <a:lnR w="6350" cap="flat" cmpd="sng" algn="ctr">
                      <a:noFill/>
                    </a:lnR>
                    <a:lnT w="6350" cap="flat" cmpd="sng" algn="ctr">
                      <a:noFill/>
                    </a:lnT>
                    <a:lnB w="6350" cap="flat" cmpd="sng" algn="ctr">
                      <a:solidFill>
                        <a:srgbClr val="DADCE0"/>
                      </a:solidFill>
                    </a:lnB>
                    <a:solidFill>
                      <a:srgbClr val="FFFFFF"/>
                    </a:solidFill>
                  </a:tcPr>
                </a:tc>
              </a:tr>
              <a:tr h="274320">
                <a:tc>
                  <a:txBody>
                    <a:bodyPr wrap="square"/>
                    <a:lstStyle/>
                    <a:p>
                      <a:r>
                        <a:rPr sz="760" b="1">
                          <a:solidFill>
                            <a:srgbClr val="202124"/>
                          </a:solidFill>
                          <a:latin typeface="Arial"/>
                        </a:rPr>
                        <a:t>Maintenance saved</a:t>
                      </a:r>
                    </a:p>
                  </a:txBody>
                  <a:tcPr marL="45720" marR="45720" marT="22860" marB="22860" anchor="ctr">
                    <a:lnL w="6350" cap="flat" cmpd="sng" algn="ctr">
                      <a:noFill/>
                    </a:lnL>
                    <a:lnR w="6350" cap="flat" cmpd="sng" algn="ctr">
                      <a:noFill/>
                    </a:lnR>
                    <a:lnT w="6350" cap="flat" cmpd="sng" algn="ctr">
                      <a:noFill/>
                    </a:lnT>
                    <a:lnB w="6350" cap="flat" cmpd="sng" algn="ctr">
                      <a:solidFill>
                        <a:srgbClr val="DADCE0"/>
                      </a:solidFill>
                    </a:lnB>
                    <a:solidFill>
                      <a:srgbClr val="FFFFFF"/>
                    </a:solidFill>
                  </a:tcPr>
                </a:tc>
                <a:tc>
                  <a:txBody>
                    <a:bodyPr wrap="square"/>
                    <a:lstStyle/>
                    <a:p>
                      <a:r>
                        <a:rPr sz="760" b="0">
                          <a:solidFill>
                            <a:srgbClr val="202124"/>
                          </a:solidFill>
                          <a:latin typeface="Arial"/>
                        </a:rPr>
                        <a:t>parts + technician hours at ₹300/h (× 1.5 after a breakdown) + secondary damage (40% chance of a ₹2.2 L spindle job) + inspections</a:t>
                      </a:r>
                    </a:p>
                  </a:txBody>
                  <a:tcPr marL="45720" marR="45720" marT="22860" marB="22860" anchor="ctr">
                    <a:lnL w="6350" cap="flat" cmpd="sng" algn="ctr">
                      <a:noFill/>
                    </a:lnL>
                    <a:lnR w="6350" cap="flat" cmpd="sng" algn="ctr">
                      <a:noFill/>
                    </a:lnR>
                    <a:lnT w="6350" cap="flat" cmpd="sng" algn="ctr">
                      <a:noFill/>
                    </a:lnT>
                    <a:lnB w="6350" cap="flat" cmpd="sng" algn="ctr">
                      <a:solidFill>
                        <a:srgbClr val="DADCE0"/>
                      </a:solidFill>
                    </a:lnB>
                    <a:solidFill>
                      <a:srgbClr val="FFFFFF"/>
                    </a:solidFill>
                  </a:tcPr>
                </a:tc>
                <a:tc>
                  <a:txBody>
                    <a:bodyPr wrap="square"/>
                    <a:lstStyle/>
                    <a:p>
                      <a:pPr algn="r"/>
                      <a:r>
                        <a:rPr sz="760" b="0">
                          <a:solidFill>
                            <a:srgbClr val="202124"/>
                          </a:solidFill>
                          <a:latin typeface="Arial"/>
                        </a:rPr>
                        <a:t>₹2.22 Cr</a:t>
                      </a:r>
                    </a:p>
                  </a:txBody>
                  <a:tcPr marL="45720" marR="45720" marT="22860" marB="22860" anchor="ctr">
                    <a:lnL w="6350" cap="flat" cmpd="sng" algn="ctr">
                      <a:noFill/>
                    </a:lnL>
                    <a:lnR w="6350" cap="flat" cmpd="sng" algn="ctr">
                      <a:noFill/>
                    </a:lnR>
                    <a:lnT w="6350" cap="flat" cmpd="sng" algn="ctr">
                      <a:noFill/>
                    </a:lnT>
                    <a:lnB w="6350" cap="flat" cmpd="sng" algn="ctr">
                      <a:solidFill>
                        <a:srgbClr val="DADCE0"/>
                      </a:solidFill>
                    </a:lnB>
                    <a:solidFill>
                      <a:srgbClr val="FFFFFF"/>
                    </a:solidFill>
                  </a:tcPr>
                </a:tc>
              </a:tr>
              <a:tr h="274320">
                <a:tc>
                  <a:txBody>
                    <a:bodyPr wrap="square"/>
                    <a:lstStyle/>
                    <a:p>
                      <a:r>
                        <a:rPr sz="760" b="1">
                          <a:solidFill>
                            <a:srgbClr val="202124"/>
                          </a:solidFill>
                          <a:latin typeface="Arial"/>
                        </a:rPr>
                        <a:t>Scrap avoided</a:t>
                      </a:r>
                    </a:p>
                  </a:txBody>
                  <a:tcPr marL="45720" marR="45720" marT="22860" marB="22860" anchor="ctr">
                    <a:lnL w="6350" cap="flat" cmpd="sng" algn="ctr">
                      <a:noFill/>
                    </a:lnL>
                    <a:lnR w="6350" cap="flat" cmpd="sng" algn="ctr">
                      <a:noFill/>
                    </a:lnR>
                    <a:lnT w="6350" cap="flat" cmpd="sng" algn="ctr">
                      <a:noFill/>
                    </a:lnT>
                    <a:lnB w="6350" cap="flat" cmpd="sng" algn="ctr">
                      <a:solidFill>
                        <a:srgbClr val="DADCE0"/>
                      </a:solidFill>
                    </a:lnB>
                    <a:solidFill>
                      <a:srgbClr val="FFFFFF"/>
                    </a:solidFill>
                  </a:tcPr>
                </a:tc>
                <a:tc>
                  <a:txBody>
                    <a:bodyPr wrap="square"/>
                    <a:lstStyle/>
                    <a:p>
                      <a:r>
                        <a:rPr sz="760" b="0">
                          <a:solidFill>
                            <a:srgbClr val="202124"/>
                          </a:solidFill>
                          <a:latin typeface="Arial"/>
                        </a:rPr>
                        <a:t>8,643 fewer bad parts × ₹380 to 1,450 scrap cost</a:t>
                      </a:r>
                    </a:p>
                  </a:txBody>
                  <a:tcPr marL="45720" marR="45720" marT="22860" marB="22860" anchor="ctr">
                    <a:lnL w="6350" cap="flat" cmpd="sng" algn="ctr">
                      <a:noFill/>
                    </a:lnL>
                    <a:lnR w="6350" cap="flat" cmpd="sng" algn="ctr">
                      <a:noFill/>
                    </a:lnR>
                    <a:lnT w="6350" cap="flat" cmpd="sng" algn="ctr">
                      <a:noFill/>
                    </a:lnT>
                    <a:lnB w="6350" cap="flat" cmpd="sng" algn="ctr">
                      <a:solidFill>
                        <a:srgbClr val="DADCE0"/>
                      </a:solidFill>
                    </a:lnB>
                    <a:solidFill>
                      <a:srgbClr val="FFFFFF"/>
                    </a:solidFill>
                  </a:tcPr>
                </a:tc>
                <a:tc>
                  <a:txBody>
                    <a:bodyPr wrap="square"/>
                    <a:lstStyle/>
                    <a:p>
                      <a:pPr algn="r"/>
                      <a:r>
                        <a:rPr sz="760" b="0">
                          <a:solidFill>
                            <a:srgbClr val="202124"/>
                          </a:solidFill>
                          <a:latin typeface="Arial"/>
                        </a:rPr>
                        <a:t>₹55.2 L</a:t>
                      </a:r>
                    </a:p>
                  </a:txBody>
                  <a:tcPr marL="45720" marR="45720" marT="22860" marB="22860" anchor="ctr">
                    <a:lnL w="6350" cap="flat" cmpd="sng" algn="ctr">
                      <a:noFill/>
                    </a:lnL>
                    <a:lnR w="6350" cap="flat" cmpd="sng" algn="ctr">
                      <a:noFill/>
                    </a:lnR>
                    <a:lnT w="6350" cap="flat" cmpd="sng" algn="ctr">
                      <a:noFill/>
                    </a:lnT>
                    <a:lnB w="6350" cap="flat" cmpd="sng" algn="ctr">
                      <a:solidFill>
                        <a:srgbClr val="DADCE0"/>
                      </a:solidFill>
                    </a:lnB>
                    <a:solidFill>
                      <a:srgbClr val="FFFFFF"/>
                    </a:solidFill>
                  </a:tcPr>
                </a:tc>
              </a:tr>
              <a:tr h="274320">
                <a:tc>
                  <a:txBody>
                    <a:bodyPr wrap="square"/>
                    <a:lstStyle/>
                    <a:p>
                      <a:r>
                        <a:rPr sz="760" b="1">
                          <a:solidFill>
                            <a:srgbClr val="202124"/>
                          </a:solidFill>
                          <a:latin typeface="Arial"/>
                        </a:rPr>
                        <a:t>Energy saved</a:t>
                      </a:r>
                    </a:p>
                  </a:txBody>
                  <a:tcPr marL="45720" marR="45720" marT="22860" marB="22860" anchor="ctr">
                    <a:lnL w="6350" cap="flat" cmpd="sng" algn="ctr">
                      <a:noFill/>
                    </a:lnL>
                    <a:lnR w="6350" cap="flat" cmpd="sng" algn="ctr">
                      <a:noFill/>
                    </a:lnR>
                    <a:lnT w="6350" cap="flat" cmpd="sng" algn="ctr">
                      <a:noFill/>
                    </a:lnT>
                    <a:lnB w="6350" cap="flat" cmpd="sng" algn="ctr">
                      <a:solidFill>
                        <a:srgbClr val="DADCE0"/>
                      </a:solidFill>
                    </a:lnB>
                    <a:solidFill>
                      <a:srgbClr val="FFFFFF"/>
                    </a:solidFill>
                  </a:tcPr>
                </a:tc>
                <a:tc>
                  <a:txBody>
                    <a:bodyPr wrap="square"/>
                    <a:lstStyle/>
                    <a:p>
                      <a:r>
                        <a:rPr sz="760" b="0">
                          <a:solidFill>
                            <a:srgbClr val="202124"/>
                          </a:solidFill>
                          <a:latin typeface="Arial"/>
                        </a:rPr>
                        <a:t>507 MWh × ₹9.25/kWh (MSEDCL HT-I(A), MERC order 25 Mar 2026); 342 t CO₂ at 0.675 t/MWh</a:t>
                      </a:r>
                    </a:p>
                  </a:txBody>
                  <a:tcPr marL="45720" marR="45720" marT="22860" marB="22860" anchor="ctr">
                    <a:lnL w="6350" cap="flat" cmpd="sng" algn="ctr">
                      <a:noFill/>
                    </a:lnL>
                    <a:lnR w="6350" cap="flat" cmpd="sng" algn="ctr">
                      <a:noFill/>
                    </a:lnR>
                    <a:lnT w="6350" cap="flat" cmpd="sng" algn="ctr">
                      <a:noFill/>
                    </a:lnT>
                    <a:lnB w="6350" cap="flat" cmpd="sng" algn="ctr">
                      <a:solidFill>
                        <a:srgbClr val="DADCE0"/>
                      </a:solidFill>
                    </a:lnB>
                    <a:solidFill>
                      <a:srgbClr val="FFFFFF"/>
                    </a:solidFill>
                  </a:tcPr>
                </a:tc>
                <a:tc>
                  <a:txBody>
                    <a:bodyPr wrap="square"/>
                    <a:lstStyle/>
                    <a:p>
                      <a:pPr algn="r"/>
                      <a:r>
                        <a:rPr sz="760" b="0">
                          <a:solidFill>
                            <a:srgbClr val="202124"/>
                          </a:solidFill>
                          <a:latin typeface="Arial"/>
                        </a:rPr>
                        <a:t>₹46.9 L</a:t>
                      </a:r>
                    </a:p>
                  </a:txBody>
                  <a:tcPr marL="45720" marR="45720" marT="22860" marB="22860" anchor="ctr">
                    <a:lnL w="6350" cap="flat" cmpd="sng" algn="ctr">
                      <a:noFill/>
                    </a:lnL>
                    <a:lnR w="6350" cap="flat" cmpd="sng" algn="ctr">
                      <a:noFill/>
                    </a:lnR>
                    <a:lnT w="6350" cap="flat" cmpd="sng" algn="ctr">
                      <a:noFill/>
                    </a:lnT>
                    <a:lnB w="6350" cap="flat" cmpd="sng" algn="ctr">
                      <a:solidFill>
                        <a:srgbClr val="DADCE0"/>
                      </a:solidFill>
                    </a:lnB>
                    <a:solidFill>
                      <a:srgbClr val="FFFFFF"/>
                    </a:solidFill>
                  </a:tcPr>
                </a:tc>
              </a:tr>
              <a:tr h="274320">
                <a:tc>
                  <a:txBody>
                    <a:bodyPr wrap="square"/>
                    <a:lstStyle/>
                    <a:p>
                      <a:r>
                        <a:rPr sz="760" b="1">
                          <a:solidFill>
                            <a:srgbClr val="202124"/>
                          </a:solidFill>
                          <a:latin typeface="Arial"/>
                        </a:rPr>
                        <a:t>Total benefit</a:t>
                      </a:r>
                    </a:p>
                  </a:txBody>
                  <a:tcPr marL="45720" marR="45720" marT="22860" marB="22860" anchor="ctr">
                    <a:lnL w="6350" cap="flat" cmpd="sng" algn="ctr">
                      <a:noFill/>
                    </a:lnL>
                    <a:lnR w="6350" cap="flat" cmpd="sng" algn="ctr">
                      <a:noFill/>
                    </a:lnR>
                    <a:lnT w="6350" cap="flat" cmpd="sng" algn="ctr">
                      <a:noFill/>
                    </a:lnT>
                    <a:lnB w="6350" cap="flat" cmpd="sng" algn="ctr">
                      <a:solidFill>
                        <a:srgbClr val="DADCE0"/>
                      </a:solidFill>
                    </a:lnB>
                    <a:solidFill>
                      <a:srgbClr val="FFFFFF"/>
                    </a:solidFill>
                  </a:tcPr>
                </a:tc>
                <a:tc>
                  <a:txBody>
                    <a:bodyPr wrap="square"/>
                    <a:lstStyle/>
                    <a:p>
                      <a:r>
                        <a:rPr sz="760" b="0">
                          <a:solidFill>
                            <a:srgbClr val="202124"/>
                          </a:solidFill>
                          <a:latin typeface="Arial"/>
                        </a:rPr>
                        <a:t>sum of the four lines</a:t>
                      </a:r>
                    </a:p>
                  </a:txBody>
                  <a:tcPr marL="45720" marR="45720" marT="22860" marB="22860" anchor="ctr">
                    <a:lnL w="6350" cap="flat" cmpd="sng" algn="ctr">
                      <a:noFill/>
                    </a:lnL>
                    <a:lnR w="6350" cap="flat" cmpd="sng" algn="ctr">
                      <a:noFill/>
                    </a:lnR>
                    <a:lnT w="6350" cap="flat" cmpd="sng" algn="ctr">
                      <a:noFill/>
                    </a:lnT>
                    <a:lnB w="6350" cap="flat" cmpd="sng" algn="ctr">
                      <a:solidFill>
                        <a:srgbClr val="DADCE0"/>
                      </a:solidFill>
                    </a:lnB>
                    <a:solidFill>
                      <a:srgbClr val="FFFFFF"/>
                    </a:solidFill>
                  </a:tcPr>
                </a:tc>
                <a:tc>
                  <a:txBody>
                    <a:bodyPr wrap="square"/>
                    <a:lstStyle/>
                    <a:p>
                      <a:pPr algn="r"/>
                      <a:r>
                        <a:rPr sz="760" b="0">
                          <a:solidFill>
                            <a:srgbClr val="202124"/>
                          </a:solidFill>
                          <a:latin typeface="Arial"/>
                        </a:rPr>
                        <a:t>₹7.69 Cr</a:t>
                      </a:r>
                    </a:p>
                  </a:txBody>
                  <a:tcPr marL="45720" marR="45720" marT="22860" marB="22860" anchor="ctr">
                    <a:lnL w="6350" cap="flat" cmpd="sng" algn="ctr">
                      <a:noFill/>
                    </a:lnL>
                    <a:lnR w="6350" cap="flat" cmpd="sng" algn="ctr">
                      <a:noFill/>
                    </a:lnR>
                    <a:lnT w="6350" cap="flat" cmpd="sng" algn="ctr">
                      <a:noFill/>
                    </a:lnT>
                    <a:lnB w="6350" cap="flat" cmpd="sng" algn="ctr">
                      <a:solidFill>
                        <a:srgbClr val="DADCE0"/>
                      </a:solidFill>
                    </a:lnB>
                    <a:solidFill>
                      <a:srgbClr val="FFFFFF"/>
                    </a:solidFill>
                  </a:tcPr>
                </a:tc>
              </a:tr>
              <a:tr h="274320">
                <a:tc>
                  <a:txBody>
                    <a:bodyPr wrap="square"/>
                    <a:lstStyle/>
                    <a:p>
                      <a:r>
                        <a:rPr sz="760" b="1">
                          <a:solidFill>
                            <a:srgbClr val="202124"/>
                          </a:solidFill>
                          <a:latin typeface="Arial"/>
                        </a:rPr>
                        <a:t>Net and return</a:t>
                      </a:r>
                    </a:p>
                  </a:txBody>
                  <a:tcPr marL="45720" marR="45720" marT="22860" marB="22860" anchor="ctr">
                    <a:lnL w="6350" cap="flat" cmpd="sng" algn="ctr">
                      <a:noFill/>
                    </a:lnL>
                    <a:lnR w="6350" cap="flat" cmpd="sng" algn="ctr">
                      <a:noFill/>
                    </a:lnR>
                    <a:lnT w="6350" cap="flat" cmpd="sng" algn="ctr">
                      <a:noFill/>
                    </a:lnT>
                    <a:lnB w="6350" cap="flat" cmpd="sng" algn="ctr">
                      <a:solidFill>
                        <a:srgbClr val="9AA0A6"/>
                      </a:solidFill>
                    </a:lnB>
                    <a:solidFill>
                      <a:srgbClr val="FFFFFF"/>
                    </a:solidFill>
                  </a:tcPr>
                </a:tc>
                <a:tc>
                  <a:txBody>
                    <a:bodyPr wrap="square"/>
                    <a:lstStyle/>
                    <a:p>
                      <a:r>
                        <a:rPr sz="760" b="0">
                          <a:solidFill>
                            <a:srgbClr val="202124"/>
                          </a:solidFill>
                          <a:latin typeface="Arial"/>
                        </a:rPr>
                        <a:t>₹7.69 Cr − ₹58.8 L cost = ₹7.11 Cr; ÷ cost = 12.1×; payback in month 3</a:t>
                      </a:r>
                    </a:p>
                  </a:txBody>
                  <a:tcPr marL="45720" marR="45720" marT="22860" marB="22860" anchor="ctr">
                    <a:lnL w="6350" cap="flat" cmpd="sng" algn="ctr">
                      <a:noFill/>
                    </a:lnL>
                    <a:lnR w="6350" cap="flat" cmpd="sng" algn="ctr">
                      <a:noFill/>
                    </a:lnR>
                    <a:lnT w="6350" cap="flat" cmpd="sng" algn="ctr">
                      <a:noFill/>
                    </a:lnT>
                    <a:lnB w="6350" cap="flat" cmpd="sng" algn="ctr">
                      <a:solidFill>
                        <a:srgbClr val="9AA0A6"/>
                      </a:solidFill>
                    </a:lnB>
                    <a:solidFill>
                      <a:srgbClr val="FFFFFF"/>
                    </a:solidFill>
                  </a:tcPr>
                </a:tc>
                <a:tc>
                  <a:txBody>
                    <a:bodyPr wrap="square"/>
                    <a:lstStyle/>
                    <a:p>
                      <a:pPr algn="r"/>
                      <a:r>
                        <a:rPr sz="760" b="0">
                          <a:solidFill>
                            <a:srgbClr val="202124"/>
                          </a:solidFill>
                          <a:latin typeface="Arial"/>
                        </a:rPr>
                        <a:t>12.1×</a:t>
                      </a:r>
                    </a:p>
                  </a:txBody>
                  <a:tcPr marL="45720" marR="45720" marT="22860" marB="22860" anchor="ctr">
                    <a:lnL w="6350" cap="flat" cmpd="sng" algn="ctr">
                      <a:noFill/>
                    </a:lnL>
                    <a:lnR w="6350" cap="flat" cmpd="sng" algn="ctr">
                      <a:noFill/>
                    </a:lnR>
                    <a:lnT w="6350" cap="flat" cmpd="sng" algn="ctr">
                      <a:noFill/>
                    </a:lnT>
                    <a:lnB w="6350" cap="flat" cmpd="sng" algn="ctr">
                      <a:solidFill>
                        <a:srgbClr val="9AA0A6"/>
                      </a:solidFill>
                    </a:lnB>
                    <a:solidFill>
                      <a:srgbClr val="FFFFFF"/>
                    </a:solidFill>
                  </a:tcPr>
                </a:tc>
              </a:tr>
            </a:tbl>
          </a:graphicData>
        </a:graphic>
      </p:graphicFrame>
      <p:sp>
        <p:nvSpPr>
          <p:cNvPr id="169" name="TextBox 168"/>
          <p:cNvSpPr txBox="1"/>
          <p:nvPr/>
        </p:nvSpPr>
        <p:spPr>
          <a:xfrm>
            <a:off x="356616" y="3730752"/>
            <a:ext cx="5212080" cy="201168"/>
          </a:xfrm>
          <a:prstGeom prst="rect">
            <a:avLst/>
          </a:prstGeom>
          <a:noFill/>
        </p:spPr>
        <p:txBody>
          <a:bodyPr wrap="square" lIns="0" rIns="0" tIns="0" bIns="0" anchor="t">
            <a:spAutoFit/>
          </a:bodyPr>
          <a:lstStyle/>
          <a:p>
            <a:pPr algn="l">
              <a:spcAft>
                <a:spcPts val="300"/>
              </a:spcAft>
            </a:pPr>
            <a:r>
              <a:rPr sz="800" b="1" i="0">
                <a:solidFill>
                  <a:srgbClr val="202124"/>
                </a:solidFill>
                <a:latin typeface="Arial"/>
              </a:rPr>
              <a:t>Breakdowns a year, without and with OpEx</a:t>
            </a:r>
          </a:p>
        </p:txBody>
      </p:sp>
      <p:graphicFrame>
        <p:nvGraphicFramePr>
          <p:cNvPr id="170" name="Chart 169"/>
          <p:cNvGraphicFramePr>
            <a:graphicFrameLocks noGrp="1"/>
          </p:cNvGraphicFramePr>
          <p:nvPr/>
        </p:nvGraphicFramePr>
        <p:xfrm>
          <a:off x="356616" y="3913632"/>
          <a:ext cx="5212080" cy="960120"/>
        </p:xfrm>
        <a:graphic>
          <a:graphicData uri="http://schemas.openxmlformats.org/drawingml/2006/chart">
            <c:chart r:id="rId5"/>
          </a:graphicData>
        </a:graphic>
      </p:graphicFrame>
      <p:sp>
        <p:nvSpPr>
          <p:cNvPr id="171" name="TextBox 170"/>
          <p:cNvSpPr txBox="1"/>
          <p:nvPr/>
        </p:nvSpPr>
        <p:spPr>
          <a:xfrm>
            <a:off x="5760720" y="1691640"/>
            <a:ext cx="3063240" cy="201168"/>
          </a:xfrm>
          <a:prstGeom prst="rect">
            <a:avLst/>
          </a:prstGeom>
          <a:noFill/>
        </p:spPr>
        <p:txBody>
          <a:bodyPr wrap="square" lIns="0" rIns="0" tIns="0" bIns="0" anchor="t">
            <a:spAutoFit/>
          </a:bodyPr>
          <a:lstStyle/>
          <a:p>
            <a:pPr algn="l">
              <a:spcAft>
                <a:spcPts val="300"/>
              </a:spcAft>
            </a:pPr>
            <a:r>
              <a:rPr sz="900" b="1" i="0">
                <a:solidFill>
                  <a:srgbClr val="202124"/>
                </a:solidFill>
                <a:latin typeface="Arial"/>
              </a:rPr>
              <a:t>Where the inputs come from</a:t>
            </a:r>
          </a:p>
        </p:txBody>
      </p:sp>
      <p:sp>
        <p:nvSpPr>
          <p:cNvPr id="172" name="TextBox 171"/>
          <p:cNvSpPr txBox="1"/>
          <p:nvPr/>
        </p:nvSpPr>
        <p:spPr>
          <a:xfrm>
            <a:off x="5760720" y="1920240"/>
            <a:ext cx="3063240" cy="1417320"/>
          </a:xfrm>
          <a:prstGeom prst="rect">
            <a:avLst/>
          </a:prstGeom>
          <a:noFill/>
        </p:spPr>
        <p:txBody>
          <a:bodyPr wrap="square" lIns="0" rIns="0" tIns="0" bIns="0">
            <a:spAutoFit/>
          </a:bodyPr>
          <a:lstStyle/>
          <a:p>
            <a:pPr marL="137160" indent="-137160">
              <a:spcAft>
                <a:spcPts val="200"/>
              </a:spcAft>
              <a:buChar char="•"/>
            </a:pPr>
            <a:r>
              <a:rPr sz="750" b="0">
                <a:solidFill>
                  <a:srgbClr val="202124"/>
                </a:solidFill>
                <a:latin typeface="Arial"/>
              </a:rPr>
              <a:t>Failures per machine-year: bearing 1.79, drive 2.59, electrical 1.92, coolant 1.31 (Azure PdM, 761 failures)</a:t>
            </a:r>
          </a:p>
          <a:p>
            <a:pPr marL="137160" indent="-137160">
              <a:spcAft>
                <a:spcPts val="200"/>
              </a:spcAft>
              <a:buChar char="•"/>
            </a:pPr>
            <a:r>
              <a:rPr sz="750" b="0">
                <a:solidFill>
                  <a:srgbClr val="202124"/>
                </a:solidFill>
                <a:latin typeface="Arial"/>
              </a:rPr>
              <a:t>Life spread Weibull k = 4.41; wear curve damage(u) = (e^3.75u − 1)/(e^3.75 − 1) (NASA C-MAPSS)</a:t>
            </a:r>
          </a:p>
          <a:p>
            <a:pPr marL="137160" indent="-137160">
              <a:spcAft>
                <a:spcPts val="200"/>
              </a:spcAft>
              <a:buChar char="•"/>
            </a:pPr>
            <a:r>
              <a:rPr sz="750" b="0">
                <a:solidFill>
                  <a:srgbClr val="202124"/>
                </a:solidFill>
                <a:latin typeface="Arial"/>
              </a:rPr>
              <a:t>Prevented = model recall × sensor coverage 0.90 × adherence 0.85 ≈ 72 to 76%; warning error N(0.04, 0.20)</a:t>
            </a:r>
          </a:p>
          <a:p>
            <a:pPr marL="137160" indent="-137160">
              <a:spcAft>
                <a:spcPts val="200"/>
              </a:spcAft>
              <a:buChar char="•"/>
            </a:pPr>
            <a:r>
              <a:rPr sz="750" b="0">
                <a:solidFill>
                  <a:srgbClr val="202124"/>
                </a:solidFill>
                <a:latin typeface="Arial"/>
              </a:rPr>
              <a:t>Minor stops 8.9%, set-ups 8.6%, repair-time σ 0.82, performance 92.9%, quality 98.3% (Zenodo 17855209, a real line at 59% OEE)</a:t>
            </a:r>
          </a:p>
          <a:p>
            <a:pPr marL="137160" indent="-137160">
              <a:spcAft>
                <a:spcPts val="200"/>
              </a:spcAft>
              <a:buChar char="•"/>
            </a:pPr>
            <a:r>
              <a:rPr sz="750" b="0">
                <a:solidFill>
                  <a:srgbClr val="202124"/>
                </a:solidFill>
                <a:latin typeface="Arial"/>
              </a:rPr>
              <a:t>6,750 planned hours a year (3 shifts × 7.5 h × 300 days)</a:t>
            </a:r>
          </a:p>
        </p:txBody>
      </p:sp>
      <p:sp>
        <p:nvSpPr>
          <p:cNvPr id="173" name="TextBox 172"/>
          <p:cNvSpPr txBox="1"/>
          <p:nvPr/>
        </p:nvSpPr>
        <p:spPr>
          <a:xfrm>
            <a:off x="5760720" y="3346704"/>
            <a:ext cx="3063240" cy="201168"/>
          </a:xfrm>
          <a:prstGeom prst="rect">
            <a:avLst/>
          </a:prstGeom>
          <a:noFill/>
        </p:spPr>
        <p:txBody>
          <a:bodyPr wrap="square" lIns="0" rIns="0" tIns="0" bIns="0" anchor="t">
            <a:spAutoFit/>
          </a:bodyPr>
          <a:lstStyle/>
          <a:p>
            <a:pPr algn="l">
              <a:spcAft>
                <a:spcPts val="300"/>
              </a:spcAft>
            </a:pPr>
            <a:r>
              <a:rPr sz="900" b="1" i="0">
                <a:solidFill>
                  <a:srgbClr val="202124"/>
                </a:solidFill>
                <a:latin typeface="Arial"/>
              </a:rPr>
              <a:t>If people trust it less and sensors see less</a:t>
            </a:r>
          </a:p>
        </p:txBody>
      </p:sp>
      <p:graphicFrame>
        <p:nvGraphicFramePr>
          <p:cNvPr id="174" name="Table 173"/>
          <p:cNvGraphicFramePr>
            <a:graphicFrameLocks noGrp="1"/>
          </p:cNvGraphicFramePr>
          <p:nvPr/>
        </p:nvGraphicFramePr>
        <p:xfrm>
          <a:off x="5760720" y="3566160"/>
          <a:ext cx="3063240" cy="1051560"/>
        </p:xfrm>
        <a:graphic>
          <a:graphicData uri="http://schemas.openxmlformats.org/drawingml/2006/table">
            <a:tbl>
              <a:tblPr firstRow="1">
                <a:tableStyleId>{5C22544A-7EE6-4342-B048-85BDC9FD1C3A}</a:tableStyleId>
              </a:tblPr>
              <a:tblGrid>
                <a:gridCol w="658368"/>
                <a:gridCol w="640080"/>
                <a:gridCol w="658368"/>
                <a:gridCol w="512064"/>
                <a:gridCol w="594360"/>
              </a:tblGrid>
              <a:tr h="210312">
                <a:tc>
                  <a:txBody>
                    <a:bodyPr wrap="square"/>
                    <a:lstStyle/>
                    <a:p>
                      <a:r>
                        <a:rPr sz="750" b="1">
                          <a:solidFill>
                            <a:srgbClr val="5F6368"/>
                          </a:solidFill>
                          <a:latin typeface="Arial"/>
                        </a:rPr>
                        <a:t>Adherence</a:t>
                      </a:r>
                    </a:p>
                  </a:txBody>
                  <a:tcPr marL="45720" marR="45720" marT="22860" marB="22860" anchor="ctr">
                    <a:lnL w="6350" cap="flat" cmpd="sng" algn="ctr">
                      <a:noFill/>
                    </a:lnL>
                    <a:lnR w="6350" cap="flat" cmpd="sng" algn="ctr">
                      <a:noFill/>
                    </a:lnR>
                    <a:lnT w="6350" cap="flat" cmpd="sng" algn="ctr">
                      <a:noFill/>
                    </a:lnT>
                    <a:lnB w="12700" cap="flat" cmpd="sng" algn="ctr">
                      <a:solidFill>
                        <a:srgbClr val="DADCE0"/>
                      </a:solidFill>
                    </a:lnB>
                    <a:solidFill>
                      <a:srgbClr val="F1F3F4"/>
                    </a:solidFill>
                  </a:tcPr>
                </a:tc>
                <a:tc>
                  <a:txBody>
                    <a:bodyPr wrap="square"/>
                    <a:lstStyle/>
                    <a:p>
                      <a:r>
                        <a:rPr sz="750" b="1">
                          <a:solidFill>
                            <a:srgbClr val="5F6368"/>
                          </a:solidFill>
                          <a:latin typeface="Arial"/>
                        </a:rPr>
                        <a:t>Coverage</a:t>
                      </a:r>
                    </a:p>
                  </a:txBody>
                  <a:tcPr marL="45720" marR="45720" marT="22860" marB="22860" anchor="ctr">
                    <a:lnL w="6350" cap="flat" cmpd="sng" algn="ctr">
                      <a:noFill/>
                    </a:lnL>
                    <a:lnR w="6350" cap="flat" cmpd="sng" algn="ctr">
                      <a:noFill/>
                    </a:lnR>
                    <a:lnT w="6350" cap="flat" cmpd="sng" algn="ctr">
                      <a:noFill/>
                    </a:lnT>
                    <a:lnB w="12700" cap="flat" cmpd="sng" algn="ctr">
                      <a:solidFill>
                        <a:srgbClr val="DADCE0"/>
                      </a:solidFill>
                    </a:lnB>
                    <a:solidFill>
                      <a:srgbClr val="F1F3F4"/>
                    </a:solidFill>
                  </a:tcPr>
                </a:tc>
                <a:tc>
                  <a:txBody>
                    <a:bodyPr wrap="square"/>
                    <a:lstStyle/>
                    <a:p>
                      <a:pPr algn="r"/>
                      <a:r>
                        <a:rPr sz="750" b="1">
                          <a:solidFill>
                            <a:srgbClr val="5F6368"/>
                          </a:solidFill>
                          <a:latin typeface="Arial"/>
                        </a:rPr>
                        <a:t>Net 5 yr</a:t>
                      </a:r>
                    </a:p>
                  </a:txBody>
                  <a:tcPr marL="45720" marR="45720" marT="22860" marB="22860" anchor="ctr">
                    <a:lnL w="6350" cap="flat" cmpd="sng" algn="ctr">
                      <a:noFill/>
                    </a:lnL>
                    <a:lnR w="6350" cap="flat" cmpd="sng" algn="ctr">
                      <a:noFill/>
                    </a:lnR>
                    <a:lnT w="6350" cap="flat" cmpd="sng" algn="ctr">
                      <a:noFill/>
                    </a:lnT>
                    <a:lnB w="12700" cap="flat" cmpd="sng" algn="ctr">
                      <a:solidFill>
                        <a:srgbClr val="DADCE0"/>
                      </a:solidFill>
                    </a:lnB>
                    <a:solidFill>
                      <a:srgbClr val="F1F3F4"/>
                    </a:solidFill>
                  </a:tcPr>
                </a:tc>
                <a:tc>
                  <a:txBody>
                    <a:bodyPr wrap="square"/>
                    <a:lstStyle/>
                    <a:p>
                      <a:pPr algn="r"/>
                      <a:r>
                        <a:rPr sz="750" b="1">
                          <a:solidFill>
                            <a:srgbClr val="5F6368"/>
                          </a:solidFill>
                          <a:latin typeface="Arial"/>
                        </a:rPr>
                        <a:t>Return</a:t>
                      </a:r>
                    </a:p>
                  </a:txBody>
                  <a:tcPr marL="45720" marR="45720" marT="22860" marB="22860" anchor="ctr">
                    <a:lnL w="6350" cap="flat" cmpd="sng" algn="ctr">
                      <a:noFill/>
                    </a:lnL>
                    <a:lnR w="6350" cap="flat" cmpd="sng" algn="ctr">
                      <a:noFill/>
                    </a:lnR>
                    <a:lnT w="6350" cap="flat" cmpd="sng" algn="ctr">
                      <a:noFill/>
                    </a:lnT>
                    <a:lnB w="12700" cap="flat" cmpd="sng" algn="ctr">
                      <a:solidFill>
                        <a:srgbClr val="DADCE0"/>
                      </a:solidFill>
                    </a:lnB>
                    <a:solidFill>
                      <a:srgbClr val="F1F3F4"/>
                    </a:solidFill>
                  </a:tcPr>
                </a:tc>
                <a:tc>
                  <a:txBody>
                    <a:bodyPr wrap="square"/>
                    <a:lstStyle/>
                    <a:p>
                      <a:pPr algn="r"/>
                      <a:r>
                        <a:rPr sz="750" b="1">
                          <a:solidFill>
                            <a:srgbClr val="5F6368"/>
                          </a:solidFill>
                          <a:latin typeface="Arial"/>
                        </a:rPr>
                        <a:t>Payback</a:t>
                      </a:r>
                    </a:p>
                  </a:txBody>
                  <a:tcPr marL="45720" marR="45720" marT="22860" marB="22860" anchor="ctr">
                    <a:lnL w="6350" cap="flat" cmpd="sng" algn="ctr">
                      <a:noFill/>
                    </a:lnL>
                    <a:lnR w="6350" cap="flat" cmpd="sng" algn="ctr">
                      <a:noFill/>
                    </a:lnR>
                    <a:lnT w="6350" cap="flat" cmpd="sng" algn="ctr">
                      <a:noFill/>
                    </a:lnT>
                    <a:lnB w="12700" cap="flat" cmpd="sng" algn="ctr">
                      <a:solidFill>
                        <a:srgbClr val="DADCE0"/>
                      </a:solidFill>
                    </a:lnB>
                    <a:solidFill>
                      <a:srgbClr val="F1F3F4"/>
                    </a:solidFill>
                  </a:tcPr>
                </a:tc>
              </a:tr>
              <a:tr h="210312">
                <a:tc>
                  <a:txBody>
                    <a:bodyPr wrap="square"/>
                    <a:lstStyle/>
                    <a:p>
                      <a:r>
                        <a:rPr sz="750" b="0">
                          <a:solidFill>
                            <a:srgbClr val="202124"/>
                          </a:solidFill>
                          <a:latin typeface="Arial"/>
                        </a:rPr>
                        <a:t>85%</a:t>
                      </a:r>
                    </a:p>
                  </a:txBody>
                  <a:tcPr marL="45720" marR="45720" marT="22860" marB="22860" anchor="ctr">
                    <a:lnL w="6350" cap="flat" cmpd="sng" algn="ctr">
                      <a:noFill/>
                    </a:lnL>
                    <a:lnR w="6350" cap="flat" cmpd="sng" algn="ctr">
                      <a:noFill/>
                    </a:lnR>
                    <a:lnT w="6350" cap="flat" cmpd="sng" algn="ctr">
                      <a:noFill/>
                    </a:lnT>
                    <a:lnB w="6350" cap="flat" cmpd="sng" algn="ctr">
                      <a:solidFill>
                        <a:srgbClr val="DADCE0"/>
                      </a:solidFill>
                    </a:lnB>
                    <a:solidFill>
                      <a:srgbClr val="FFFFFF"/>
                    </a:solidFill>
                  </a:tcPr>
                </a:tc>
                <a:tc>
                  <a:txBody>
                    <a:bodyPr wrap="square"/>
                    <a:lstStyle/>
                    <a:p>
                      <a:r>
                        <a:rPr sz="750" b="0">
                          <a:solidFill>
                            <a:srgbClr val="202124"/>
                          </a:solidFill>
                          <a:latin typeface="Arial"/>
                        </a:rPr>
                        <a:t>90%</a:t>
                      </a:r>
                    </a:p>
                  </a:txBody>
                  <a:tcPr marL="45720" marR="45720" marT="22860" marB="22860" anchor="ctr">
                    <a:lnL w="6350" cap="flat" cmpd="sng" algn="ctr">
                      <a:noFill/>
                    </a:lnL>
                    <a:lnR w="6350" cap="flat" cmpd="sng" algn="ctr">
                      <a:noFill/>
                    </a:lnR>
                    <a:lnT w="6350" cap="flat" cmpd="sng" algn="ctr">
                      <a:noFill/>
                    </a:lnT>
                    <a:lnB w="6350" cap="flat" cmpd="sng" algn="ctr">
                      <a:solidFill>
                        <a:srgbClr val="DADCE0"/>
                      </a:solidFill>
                    </a:lnB>
                    <a:solidFill>
                      <a:srgbClr val="FFFFFF"/>
                    </a:solidFill>
                  </a:tcPr>
                </a:tc>
                <a:tc>
                  <a:txBody>
                    <a:bodyPr wrap="square"/>
                    <a:lstStyle/>
                    <a:p>
                      <a:pPr algn="r"/>
                      <a:r>
                        <a:rPr sz="750" b="0">
                          <a:solidFill>
                            <a:srgbClr val="202124"/>
                          </a:solidFill>
                          <a:latin typeface="Arial"/>
                        </a:rPr>
                        <a:t>₹7.1 Cr</a:t>
                      </a:r>
                    </a:p>
                  </a:txBody>
                  <a:tcPr marL="45720" marR="45720" marT="22860" marB="22860" anchor="ctr">
                    <a:lnL w="6350" cap="flat" cmpd="sng" algn="ctr">
                      <a:noFill/>
                    </a:lnL>
                    <a:lnR w="6350" cap="flat" cmpd="sng" algn="ctr">
                      <a:noFill/>
                    </a:lnR>
                    <a:lnT w="6350" cap="flat" cmpd="sng" algn="ctr">
                      <a:noFill/>
                    </a:lnT>
                    <a:lnB w="6350" cap="flat" cmpd="sng" algn="ctr">
                      <a:solidFill>
                        <a:srgbClr val="DADCE0"/>
                      </a:solidFill>
                    </a:lnB>
                    <a:solidFill>
                      <a:srgbClr val="FFFFFF"/>
                    </a:solidFill>
                  </a:tcPr>
                </a:tc>
                <a:tc>
                  <a:txBody>
                    <a:bodyPr wrap="square"/>
                    <a:lstStyle/>
                    <a:p>
                      <a:pPr algn="r"/>
                      <a:r>
                        <a:rPr sz="750" b="0">
                          <a:solidFill>
                            <a:srgbClr val="202124"/>
                          </a:solidFill>
                          <a:latin typeface="Arial"/>
                        </a:rPr>
                        <a:t>12.1×</a:t>
                      </a:r>
                    </a:p>
                  </a:txBody>
                  <a:tcPr marL="45720" marR="45720" marT="22860" marB="22860" anchor="ctr">
                    <a:lnL w="6350" cap="flat" cmpd="sng" algn="ctr">
                      <a:noFill/>
                    </a:lnL>
                    <a:lnR w="6350" cap="flat" cmpd="sng" algn="ctr">
                      <a:noFill/>
                    </a:lnR>
                    <a:lnT w="6350" cap="flat" cmpd="sng" algn="ctr">
                      <a:noFill/>
                    </a:lnT>
                    <a:lnB w="6350" cap="flat" cmpd="sng" algn="ctr">
                      <a:solidFill>
                        <a:srgbClr val="DADCE0"/>
                      </a:solidFill>
                    </a:lnB>
                    <a:solidFill>
                      <a:srgbClr val="FFFFFF"/>
                    </a:solidFill>
                  </a:tcPr>
                </a:tc>
                <a:tc>
                  <a:txBody>
                    <a:bodyPr wrap="square"/>
                    <a:lstStyle/>
                    <a:p>
                      <a:pPr algn="r"/>
                      <a:r>
                        <a:rPr sz="750" b="0">
                          <a:solidFill>
                            <a:srgbClr val="202124"/>
                          </a:solidFill>
                          <a:latin typeface="Arial"/>
                        </a:rPr>
                        <a:t>month 3</a:t>
                      </a:r>
                    </a:p>
                  </a:txBody>
                  <a:tcPr marL="45720" marR="45720" marT="22860" marB="22860" anchor="ctr">
                    <a:lnL w="6350" cap="flat" cmpd="sng" algn="ctr">
                      <a:noFill/>
                    </a:lnL>
                    <a:lnR w="6350" cap="flat" cmpd="sng" algn="ctr">
                      <a:noFill/>
                    </a:lnR>
                    <a:lnT w="6350" cap="flat" cmpd="sng" algn="ctr">
                      <a:noFill/>
                    </a:lnT>
                    <a:lnB w="6350" cap="flat" cmpd="sng" algn="ctr">
                      <a:solidFill>
                        <a:srgbClr val="DADCE0"/>
                      </a:solidFill>
                    </a:lnB>
                    <a:solidFill>
                      <a:srgbClr val="FFFFFF"/>
                    </a:solidFill>
                  </a:tcPr>
                </a:tc>
              </a:tr>
              <a:tr h="210312">
                <a:tc>
                  <a:txBody>
                    <a:bodyPr wrap="square"/>
                    <a:lstStyle/>
                    <a:p>
                      <a:r>
                        <a:rPr sz="750" b="0">
                          <a:solidFill>
                            <a:srgbClr val="202124"/>
                          </a:solidFill>
                          <a:latin typeface="Arial"/>
                        </a:rPr>
                        <a:t>70%</a:t>
                      </a:r>
                    </a:p>
                  </a:txBody>
                  <a:tcPr marL="45720" marR="45720" marT="22860" marB="22860" anchor="ctr">
                    <a:lnL w="6350" cap="flat" cmpd="sng" algn="ctr">
                      <a:noFill/>
                    </a:lnL>
                    <a:lnR w="6350" cap="flat" cmpd="sng" algn="ctr">
                      <a:noFill/>
                    </a:lnR>
                    <a:lnT w="6350" cap="flat" cmpd="sng" algn="ctr">
                      <a:noFill/>
                    </a:lnT>
                    <a:lnB w="6350" cap="flat" cmpd="sng" algn="ctr">
                      <a:solidFill>
                        <a:srgbClr val="DADCE0"/>
                      </a:solidFill>
                    </a:lnB>
                    <a:solidFill>
                      <a:srgbClr val="FFFFFF"/>
                    </a:solidFill>
                  </a:tcPr>
                </a:tc>
                <a:tc>
                  <a:txBody>
                    <a:bodyPr wrap="square"/>
                    <a:lstStyle/>
                    <a:p>
                      <a:r>
                        <a:rPr sz="750" b="0">
                          <a:solidFill>
                            <a:srgbClr val="202124"/>
                          </a:solidFill>
                          <a:latin typeface="Arial"/>
                        </a:rPr>
                        <a:t>80%</a:t>
                      </a:r>
                    </a:p>
                  </a:txBody>
                  <a:tcPr marL="45720" marR="45720" marT="22860" marB="22860" anchor="ctr">
                    <a:lnL w="6350" cap="flat" cmpd="sng" algn="ctr">
                      <a:noFill/>
                    </a:lnL>
                    <a:lnR w="6350" cap="flat" cmpd="sng" algn="ctr">
                      <a:noFill/>
                    </a:lnR>
                    <a:lnT w="6350" cap="flat" cmpd="sng" algn="ctr">
                      <a:noFill/>
                    </a:lnT>
                    <a:lnB w="6350" cap="flat" cmpd="sng" algn="ctr">
                      <a:solidFill>
                        <a:srgbClr val="DADCE0"/>
                      </a:solidFill>
                    </a:lnB>
                    <a:solidFill>
                      <a:srgbClr val="FFFFFF"/>
                    </a:solidFill>
                  </a:tcPr>
                </a:tc>
                <a:tc>
                  <a:txBody>
                    <a:bodyPr wrap="square"/>
                    <a:lstStyle/>
                    <a:p>
                      <a:pPr algn="r"/>
                      <a:r>
                        <a:rPr sz="750" b="0">
                          <a:solidFill>
                            <a:srgbClr val="202124"/>
                          </a:solidFill>
                          <a:latin typeface="Arial"/>
                        </a:rPr>
                        <a:t>₹4.8 Cr</a:t>
                      </a:r>
                    </a:p>
                  </a:txBody>
                  <a:tcPr marL="45720" marR="45720" marT="22860" marB="22860" anchor="ctr">
                    <a:lnL w="6350" cap="flat" cmpd="sng" algn="ctr">
                      <a:noFill/>
                    </a:lnL>
                    <a:lnR w="6350" cap="flat" cmpd="sng" algn="ctr">
                      <a:noFill/>
                    </a:lnR>
                    <a:lnT w="6350" cap="flat" cmpd="sng" algn="ctr">
                      <a:noFill/>
                    </a:lnT>
                    <a:lnB w="6350" cap="flat" cmpd="sng" algn="ctr">
                      <a:solidFill>
                        <a:srgbClr val="DADCE0"/>
                      </a:solidFill>
                    </a:lnB>
                    <a:solidFill>
                      <a:srgbClr val="FFFFFF"/>
                    </a:solidFill>
                  </a:tcPr>
                </a:tc>
                <a:tc>
                  <a:txBody>
                    <a:bodyPr wrap="square"/>
                    <a:lstStyle/>
                    <a:p>
                      <a:pPr algn="r"/>
                      <a:r>
                        <a:rPr sz="750" b="0">
                          <a:solidFill>
                            <a:srgbClr val="202124"/>
                          </a:solidFill>
                          <a:latin typeface="Arial"/>
                        </a:rPr>
                        <a:t>8.2×</a:t>
                      </a:r>
                    </a:p>
                  </a:txBody>
                  <a:tcPr marL="45720" marR="45720" marT="22860" marB="22860" anchor="ctr">
                    <a:lnL w="6350" cap="flat" cmpd="sng" algn="ctr">
                      <a:noFill/>
                    </a:lnL>
                    <a:lnR w="6350" cap="flat" cmpd="sng" algn="ctr">
                      <a:noFill/>
                    </a:lnR>
                    <a:lnT w="6350" cap="flat" cmpd="sng" algn="ctr">
                      <a:noFill/>
                    </a:lnT>
                    <a:lnB w="6350" cap="flat" cmpd="sng" algn="ctr">
                      <a:solidFill>
                        <a:srgbClr val="DADCE0"/>
                      </a:solidFill>
                    </a:lnB>
                    <a:solidFill>
                      <a:srgbClr val="FFFFFF"/>
                    </a:solidFill>
                  </a:tcPr>
                </a:tc>
                <a:tc>
                  <a:txBody>
                    <a:bodyPr wrap="square"/>
                    <a:lstStyle/>
                    <a:p>
                      <a:pPr algn="r"/>
                      <a:r>
                        <a:rPr sz="750" b="0">
                          <a:solidFill>
                            <a:srgbClr val="202124"/>
                          </a:solidFill>
                          <a:latin typeface="Arial"/>
                        </a:rPr>
                        <a:t>month 3</a:t>
                      </a:r>
                    </a:p>
                  </a:txBody>
                  <a:tcPr marL="45720" marR="45720" marT="22860" marB="22860" anchor="ctr">
                    <a:lnL w="6350" cap="flat" cmpd="sng" algn="ctr">
                      <a:noFill/>
                    </a:lnL>
                    <a:lnR w="6350" cap="flat" cmpd="sng" algn="ctr">
                      <a:noFill/>
                    </a:lnR>
                    <a:lnT w="6350" cap="flat" cmpd="sng" algn="ctr">
                      <a:noFill/>
                    </a:lnT>
                    <a:lnB w="6350" cap="flat" cmpd="sng" algn="ctr">
                      <a:solidFill>
                        <a:srgbClr val="DADCE0"/>
                      </a:solidFill>
                    </a:lnB>
                    <a:solidFill>
                      <a:srgbClr val="FFFFFF"/>
                    </a:solidFill>
                  </a:tcPr>
                </a:tc>
              </a:tr>
              <a:tr h="210312">
                <a:tc>
                  <a:txBody>
                    <a:bodyPr wrap="square"/>
                    <a:lstStyle/>
                    <a:p>
                      <a:r>
                        <a:rPr sz="750" b="0">
                          <a:solidFill>
                            <a:srgbClr val="202124"/>
                          </a:solidFill>
                          <a:latin typeface="Arial"/>
                        </a:rPr>
                        <a:t>60%</a:t>
                      </a:r>
                    </a:p>
                  </a:txBody>
                  <a:tcPr marL="45720" marR="45720" marT="22860" marB="22860" anchor="ctr">
                    <a:lnL w="6350" cap="flat" cmpd="sng" algn="ctr">
                      <a:noFill/>
                    </a:lnL>
                    <a:lnR w="6350" cap="flat" cmpd="sng" algn="ctr">
                      <a:noFill/>
                    </a:lnR>
                    <a:lnT w="6350" cap="flat" cmpd="sng" algn="ctr">
                      <a:noFill/>
                    </a:lnT>
                    <a:lnB w="6350" cap="flat" cmpd="sng" algn="ctr">
                      <a:solidFill>
                        <a:srgbClr val="DADCE0"/>
                      </a:solidFill>
                    </a:lnB>
                    <a:solidFill>
                      <a:srgbClr val="FFFFFF"/>
                    </a:solidFill>
                  </a:tcPr>
                </a:tc>
                <a:tc>
                  <a:txBody>
                    <a:bodyPr wrap="square"/>
                    <a:lstStyle/>
                    <a:p>
                      <a:r>
                        <a:rPr sz="750" b="0">
                          <a:solidFill>
                            <a:srgbClr val="202124"/>
                          </a:solidFill>
                          <a:latin typeface="Arial"/>
                        </a:rPr>
                        <a:t>70%</a:t>
                      </a:r>
                    </a:p>
                  </a:txBody>
                  <a:tcPr marL="45720" marR="45720" marT="22860" marB="22860" anchor="ctr">
                    <a:lnL w="6350" cap="flat" cmpd="sng" algn="ctr">
                      <a:noFill/>
                    </a:lnL>
                    <a:lnR w="6350" cap="flat" cmpd="sng" algn="ctr">
                      <a:noFill/>
                    </a:lnR>
                    <a:lnT w="6350" cap="flat" cmpd="sng" algn="ctr">
                      <a:noFill/>
                    </a:lnT>
                    <a:lnB w="6350" cap="flat" cmpd="sng" algn="ctr">
                      <a:solidFill>
                        <a:srgbClr val="DADCE0"/>
                      </a:solidFill>
                    </a:lnB>
                    <a:solidFill>
                      <a:srgbClr val="FFFFFF"/>
                    </a:solidFill>
                  </a:tcPr>
                </a:tc>
                <a:tc>
                  <a:txBody>
                    <a:bodyPr wrap="square"/>
                    <a:lstStyle/>
                    <a:p>
                      <a:pPr algn="r"/>
                      <a:r>
                        <a:rPr sz="750" b="0">
                          <a:solidFill>
                            <a:srgbClr val="202124"/>
                          </a:solidFill>
                          <a:latin typeface="Arial"/>
                        </a:rPr>
                        <a:t>₹3.2 Cr</a:t>
                      </a:r>
                    </a:p>
                  </a:txBody>
                  <a:tcPr marL="45720" marR="45720" marT="22860" marB="22860" anchor="ctr">
                    <a:lnL w="6350" cap="flat" cmpd="sng" algn="ctr">
                      <a:noFill/>
                    </a:lnL>
                    <a:lnR w="6350" cap="flat" cmpd="sng" algn="ctr">
                      <a:noFill/>
                    </a:lnR>
                    <a:lnT w="6350" cap="flat" cmpd="sng" algn="ctr">
                      <a:noFill/>
                    </a:lnT>
                    <a:lnB w="6350" cap="flat" cmpd="sng" algn="ctr">
                      <a:solidFill>
                        <a:srgbClr val="DADCE0"/>
                      </a:solidFill>
                    </a:lnB>
                    <a:solidFill>
                      <a:srgbClr val="FFFFFF"/>
                    </a:solidFill>
                  </a:tcPr>
                </a:tc>
                <a:tc>
                  <a:txBody>
                    <a:bodyPr wrap="square"/>
                    <a:lstStyle/>
                    <a:p>
                      <a:pPr algn="r"/>
                      <a:r>
                        <a:rPr sz="750" b="0">
                          <a:solidFill>
                            <a:srgbClr val="202124"/>
                          </a:solidFill>
                          <a:latin typeface="Arial"/>
                        </a:rPr>
                        <a:t>5.5×</a:t>
                      </a:r>
                    </a:p>
                  </a:txBody>
                  <a:tcPr marL="45720" marR="45720" marT="22860" marB="22860" anchor="ctr">
                    <a:lnL w="6350" cap="flat" cmpd="sng" algn="ctr">
                      <a:noFill/>
                    </a:lnL>
                    <a:lnR w="6350" cap="flat" cmpd="sng" algn="ctr">
                      <a:noFill/>
                    </a:lnR>
                    <a:lnT w="6350" cap="flat" cmpd="sng" algn="ctr">
                      <a:noFill/>
                    </a:lnT>
                    <a:lnB w="6350" cap="flat" cmpd="sng" algn="ctr">
                      <a:solidFill>
                        <a:srgbClr val="DADCE0"/>
                      </a:solidFill>
                    </a:lnB>
                    <a:solidFill>
                      <a:srgbClr val="FFFFFF"/>
                    </a:solidFill>
                  </a:tcPr>
                </a:tc>
                <a:tc>
                  <a:txBody>
                    <a:bodyPr wrap="square"/>
                    <a:lstStyle/>
                    <a:p>
                      <a:pPr algn="r"/>
                      <a:r>
                        <a:rPr sz="750" b="0">
                          <a:solidFill>
                            <a:srgbClr val="202124"/>
                          </a:solidFill>
                          <a:latin typeface="Arial"/>
                        </a:rPr>
                        <a:t>month 4</a:t>
                      </a:r>
                    </a:p>
                  </a:txBody>
                  <a:tcPr marL="45720" marR="45720" marT="22860" marB="22860" anchor="ctr">
                    <a:lnL w="6350" cap="flat" cmpd="sng" algn="ctr">
                      <a:noFill/>
                    </a:lnL>
                    <a:lnR w="6350" cap="flat" cmpd="sng" algn="ctr">
                      <a:noFill/>
                    </a:lnR>
                    <a:lnT w="6350" cap="flat" cmpd="sng" algn="ctr">
                      <a:noFill/>
                    </a:lnT>
                    <a:lnB w="6350" cap="flat" cmpd="sng" algn="ctr">
                      <a:solidFill>
                        <a:srgbClr val="DADCE0"/>
                      </a:solidFill>
                    </a:lnB>
                    <a:solidFill>
                      <a:srgbClr val="FFFFFF"/>
                    </a:solidFill>
                  </a:tcPr>
                </a:tc>
              </a:tr>
              <a:tr h="210312">
                <a:tc>
                  <a:txBody>
                    <a:bodyPr wrap="square"/>
                    <a:lstStyle/>
                    <a:p>
                      <a:r>
                        <a:rPr sz="750" b="0">
                          <a:solidFill>
                            <a:srgbClr val="202124"/>
                          </a:solidFill>
                          <a:latin typeface="Arial"/>
                        </a:rPr>
                        <a:t>50%</a:t>
                      </a:r>
                    </a:p>
                  </a:txBody>
                  <a:tcPr marL="45720" marR="45720" marT="22860" marB="22860" anchor="ctr">
                    <a:lnL w="6350" cap="flat" cmpd="sng" algn="ctr">
                      <a:noFill/>
                    </a:lnL>
                    <a:lnR w="6350" cap="flat" cmpd="sng" algn="ctr">
                      <a:noFill/>
                    </a:lnR>
                    <a:lnT w="6350" cap="flat" cmpd="sng" algn="ctr">
                      <a:noFill/>
                    </a:lnT>
                    <a:lnB w="6350" cap="flat" cmpd="sng" algn="ctr">
                      <a:solidFill>
                        <a:srgbClr val="9AA0A6"/>
                      </a:solidFill>
                    </a:lnB>
                    <a:solidFill>
                      <a:srgbClr val="FFFFFF"/>
                    </a:solidFill>
                  </a:tcPr>
                </a:tc>
                <a:tc>
                  <a:txBody>
                    <a:bodyPr wrap="square"/>
                    <a:lstStyle/>
                    <a:p>
                      <a:r>
                        <a:rPr sz="750" b="0">
                          <a:solidFill>
                            <a:srgbClr val="202124"/>
                          </a:solidFill>
                          <a:latin typeface="Arial"/>
                        </a:rPr>
                        <a:t>60%</a:t>
                      </a:r>
                    </a:p>
                  </a:txBody>
                  <a:tcPr marL="45720" marR="45720" marT="22860" marB="22860" anchor="ctr">
                    <a:lnL w="6350" cap="flat" cmpd="sng" algn="ctr">
                      <a:noFill/>
                    </a:lnL>
                    <a:lnR w="6350" cap="flat" cmpd="sng" algn="ctr">
                      <a:noFill/>
                    </a:lnR>
                    <a:lnT w="6350" cap="flat" cmpd="sng" algn="ctr">
                      <a:noFill/>
                    </a:lnT>
                    <a:lnB w="6350" cap="flat" cmpd="sng" algn="ctr">
                      <a:solidFill>
                        <a:srgbClr val="9AA0A6"/>
                      </a:solidFill>
                    </a:lnB>
                    <a:solidFill>
                      <a:srgbClr val="FFFFFF"/>
                    </a:solidFill>
                  </a:tcPr>
                </a:tc>
                <a:tc>
                  <a:txBody>
                    <a:bodyPr wrap="square"/>
                    <a:lstStyle/>
                    <a:p>
                      <a:pPr algn="r"/>
                      <a:r>
                        <a:rPr sz="750" b="0">
                          <a:solidFill>
                            <a:srgbClr val="202124"/>
                          </a:solidFill>
                          <a:latin typeface="Arial"/>
                        </a:rPr>
                        <a:t>₹2.2 Cr</a:t>
                      </a:r>
                    </a:p>
                  </a:txBody>
                  <a:tcPr marL="45720" marR="45720" marT="22860" marB="22860" anchor="ctr">
                    <a:lnL w="6350" cap="flat" cmpd="sng" algn="ctr">
                      <a:noFill/>
                    </a:lnL>
                    <a:lnR w="6350" cap="flat" cmpd="sng" algn="ctr">
                      <a:noFill/>
                    </a:lnR>
                    <a:lnT w="6350" cap="flat" cmpd="sng" algn="ctr">
                      <a:noFill/>
                    </a:lnT>
                    <a:lnB w="6350" cap="flat" cmpd="sng" algn="ctr">
                      <a:solidFill>
                        <a:srgbClr val="9AA0A6"/>
                      </a:solidFill>
                    </a:lnB>
                    <a:solidFill>
                      <a:srgbClr val="FFFFFF"/>
                    </a:solidFill>
                  </a:tcPr>
                </a:tc>
                <a:tc>
                  <a:txBody>
                    <a:bodyPr wrap="square"/>
                    <a:lstStyle/>
                    <a:p>
                      <a:pPr algn="r"/>
                      <a:r>
                        <a:rPr sz="750" b="0">
                          <a:solidFill>
                            <a:srgbClr val="202124"/>
                          </a:solidFill>
                          <a:latin typeface="Arial"/>
                        </a:rPr>
                        <a:t>3.7×</a:t>
                      </a:r>
                    </a:p>
                  </a:txBody>
                  <a:tcPr marL="45720" marR="45720" marT="22860" marB="22860" anchor="ctr">
                    <a:lnL w="6350" cap="flat" cmpd="sng" algn="ctr">
                      <a:noFill/>
                    </a:lnL>
                    <a:lnR w="6350" cap="flat" cmpd="sng" algn="ctr">
                      <a:noFill/>
                    </a:lnR>
                    <a:lnT w="6350" cap="flat" cmpd="sng" algn="ctr">
                      <a:noFill/>
                    </a:lnT>
                    <a:lnB w="6350" cap="flat" cmpd="sng" algn="ctr">
                      <a:solidFill>
                        <a:srgbClr val="9AA0A6"/>
                      </a:solidFill>
                    </a:lnB>
                    <a:solidFill>
                      <a:srgbClr val="FFFFFF"/>
                    </a:solidFill>
                  </a:tcPr>
                </a:tc>
                <a:tc>
                  <a:txBody>
                    <a:bodyPr wrap="square"/>
                    <a:lstStyle/>
                    <a:p>
                      <a:pPr algn="r"/>
                      <a:r>
                        <a:rPr sz="750" b="0">
                          <a:solidFill>
                            <a:srgbClr val="202124"/>
                          </a:solidFill>
                          <a:latin typeface="Arial"/>
                        </a:rPr>
                        <a:t>month 5</a:t>
                      </a:r>
                    </a:p>
                  </a:txBody>
                  <a:tcPr marL="45720" marR="45720" marT="22860" marB="22860" anchor="ctr">
                    <a:lnL w="6350" cap="flat" cmpd="sng" algn="ctr">
                      <a:noFill/>
                    </a:lnL>
                    <a:lnR w="6350" cap="flat" cmpd="sng" algn="ctr">
                      <a:noFill/>
                    </a:lnR>
                    <a:lnT w="6350" cap="flat" cmpd="sng" algn="ctr">
                      <a:noFill/>
                    </a:lnT>
                    <a:lnB w="6350" cap="flat" cmpd="sng" algn="ctr">
                      <a:solidFill>
                        <a:srgbClr val="9AA0A6"/>
                      </a:solidFill>
                    </a:lnB>
                    <a:solidFill>
                      <a:srgbClr val="FFFFFF"/>
                    </a:solidFill>
                  </a:tcPr>
                </a:tc>
              </a:tr>
            </a:tbl>
          </a:graphicData>
        </a:graphic>
      </p:graphicFrame>
      <p:sp>
        <p:nvSpPr>
          <p:cNvPr id="175" name="TextBox 174"/>
          <p:cNvSpPr txBox="1"/>
          <p:nvPr/>
        </p:nvSpPr>
        <p:spPr>
          <a:xfrm>
            <a:off x="5760720" y="4700016"/>
            <a:ext cx="3063240" cy="274320"/>
          </a:xfrm>
          <a:prstGeom prst="rect">
            <a:avLst/>
          </a:prstGeom>
          <a:noFill/>
        </p:spPr>
        <p:txBody>
          <a:bodyPr wrap="square" lIns="0" rIns="0" tIns="0" bIns="0" anchor="t">
            <a:spAutoFit/>
          </a:bodyPr>
          <a:lstStyle/>
          <a:p>
            <a:pPr algn="l">
              <a:spcAft>
                <a:spcPts val="0"/>
              </a:spcAft>
            </a:pPr>
            <a:r>
              <a:rPr sz="700" b="0" i="0">
                <a:solidFill>
                  <a:srgbClr val="5F6368"/>
                </a:solidFill>
                <a:latin typeface="Arial"/>
              </a:rPr>
              <a:t>Same seed and plant; only the two assumptions change. The baseline of 7.6 failures per machine-year is Azure PdM's; calmer fleets sit lower in this table.</a:t>
            </a: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pic>
        <p:nvPicPr>
          <p:cNvPr id="171" name="Google Shape;171;p28"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72" name="Google Shape;172;p28" title="Frame 145.png"/>
          <p:cNvPicPr preferRelativeResize="0"/>
          <p:nvPr/>
        </p:nvPicPr>
        <p:blipFill>
          <a:blip r:embed="rId4">
            <a:alphaModFix/>
          </a:blip>
          <a:stretch>
            <a:fillRect/>
          </a:stretch>
        </p:blipFill>
        <p:spPr>
          <a:xfrm>
            <a:off x="0" y="0"/>
            <a:ext cx="9144000" cy="5143516"/>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pic>
        <p:nvPicPr>
          <p:cNvPr id="164" name="Google Shape;164;p27"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65" name="Google Shape;165;p27"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66" name="Google Shape;166;p27"/>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1" name="Google Shape;71;p15"/>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Technologies to be used in the solution (2 of 2): held back for cost</a:t>
            </a:r>
            <a:endParaRPr sz="1600">
              <a:latin typeface="Google Sans Flex Medium"/>
              <a:ea typeface="Google Sans Flex Medium"/>
              <a:cs typeface="Google Sans Flex Medium"/>
              <a:sym typeface="Google Sans Flex Medium"/>
            </a:endParaRPr>
          </a:p>
        </p:txBody>
      </p:sp>
      <p:sp>
        <p:nvSpPr>
          <p:cNvPr id="167" name="Headline"/>
          <p:cNvSpPr txBox="1"/>
          <p:nvPr/>
        </p:nvSpPr>
        <p:spPr>
          <a:xfrm>
            <a:off x="356616" y="1097280"/>
            <a:ext cx="8458200" cy="457200"/>
          </a:xfrm>
          <a:prstGeom prst="rect">
            <a:avLst/>
          </a:prstGeom>
          <a:noFill/>
        </p:spPr>
        <p:txBody>
          <a:bodyPr wrap="square" lIns="0" rIns="0" tIns="0" bIns="0" anchor="t">
            <a:spAutoFit/>
          </a:bodyPr>
          <a:lstStyle/>
          <a:p>
            <a:pPr algn="l">
              <a:spcAft>
                <a:spcPts val="300"/>
              </a:spcAft>
            </a:pPr>
            <a:r>
              <a:rPr sz="1100" b="1" i="0">
                <a:solidFill>
                  <a:srgbClr val="202124"/>
                </a:solidFill>
                <a:latin typeface="Arial"/>
              </a:rPr>
              <a:t>The prototype runs entirely on free tiers so any plant can try it before paying. These are the paid services we would add, what each improves, and its list price today.</a:t>
            </a:r>
          </a:p>
        </p:txBody>
      </p:sp>
      <p:graphicFrame>
        <p:nvGraphicFramePr>
          <p:cNvPr id="168" name="Table 167"/>
          <p:cNvGraphicFramePr>
            <a:graphicFrameLocks noGrp="1"/>
          </p:cNvGraphicFramePr>
          <p:nvPr/>
        </p:nvGraphicFramePr>
        <p:xfrm>
          <a:off x="356616" y="1627632"/>
          <a:ext cx="8458200" cy="3017520"/>
        </p:xfrm>
        <a:graphic>
          <a:graphicData uri="http://schemas.openxmlformats.org/drawingml/2006/table">
            <a:tbl>
              <a:tblPr firstRow="1">
                <a:tableStyleId>{5C22544A-7EE6-4342-B048-85BDC9FD1C3A}</a:tableStyleId>
              </a:tblPr>
              <a:tblGrid>
                <a:gridCol w="1463040"/>
                <a:gridCol w="1920240"/>
                <a:gridCol w="1920240"/>
                <a:gridCol w="2057400"/>
                <a:gridCol w="1097280"/>
              </a:tblGrid>
              <a:tr h="301752">
                <a:tc>
                  <a:txBody>
                    <a:bodyPr wrap="square"/>
                    <a:lstStyle/>
                    <a:p>
                      <a:r>
                        <a:rPr sz="720" b="1">
                          <a:solidFill>
                            <a:srgbClr val="5F6368"/>
                          </a:solidFill>
                          <a:latin typeface="Arial"/>
                        </a:rPr>
                        <a:t>Service</a:t>
                      </a:r>
                    </a:p>
                  </a:txBody>
                  <a:tcPr marL="45720" marR="45720" marT="22860" marB="22860" anchor="ctr">
                    <a:lnL w="6350" cap="flat" cmpd="sng" algn="ctr">
                      <a:noFill/>
                    </a:lnL>
                    <a:lnR w="6350" cap="flat" cmpd="sng" algn="ctr">
                      <a:noFill/>
                    </a:lnR>
                    <a:lnT w="6350" cap="flat" cmpd="sng" algn="ctr">
                      <a:noFill/>
                    </a:lnT>
                    <a:lnB w="12700" cap="flat" cmpd="sng" algn="ctr">
                      <a:solidFill>
                        <a:srgbClr val="DADCE0"/>
                      </a:solidFill>
                    </a:lnB>
                    <a:solidFill>
                      <a:srgbClr val="F1F3F4"/>
                    </a:solidFill>
                  </a:tcPr>
                </a:tc>
                <a:tc>
                  <a:txBody>
                    <a:bodyPr wrap="square"/>
                    <a:lstStyle/>
                    <a:p>
                      <a:r>
                        <a:rPr sz="720" b="1">
                          <a:solidFill>
                            <a:srgbClr val="5F6368"/>
                          </a:solidFill>
                          <a:latin typeface="Arial"/>
                        </a:rPr>
                        <a:t>What it would add to OpEx</a:t>
                      </a:r>
                    </a:p>
                  </a:txBody>
                  <a:tcPr marL="45720" marR="45720" marT="22860" marB="22860" anchor="ctr">
                    <a:lnL w="6350" cap="flat" cmpd="sng" algn="ctr">
                      <a:noFill/>
                    </a:lnL>
                    <a:lnR w="6350" cap="flat" cmpd="sng" algn="ctr">
                      <a:noFill/>
                    </a:lnR>
                    <a:lnT w="6350" cap="flat" cmpd="sng" algn="ctr">
                      <a:noFill/>
                    </a:lnT>
                    <a:lnB w="12700" cap="flat" cmpd="sng" algn="ctr">
                      <a:solidFill>
                        <a:srgbClr val="DADCE0"/>
                      </a:solidFill>
                    </a:lnB>
                    <a:solidFill>
                      <a:srgbClr val="F1F3F4"/>
                    </a:solidFill>
                  </a:tcPr>
                </a:tc>
                <a:tc>
                  <a:txBody>
                    <a:bodyPr wrap="square"/>
                    <a:lstStyle/>
                    <a:p>
                      <a:r>
                        <a:rPr sz="720" b="1">
                          <a:solidFill>
                            <a:srgbClr val="5F6368"/>
                          </a:solidFill>
                          <a:latin typeface="Arial"/>
                        </a:rPr>
                        <a:t>Why it beats what runs today</a:t>
                      </a:r>
                    </a:p>
                  </a:txBody>
                  <a:tcPr marL="45720" marR="45720" marT="22860" marB="22860" anchor="ctr">
                    <a:lnL w="6350" cap="flat" cmpd="sng" algn="ctr">
                      <a:noFill/>
                    </a:lnL>
                    <a:lnR w="6350" cap="flat" cmpd="sng" algn="ctr">
                      <a:noFill/>
                    </a:lnR>
                    <a:lnT w="6350" cap="flat" cmpd="sng" algn="ctr">
                      <a:noFill/>
                    </a:lnT>
                    <a:lnB w="12700" cap="flat" cmpd="sng" algn="ctr">
                      <a:solidFill>
                        <a:srgbClr val="DADCE0"/>
                      </a:solidFill>
                    </a:lnB>
                    <a:solidFill>
                      <a:srgbClr val="F1F3F4"/>
                    </a:solidFill>
                  </a:tcPr>
                </a:tc>
                <a:tc>
                  <a:txBody>
                    <a:bodyPr wrap="square"/>
                    <a:lstStyle/>
                    <a:p>
                      <a:r>
                        <a:rPr sz="720" b="1">
                          <a:solidFill>
                            <a:srgbClr val="5F6368"/>
                          </a:solidFill>
                          <a:latin typeface="Arial"/>
                        </a:rPr>
                        <a:t>List price (USD)</a:t>
                      </a:r>
                    </a:p>
                  </a:txBody>
                  <a:tcPr marL="45720" marR="45720" marT="22860" marB="22860" anchor="ctr">
                    <a:lnL w="6350" cap="flat" cmpd="sng" algn="ctr">
                      <a:noFill/>
                    </a:lnL>
                    <a:lnR w="6350" cap="flat" cmpd="sng" algn="ctr">
                      <a:noFill/>
                    </a:lnR>
                    <a:lnT w="6350" cap="flat" cmpd="sng" algn="ctr">
                      <a:noFill/>
                    </a:lnT>
                    <a:lnB w="12700" cap="flat" cmpd="sng" algn="ctr">
                      <a:solidFill>
                        <a:srgbClr val="DADCE0"/>
                      </a:solidFill>
                    </a:lnB>
                    <a:solidFill>
                      <a:srgbClr val="F1F3F4"/>
                    </a:solidFill>
                  </a:tcPr>
                </a:tc>
                <a:tc>
                  <a:txBody>
                    <a:bodyPr wrap="square"/>
                    <a:lstStyle/>
                    <a:p>
                      <a:r>
                        <a:rPr sz="720" b="1">
                          <a:solidFill>
                            <a:srgbClr val="5F6368"/>
                          </a:solidFill>
                          <a:latin typeface="Arial"/>
                        </a:rPr>
                        <a:t>When</a:t>
                      </a:r>
                    </a:p>
                  </a:txBody>
                  <a:tcPr marL="45720" marR="45720" marT="22860" marB="22860" anchor="ctr">
                    <a:lnL w="6350" cap="flat" cmpd="sng" algn="ctr">
                      <a:noFill/>
                    </a:lnL>
                    <a:lnR w="6350" cap="flat" cmpd="sng" algn="ctr">
                      <a:noFill/>
                    </a:lnR>
                    <a:lnT w="6350" cap="flat" cmpd="sng" algn="ctr">
                      <a:noFill/>
                    </a:lnT>
                    <a:lnB w="12700" cap="flat" cmpd="sng" algn="ctr">
                      <a:solidFill>
                        <a:srgbClr val="DADCE0"/>
                      </a:solidFill>
                    </a:lnB>
                    <a:solidFill>
                      <a:srgbClr val="F1F3F4"/>
                    </a:solidFill>
                  </a:tcPr>
                </a:tc>
              </a:tr>
              <a:tr h="301752">
                <a:tc>
                  <a:txBody>
                    <a:bodyPr wrap="square"/>
                    <a:lstStyle/>
                    <a:p>
                      <a:r>
                        <a:rPr sz="720" b="1">
                          <a:solidFill>
                            <a:srgbClr val="202124"/>
                          </a:solidFill>
                          <a:latin typeface="Arial"/>
                        </a:rPr>
                        <a:t>Vertex AI for Gemini (already wired, off for the demo)</a:t>
                      </a:r>
                    </a:p>
                  </a:txBody>
                  <a:tcPr marL="45720" marR="45720" marT="22860" marB="22860" anchor="ctr">
                    <a:lnL w="6350" cap="flat" cmpd="sng" algn="ctr">
                      <a:noFill/>
                    </a:lnL>
                    <a:lnR w="6350" cap="flat" cmpd="sng" algn="ctr">
                      <a:noFill/>
                    </a:lnR>
                    <a:lnT w="6350" cap="flat" cmpd="sng" algn="ctr">
                      <a:noFill/>
                    </a:lnT>
                    <a:lnB w="6350" cap="flat" cmpd="sng" algn="ctr">
                      <a:solidFill>
                        <a:srgbClr val="DADCE0"/>
                      </a:solidFill>
                    </a:lnB>
                    <a:solidFill>
                      <a:srgbClr val="FFFFFF"/>
                    </a:solidFill>
                  </a:tcPr>
                </a:tc>
                <a:tc>
                  <a:txBody>
                    <a:bodyPr wrap="square"/>
                    <a:lstStyle/>
                    <a:p>
                      <a:r>
                        <a:rPr sz="720" b="0">
                          <a:solidFill>
                            <a:srgbClr val="202124"/>
                          </a:solidFill>
                          <a:latin typeface="Arial"/>
                        </a:rPr>
                        <a:t>Data residency in asia-south1, IAM, higher quotas, prompts never used for training</a:t>
                      </a:r>
                    </a:p>
                  </a:txBody>
                  <a:tcPr marL="45720" marR="45720" marT="22860" marB="22860" anchor="ctr">
                    <a:lnL w="6350" cap="flat" cmpd="sng" algn="ctr">
                      <a:noFill/>
                    </a:lnL>
                    <a:lnR w="6350" cap="flat" cmpd="sng" algn="ctr">
                      <a:noFill/>
                    </a:lnR>
                    <a:lnT w="6350" cap="flat" cmpd="sng" algn="ctr">
                      <a:noFill/>
                    </a:lnT>
                    <a:lnB w="6350" cap="flat" cmpd="sng" algn="ctr">
                      <a:solidFill>
                        <a:srgbClr val="DADCE0"/>
                      </a:solidFill>
                    </a:lnB>
                    <a:solidFill>
                      <a:srgbClr val="FFFFFF"/>
                    </a:solidFill>
                  </a:tcPr>
                </a:tc>
                <a:tc>
                  <a:txBody>
                    <a:bodyPr wrap="square"/>
                    <a:lstStyle/>
                    <a:p>
                      <a:r>
                        <a:rPr sz="720" b="0">
                          <a:solidFill>
                            <a:srgbClr val="202124"/>
                          </a:solidFill>
                          <a:latin typeface="Arial"/>
                        </a:rPr>
                        <a:t>The demo runs on a free AI Studio key; a plant's sensor data needs the enterprise terms</a:t>
                      </a:r>
                    </a:p>
                  </a:txBody>
                  <a:tcPr marL="45720" marR="45720" marT="22860" marB="22860" anchor="ctr">
                    <a:lnL w="6350" cap="flat" cmpd="sng" algn="ctr">
                      <a:noFill/>
                    </a:lnL>
                    <a:lnR w="6350" cap="flat" cmpd="sng" algn="ctr">
                      <a:noFill/>
                    </a:lnR>
                    <a:lnT w="6350" cap="flat" cmpd="sng" algn="ctr">
                      <a:noFill/>
                    </a:lnT>
                    <a:lnB w="6350" cap="flat" cmpd="sng" algn="ctr">
                      <a:solidFill>
                        <a:srgbClr val="DADCE0"/>
                      </a:solidFill>
                    </a:lnB>
                    <a:solidFill>
                      <a:srgbClr val="FFFFFF"/>
                    </a:solidFill>
                  </a:tcPr>
                </a:tc>
                <a:tc>
                  <a:txBody>
                    <a:bodyPr wrap="square"/>
                    <a:lstStyle/>
                    <a:p>
                      <a:r>
                        <a:rPr sz="720" b="0">
                          <a:solidFill>
                            <a:srgbClr val="202124"/>
                          </a:solidFill>
                          <a:latin typeface="Arial"/>
                        </a:rPr>
                        <a:t>Same per-token price as the API ($0.30 in / $2.50 out per 1M for 3.5 Flash-Lite); no free tier</a:t>
                      </a:r>
                    </a:p>
                  </a:txBody>
                  <a:tcPr marL="45720" marR="45720" marT="22860" marB="22860" anchor="ctr">
                    <a:lnL w="6350" cap="flat" cmpd="sng" algn="ctr">
                      <a:noFill/>
                    </a:lnL>
                    <a:lnR w="6350" cap="flat" cmpd="sng" algn="ctr">
                      <a:noFill/>
                    </a:lnR>
                    <a:lnT w="6350" cap="flat" cmpd="sng" algn="ctr">
                      <a:noFill/>
                    </a:lnT>
                    <a:lnB w="6350" cap="flat" cmpd="sng" algn="ctr">
                      <a:solidFill>
                        <a:srgbClr val="DADCE0"/>
                      </a:solidFill>
                    </a:lnB>
                    <a:solidFill>
                      <a:srgbClr val="FFFFFF"/>
                    </a:solidFill>
                  </a:tcPr>
                </a:tc>
                <a:tc>
                  <a:txBody>
                    <a:bodyPr wrap="square"/>
                    <a:lstStyle/>
                    <a:p>
                      <a:r>
                        <a:rPr sz="720" b="0">
                          <a:solidFill>
                            <a:srgbClr val="202124"/>
                          </a:solidFill>
                          <a:latin typeface="Arial"/>
                        </a:rPr>
                        <a:t>First paying plant</a:t>
                      </a:r>
                    </a:p>
                  </a:txBody>
                  <a:tcPr marL="45720" marR="45720" marT="22860" marB="22860" anchor="ctr">
                    <a:lnL w="6350" cap="flat" cmpd="sng" algn="ctr">
                      <a:noFill/>
                    </a:lnL>
                    <a:lnR w="6350" cap="flat" cmpd="sng" algn="ctr">
                      <a:noFill/>
                    </a:lnR>
                    <a:lnT w="6350" cap="flat" cmpd="sng" algn="ctr">
                      <a:noFill/>
                    </a:lnT>
                    <a:lnB w="6350" cap="flat" cmpd="sng" algn="ctr">
                      <a:solidFill>
                        <a:srgbClr val="DADCE0"/>
                      </a:solidFill>
                    </a:lnB>
                    <a:solidFill>
                      <a:srgbClr val="FFFFFF"/>
                    </a:solidFill>
                  </a:tcPr>
                </a:tc>
              </a:tr>
              <a:tr h="301752">
                <a:tc>
                  <a:txBody>
                    <a:bodyPr wrap="square"/>
                    <a:lstStyle/>
                    <a:p>
                      <a:r>
                        <a:rPr sz="720" b="1">
                          <a:solidFill>
                            <a:srgbClr val="202124"/>
                          </a:solidFill>
                          <a:latin typeface="Arial"/>
                        </a:rPr>
                        <a:t>gemini-3.8-flash as default</a:t>
                      </a:r>
                    </a:p>
                  </a:txBody>
                  <a:tcPr marL="45720" marR="45720" marT="22860" marB="22860" anchor="ctr">
                    <a:lnL w="6350" cap="flat" cmpd="sng" algn="ctr">
                      <a:noFill/>
                    </a:lnL>
                    <a:lnR w="6350" cap="flat" cmpd="sng" algn="ctr">
                      <a:noFill/>
                    </a:lnR>
                    <a:lnT w="6350" cap="flat" cmpd="sng" algn="ctr">
                      <a:noFill/>
                    </a:lnT>
                    <a:lnB w="6350" cap="flat" cmpd="sng" algn="ctr">
                      <a:solidFill>
                        <a:srgbClr val="DADCE0"/>
                      </a:solidFill>
                    </a:lnB>
                    <a:solidFill>
                      <a:srgbClr val="FFFFFF"/>
                    </a:solidFill>
                  </a:tcPr>
                </a:tc>
                <a:tc>
                  <a:txBody>
                    <a:bodyPr wrap="square"/>
                    <a:lstStyle/>
                    <a:p>
                      <a:r>
                        <a:rPr sz="720" b="0">
                          <a:solidFill>
                            <a:srgbClr val="202124"/>
                          </a:solidFill>
                          <a:latin typeface="Arial"/>
                        </a:rPr>
                        <a:t>Sharper multi-step reasoning in the incident room and investigations</a:t>
                      </a:r>
                    </a:p>
                  </a:txBody>
                  <a:tcPr marL="45720" marR="45720" marT="22860" marB="22860" anchor="ctr">
                    <a:lnL w="6350" cap="flat" cmpd="sng" algn="ctr">
                      <a:noFill/>
                    </a:lnL>
                    <a:lnR w="6350" cap="flat" cmpd="sng" algn="ctr">
                      <a:noFill/>
                    </a:lnR>
                    <a:lnT w="6350" cap="flat" cmpd="sng" algn="ctr">
                      <a:noFill/>
                    </a:lnT>
                    <a:lnB w="6350" cap="flat" cmpd="sng" algn="ctr">
                      <a:solidFill>
                        <a:srgbClr val="DADCE0"/>
                      </a:solidFill>
                    </a:lnB>
                    <a:solidFill>
                      <a:srgbClr val="FFFFFF"/>
                    </a:solidFill>
                  </a:tcPr>
                </a:tc>
                <a:tc>
                  <a:txBody>
                    <a:bodyPr wrap="square"/>
                    <a:lstStyle/>
                    <a:p>
                      <a:r>
                        <a:rPr sz="720" b="0">
                          <a:solidFill>
                            <a:srgbClr val="202124"/>
                          </a:solidFill>
                          <a:latin typeface="Arial"/>
                        </a:rPr>
                        <a:t>Flash-Lite was chosen for its free daily quota, not its depth</a:t>
                      </a:r>
                    </a:p>
                  </a:txBody>
                  <a:tcPr marL="45720" marR="45720" marT="22860" marB="22860" anchor="ctr">
                    <a:lnL w="6350" cap="flat" cmpd="sng" algn="ctr">
                      <a:noFill/>
                    </a:lnL>
                    <a:lnR w="6350" cap="flat" cmpd="sng" algn="ctr">
                      <a:noFill/>
                    </a:lnR>
                    <a:lnT w="6350" cap="flat" cmpd="sng" algn="ctr">
                      <a:noFill/>
                    </a:lnT>
                    <a:lnB w="6350" cap="flat" cmpd="sng" algn="ctr">
                      <a:solidFill>
                        <a:srgbClr val="DADCE0"/>
                      </a:solidFill>
                    </a:lnB>
                    <a:solidFill>
                      <a:srgbClr val="FFFFFF"/>
                    </a:solidFill>
                  </a:tcPr>
                </a:tc>
                <a:tc>
                  <a:txBody>
                    <a:bodyPr wrap="square"/>
                    <a:lstStyle/>
                    <a:p>
                      <a:r>
                        <a:rPr sz="720" b="0">
                          <a:solidFill>
                            <a:srgbClr val="202124"/>
                          </a:solidFill>
                          <a:latin typeface="Arial"/>
                        </a:rPr>
                        <a:t>$0.75 in / $3.75 out per 1M tokens, about 2.5× Flash-Lite</a:t>
                      </a:r>
                    </a:p>
                  </a:txBody>
                  <a:tcPr marL="45720" marR="45720" marT="22860" marB="22860" anchor="ctr">
                    <a:lnL w="6350" cap="flat" cmpd="sng" algn="ctr">
                      <a:noFill/>
                    </a:lnL>
                    <a:lnR w="6350" cap="flat" cmpd="sng" algn="ctr">
                      <a:noFill/>
                    </a:lnR>
                    <a:lnT w="6350" cap="flat" cmpd="sng" algn="ctr">
                      <a:noFill/>
                    </a:lnT>
                    <a:lnB w="6350" cap="flat" cmpd="sng" algn="ctr">
                      <a:solidFill>
                        <a:srgbClr val="DADCE0"/>
                      </a:solidFill>
                    </a:lnB>
                    <a:solidFill>
                      <a:srgbClr val="FFFFFF"/>
                    </a:solidFill>
                  </a:tcPr>
                </a:tc>
                <a:tc>
                  <a:txBody>
                    <a:bodyPr wrap="square"/>
                    <a:lstStyle/>
                    <a:p>
                      <a:r>
                        <a:rPr sz="720" b="0">
                          <a:solidFill>
                            <a:srgbClr val="202124"/>
                          </a:solidFill>
                          <a:latin typeface="Arial"/>
                        </a:rPr>
                        <a:t>About ₹8k a month</a:t>
                      </a:r>
                    </a:p>
                  </a:txBody>
                  <a:tcPr marL="45720" marR="45720" marT="22860" marB="22860" anchor="ctr">
                    <a:lnL w="6350" cap="flat" cmpd="sng" algn="ctr">
                      <a:noFill/>
                    </a:lnL>
                    <a:lnR w="6350" cap="flat" cmpd="sng" algn="ctr">
                      <a:noFill/>
                    </a:lnR>
                    <a:lnT w="6350" cap="flat" cmpd="sng" algn="ctr">
                      <a:noFill/>
                    </a:lnT>
                    <a:lnB w="6350" cap="flat" cmpd="sng" algn="ctr">
                      <a:solidFill>
                        <a:srgbClr val="DADCE0"/>
                      </a:solidFill>
                    </a:lnB>
                    <a:solidFill>
                      <a:srgbClr val="FFFFFF"/>
                    </a:solidFill>
                  </a:tcPr>
                </a:tc>
              </a:tr>
              <a:tr h="301752">
                <a:tc>
                  <a:txBody>
                    <a:bodyPr wrap="square"/>
                    <a:lstStyle/>
                    <a:p>
                      <a:r>
                        <a:rPr sz="720" b="1">
                          <a:solidFill>
                            <a:srgbClr val="202124"/>
                          </a:solidFill>
                          <a:latin typeface="Arial"/>
                        </a:rPr>
                        <a:t>Gemini Live API (3.8-live)</a:t>
                      </a:r>
                    </a:p>
                  </a:txBody>
                  <a:tcPr marL="45720" marR="45720" marT="22860" marB="22860" anchor="ctr">
                    <a:lnL w="6350" cap="flat" cmpd="sng" algn="ctr">
                      <a:noFill/>
                    </a:lnL>
                    <a:lnR w="6350" cap="flat" cmpd="sng" algn="ctr">
                      <a:noFill/>
                    </a:lnR>
                    <a:lnT w="6350" cap="flat" cmpd="sng" algn="ctr">
                      <a:noFill/>
                    </a:lnT>
                    <a:lnB w="6350" cap="flat" cmpd="sng" algn="ctr">
                      <a:solidFill>
                        <a:srgbClr val="DADCE0"/>
                      </a:solidFill>
                    </a:lnB>
                    <a:solidFill>
                      <a:srgbClr val="FFFFFF"/>
                    </a:solidFill>
                  </a:tcPr>
                </a:tc>
                <a:tc>
                  <a:txBody>
                    <a:bodyPr wrap="square"/>
                    <a:lstStyle/>
                    <a:p>
                      <a:r>
                        <a:rPr sz="720" b="0">
                          <a:solidFill>
                            <a:srgbClr val="202124"/>
                          </a:solidFill>
                          <a:latin typeface="Arial"/>
                        </a:rPr>
                        <a:t>Real two-way voice at the machine, interruptions, six languages</a:t>
                      </a:r>
                    </a:p>
                  </a:txBody>
                  <a:tcPr marL="45720" marR="45720" marT="22860" marB="22860" anchor="ctr">
                    <a:lnL w="6350" cap="flat" cmpd="sng" algn="ctr">
                      <a:noFill/>
                    </a:lnL>
                    <a:lnR w="6350" cap="flat" cmpd="sng" algn="ctr">
                      <a:noFill/>
                    </a:lnR>
                    <a:lnT w="6350" cap="flat" cmpd="sng" algn="ctr">
                      <a:noFill/>
                    </a:lnT>
                    <a:lnB w="6350" cap="flat" cmpd="sng" algn="ctr">
                      <a:solidFill>
                        <a:srgbClr val="DADCE0"/>
                      </a:solidFill>
                    </a:lnB>
                    <a:solidFill>
                      <a:srgbClr val="FFFFFF"/>
                    </a:solidFill>
                  </a:tcPr>
                </a:tc>
                <a:tc>
                  <a:txBody>
                    <a:bodyPr wrap="square"/>
                    <a:lstStyle/>
                    <a:p>
                      <a:r>
                        <a:rPr sz="720" b="0">
                          <a:solidFill>
                            <a:srgbClr val="202124"/>
                          </a:solidFill>
                          <a:latin typeface="Arial"/>
                        </a:rPr>
                        <a:t>Voice today uses the browser's speech engine, which varies by phone</a:t>
                      </a:r>
                    </a:p>
                  </a:txBody>
                  <a:tcPr marL="45720" marR="45720" marT="22860" marB="22860" anchor="ctr">
                    <a:lnL w="6350" cap="flat" cmpd="sng" algn="ctr">
                      <a:noFill/>
                    </a:lnL>
                    <a:lnR w="6350" cap="flat" cmpd="sng" algn="ctr">
                      <a:noFill/>
                    </a:lnR>
                    <a:lnT w="6350" cap="flat" cmpd="sng" algn="ctr">
                      <a:noFill/>
                    </a:lnT>
                    <a:lnB w="6350" cap="flat" cmpd="sng" algn="ctr">
                      <a:solidFill>
                        <a:srgbClr val="DADCE0"/>
                      </a:solidFill>
                    </a:lnB>
                    <a:solidFill>
                      <a:srgbClr val="FFFFFF"/>
                    </a:solidFill>
                  </a:tcPr>
                </a:tc>
                <a:tc>
                  <a:txBody>
                    <a:bodyPr wrap="square"/>
                    <a:lstStyle/>
                    <a:p>
                      <a:r>
                        <a:rPr sz="720" b="0">
                          <a:solidFill>
                            <a:srgbClr val="202124"/>
                          </a:solidFill>
                          <a:latin typeface="Arial"/>
                        </a:rPr>
                        <a:t>Audio $3.00 in / $12.00 out per 1M tokens (about $0.005 / $0.018 a minute)</a:t>
                      </a:r>
                    </a:p>
                  </a:txBody>
                  <a:tcPr marL="45720" marR="45720" marT="22860" marB="22860" anchor="ctr">
                    <a:lnL w="6350" cap="flat" cmpd="sng" algn="ctr">
                      <a:noFill/>
                    </a:lnL>
                    <a:lnR w="6350" cap="flat" cmpd="sng" algn="ctr">
                      <a:noFill/>
                    </a:lnR>
                    <a:lnT w="6350" cap="flat" cmpd="sng" algn="ctr">
                      <a:noFill/>
                    </a:lnT>
                    <a:lnB w="6350" cap="flat" cmpd="sng" algn="ctr">
                      <a:solidFill>
                        <a:srgbClr val="DADCE0"/>
                      </a:solidFill>
                    </a:lnB>
                    <a:solidFill>
                      <a:srgbClr val="FFFFFF"/>
                    </a:solidFill>
                  </a:tcPr>
                </a:tc>
                <a:tc>
                  <a:txBody>
                    <a:bodyPr wrap="square"/>
                    <a:lstStyle/>
                    <a:p>
                      <a:r>
                        <a:rPr sz="720" b="0">
                          <a:solidFill>
                            <a:srgbClr val="202124"/>
                          </a:solidFill>
                          <a:latin typeface="Arial"/>
                        </a:rPr>
                        <a:t>Operator pilot</a:t>
                      </a:r>
                    </a:p>
                  </a:txBody>
                  <a:tcPr marL="45720" marR="45720" marT="22860" marB="22860" anchor="ctr">
                    <a:lnL w="6350" cap="flat" cmpd="sng" algn="ctr">
                      <a:noFill/>
                    </a:lnL>
                    <a:lnR w="6350" cap="flat" cmpd="sng" algn="ctr">
                      <a:noFill/>
                    </a:lnR>
                    <a:lnT w="6350" cap="flat" cmpd="sng" algn="ctr">
                      <a:noFill/>
                    </a:lnT>
                    <a:lnB w="6350" cap="flat" cmpd="sng" algn="ctr">
                      <a:solidFill>
                        <a:srgbClr val="DADCE0"/>
                      </a:solidFill>
                    </a:lnB>
                    <a:solidFill>
                      <a:srgbClr val="FFFFFF"/>
                    </a:solidFill>
                  </a:tcPr>
                </a:tc>
              </a:tr>
              <a:tr h="301752">
                <a:tc>
                  <a:txBody>
                    <a:bodyPr wrap="square"/>
                    <a:lstStyle/>
                    <a:p>
                      <a:r>
                        <a:rPr sz="720" b="1">
                          <a:solidFill>
                            <a:srgbClr val="202124"/>
                          </a:solidFill>
                          <a:latin typeface="Arial"/>
                        </a:rPr>
                        <a:t>Speech-to-Text (Chirp 3)</a:t>
                      </a:r>
                    </a:p>
                  </a:txBody>
                  <a:tcPr marL="45720" marR="45720" marT="22860" marB="22860" anchor="ctr">
                    <a:lnL w="6350" cap="flat" cmpd="sng" algn="ctr">
                      <a:noFill/>
                    </a:lnL>
                    <a:lnR w="6350" cap="flat" cmpd="sng" algn="ctr">
                      <a:noFill/>
                    </a:lnR>
                    <a:lnT w="6350" cap="flat" cmpd="sng" algn="ctr">
                      <a:noFill/>
                    </a:lnT>
                    <a:lnB w="6350" cap="flat" cmpd="sng" algn="ctr">
                      <a:solidFill>
                        <a:srgbClr val="DADCE0"/>
                      </a:solidFill>
                    </a:lnB>
                    <a:solidFill>
                      <a:srgbClr val="FFFFFF"/>
                    </a:solidFill>
                  </a:tcPr>
                </a:tc>
                <a:tc>
                  <a:txBody>
                    <a:bodyPr wrap="square"/>
                    <a:lstStyle/>
                    <a:p>
                      <a:r>
                        <a:rPr sz="720" b="0">
                          <a:solidFill>
                            <a:srgbClr val="202124"/>
                          </a:solidFill>
                          <a:latin typeface="Arial"/>
                        </a:rPr>
                        <a:t>Server-side transcripts of operator notes in Indian languages</a:t>
                      </a:r>
                    </a:p>
                  </a:txBody>
                  <a:tcPr marL="45720" marR="45720" marT="22860" marB="22860" anchor="ctr">
                    <a:lnL w="6350" cap="flat" cmpd="sng" algn="ctr">
                      <a:noFill/>
                    </a:lnL>
                    <a:lnR w="6350" cap="flat" cmpd="sng" algn="ctr">
                      <a:noFill/>
                    </a:lnR>
                    <a:lnT w="6350" cap="flat" cmpd="sng" algn="ctr">
                      <a:noFill/>
                    </a:lnT>
                    <a:lnB w="6350" cap="flat" cmpd="sng" algn="ctr">
                      <a:solidFill>
                        <a:srgbClr val="DADCE0"/>
                      </a:solidFill>
                    </a:lnB>
                    <a:solidFill>
                      <a:srgbClr val="FFFFFF"/>
                    </a:solidFill>
                  </a:tcPr>
                </a:tc>
                <a:tc>
                  <a:txBody>
                    <a:bodyPr wrap="square"/>
                    <a:lstStyle/>
                    <a:p>
                      <a:r>
                        <a:rPr sz="720" b="0">
                          <a:solidFill>
                            <a:srgbClr val="202124"/>
                          </a:solidFill>
                          <a:latin typeface="Arial"/>
                        </a:rPr>
                        <a:t>Same quality on every device; transcript stored with the decision</a:t>
                      </a:r>
                    </a:p>
                  </a:txBody>
                  <a:tcPr marL="45720" marR="45720" marT="22860" marB="22860" anchor="ctr">
                    <a:lnL w="6350" cap="flat" cmpd="sng" algn="ctr">
                      <a:noFill/>
                    </a:lnL>
                    <a:lnR w="6350" cap="flat" cmpd="sng" algn="ctr">
                      <a:noFill/>
                    </a:lnR>
                    <a:lnT w="6350" cap="flat" cmpd="sng" algn="ctr">
                      <a:noFill/>
                    </a:lnT>
                    <a:lnB w="6350" cap="flat" cmpd="sng" algn="ctr">
                      <a:solidFill>
                        <a:srgbClr val="DADCE0"/>
                      </a:solidFill>
                    </a:lnB>
                    <a:solidFill>
                      <a:srgbClr val="FFFFFF"/>
                    </a:solidFill>
                  </a:tcPr>
                </a:tc>
                <a:tc>
                  <a:txBody>
                    <a:bodyPr wrap="square"/>
                    <a:lstStyle/>
                    <a:p>
                      <a:r>
                        <a:rPr sz="720" b="0">
                          <a:solidFill>
                            <a:srgbClr val="202124"/>
                          </a:solidFill>
                          <a:latin typeface="Arial"/>
                        </a:rPr>
                        <a:t>$0.016 a minute after 60 free minutes a month</a:t>
                      </a:r>
                    </a:p>
                  </a:txBody>
                  <a:tcPr marL="45720" marR="45720" marT="22860" marB="22860" anchor="ctr">
                    <a:lnL w="6350" cap="flat" cmpd="sng" algn="ctr">
                      <a:noFill/>
                    </a:lnL>
                    <a:lnR w="6350" cap="flat" cmpd="sng" algn="ctr">
                      <a:noFill/>
                    </a:lnR>
                    <a:lnT w="6350" cap="flat" cmpd="sng" algn="ctr">
                      <a:noFill/>
                    </a:lnT>
                    <a:lnB w="6350" cap="flat" cmpd="sng" algn="ctr">
                      <a:solidFill>
                        <a:srgbClr val="DADCE0"/>
                      </a:solidFill>
                    </a:lnB>
                    <a:solidFill>
                      <a:srgbClr val="FFFFFF"/>
                    </a:solidFill>
                  </a:tcPr>
                </a:tc>
                <a:tc>
                  <a:txBody>
                    <a:bodyPr wrap="square"/>
                    <a:lstStyle/>
                    <a:p>
                      <a:r>
                        <a:rPr sz="720" b="0">
                          <a:solidFill>
                            <a:srgbClr val="202124"/>
                          </a:solidFill>
                          <a:latin typeface="Arial"/>
                        </a:rPr>
                        <a:t>Operator pilot</a:t>
                      </a:r>
                    </a:p>
                  </a:txBody>
                  <a:tcPr marL="45720" marR="45720" marT="22860" marB="22860" anchor="ctr">
                    <a:lnL w="6350" cap="flat" cmpd="sng" algn="ctr">
                      <a:noFill/>
                    </a:lnL>
                    <a:lnR w="6350" cap="flat" cmpd="sng" algn="ctr">
                      <a:noFill/>
                    </a:lnR>
                    <a:lnT w="6350" cap="flat" cmpd="sng" algn="ctr">
                      <a:noFill/>
                    </a:lnT>
                    <a:lnB w="6350" cap="flat" cmpd="sng" algn="ctr">
                      <a:solidFill>
                        <a:srgbClr val="DADCE0"/>
                      </a:solidFill>
                    </a:lnB>
                    <a:solidFill>
                      <a:srgbClr val="FFFFFF"/>
                    </a:solidFill>
                  </a:tcPr>
                </a:tc>
              </a:tr>
              <a:tr h="301752">
                <a:tc>
                  <a:txBody>
                    <a:bodyPr wrap="square"/>
                    <a:lstStyle/>
                    <a:p>
                      <a:r>
                        <a:rPr sz="720" b="1">
                          <a:solidFill>
                            <a:srgbClr val="202124"/>
                          </a:solidFill>
                          <a:latin typeface="Arial"/>
                        </a:rPr>
                        <a:t>Vertex AI Agent Engine + ADK</a:t>
                      </a:r>
                    </a:p>
                  </a:txBody>
                  <a:tcPr marL="45720" marR="45720" marT="22860" marB="22860" anchor="ctr">
                    <a:lnL w="6350" cap="flat" cmpd="sng" algn="ctr">
                      <a:noFill/>
                    </a:lnL>
                    <a:lnR w="6350" cap="flat" cmpd="sng" algn="ctr">
                      <a:noFill/>
                    </a:lnR>
                    <a:lnT w="6350" cap="flat" cmpd="sng" algn="ctr">
                      <a:noFill/>
                    </a:lnT>
                    <a:lnB w="6350" cap="flat" cmpd="sng" algn="ctr">
                      <a:solidFill>
                        <a:srgbClr val="DADCE0"/>
                      </a:solidFill>
                    </a:lnB>
                    <a:solidFill>
                      <a:srgbClr val="FFFFFF"/>
                    </a:solidFill>
                  </a:tcPr>
                </a:tc>
                <a:tc>
                  <a:txBody>
                    <a:bodyPr wrap="square"/>
                    <a:lstStyle/>
                    <a:p>
                      <a:r>
                        <a:rPr sz="720" b="0">
                          <a:solidFill>
                            <a:srgbClr val="202124"/>
                          </a:solidFill>
                          <a:latin typeface="Arial"/>
                        </a:rPr>
                        <a:t>Hosted, traced, versioned agents with sessions and memory</a:t>
                      </a:r>
                    </a:p>
                  </a:txBody>
                  <a:tcPr marL="45720" marR="45720" marT="22860" marB="22860" anchor="ctr">
                    <a:lnL w="6350" cap="flat" cmpd="sng" algn="ctr">
                      <a:noFill/>
                    </a:lnL>
                    <a:lnR w="6350" cap="flat" cmpd="sng" algn="ctr">
                      <a:noFill/>
                    </a:lnR>
                    <a:lnT w="6350" cap="flat" cmpd="sng" algn="ctr">
                      <a:noFill/>
                    </a:lnT>
                    <a:lnB w="6350" cap="flat" cmpd="sng" algn="ctr">
                      <a:solidFill>
                        <a:srgbClr val="DADCE0"/>
                      </a:solidFill>
                    </a:lnB>
                    <a:solidFill>
                      <a:srgbClr val="FFFFFF"/>
                    </a:solidFill>
                  </a:tcPr>
                </a:tc>
                <a:tc>
                  <a:txBody>
                    <a:bodyPr wrap="square"/>
                    <a:lstStyle/>
                    <a:p>
                      <a:r>
                        <a:rPr sz="720" b="0">
                          <a:solidFill>
                            <a:srgbClr val="202124"/>
                          </a:solidFill>
                          <a:latin typeface="Arial"/>
                        </a:rPr>
                        <a:t>The three agents run in-process; tracing and evaluation are hand-rolled</a:t>
                      </a:r>
                    </a:p>
                  </a:txBody>
                  <a:tcPr marL="45720" marR="45720" marT="22860" marB="22860" anchor="ctr">
                    <a:lnL w="6350" cap="flat" cmpd="sng" algn="ctr">
                      <a:noFill/>
                    </a:lnL>
                    <a:lnR w="6350" cap="flat" cmpd="sng" algn="ctr">
                      <a:noFill/>
                    </a:lnR>
                    <a:lnT w="6350" cap="flat" cmpd="sng" algn="ctr">
                      <a:noFill/>
                    </a:lnT>
                    <a:lnB w="6350" cap="flat" cmpd="sng" algn="ctr">
                      <a:solidFill>
                        <a:srgbClr val="DADCE0"/>
                      </a:solidFill>
                    </a:lnB>
                    <a:solidFill>
                      <a:srgbClr val="FFFFFF"/>
                    </a:solidFill>
                  </a:tcPr>
                </a:tc>
                <a:tc>
                  <a:txBody>
                    <a:bodyPr wrap="square"/>
                    <a:lstStyle/>
                    <a:p>
                      <a:r>
                        <a:rPr sz="720" b="0">
                          <a:solidFill>
                            <a:srgbClr val="202124"/>
                          </a:solidFill>
                          <a:latin typeface="Arial"/>
                        </a:rPr>
                        <a:t>$0.0864 per vCPU-hour, $0.009 per GiB-hour after 50 free vCPU-hours</a:t>
                      </a:r>
                    </a:p>
                  </a:txBody>
                  <a:tcPr marL="45720" marR="45720" marT="22860" marB="22860" anchor="ctr">
                    <a:lnL w="6350" cap="flat" cmpd="sng" algn="ctr">
                      <a:noFill/>
                    </a:lnL>
                    <a:lnR w="6350" cap="flat" cmpd="sng" algn="ctr">
                      <a:noFill/>
                    </a:lnR>
                    <a:lnT w="6350" cap="flat" cmpd="sng" algn="ctr">
                      <a:noFill/>
                    </a:lnT>
                    <a:lnB w="6350" cap="flat" cmpd="sng" algn="ctr">
                      <a:solidFill>
                        <a:srgbClr val="DADCE0"/>
                      </a:solidFill>
                    </a:lnB>
                    <a:solidFill>
                      <a:srgbClr val="FFFFFF"/>
                    </a:solidFill>
                  </a:tcPr>
                </a:tc>
                <a:tc>
                  <a:txBody>
                    <a:bodyPr wrap="square"/>
                    <a:lstStyle/>
                    <a:p>
                      <a:r>
                        <a:rPr sz="720" b="0">
                          <a:solidFill>
                            <a:srgbClr val="202124"/>
                          </a:solidFill>
                          <a:latin typeface="Arial"/>
                        </a:rPr>
                        <a:t>Second plant</a:t>
                      </a:r>
                    </a:p>
                  </a:txBody>
                  <a:tcPr marL="45720" marR="45720" marT="22860" marB="22860" anchor="ctr">
                    <a:lnL w="6350" cap="flat" cmpd="sng" algn="ctr">
                      <a:noFill/>
                    </a:lnL>
                    <a:lnR w="6350" cap="flat" cmpd="sng" algn="ctr">
                      <a:noFill/>
                    </a:lnR>
                    <a:lnT w="6350" cap="flat" cmpd="sng" algn="ctr">
                      <a:noFill/>
                    </a:lnT>
                    <a:lnB w="6350" cap="flat" cmpd="sng" algn="ctr">
                      <a:solidFill>
                        <a:srgbClr val="DADCE0"/>
                      </a:solidFill>
                    </a:lnB>
                    <a:solidFill>
                      <a:srgbClr val="FFFFFF"/>
                    </a:solidFill>
                  </a:tcPr>
                </a:tc>
              </a:tr>
              <a:tr h="301752">
                <a:tc>
                  <a:txBody>
                    <a:bodyPr wrap="square"/>
                    <a:lstStyle/>
                    <a:p>
                      <a:r>
                        <a:rPr sz="720" b="1">
                          <a:solidFill>
                            <a:srgbClr val="202124"/>
                          </a:solidFill>
                          <a:latin typeface="Arial"/>
                        </a:rPr>
                        <a:t>Vertex AI Vector Search</a:t>
                      </a:r>
                    </a:p>
                  </a:txBody>
                  <a:tcPr marL="45720" marR="45720" marT="22860" marB="22860" anchor="ctr">
                    <a:lnL w="6350" cap="flat" cmpd="sng" algn="ctr">
                      <a:noFill/>
                    </a:lnL>
                    <a:lnR w="6350" cap="flat" cmpd="sng" algn="ctr">
                      <a:noFill/>
                    </a:lnR>
                    <a:lnT w="6350" cap="flat" cmpd="sng" algn="ctr">
                      <a:noFill/>
                    </a:lnT>
                    <a:lnB w="6350" cap="flat" cmpd="sng" algn="ctr">
                      <a:solidFill>
                        <a:srgbClr val="DADCE0"/>
                      </a:solidFill>
                    </a:lnB>
                    <a:solidFill>
                      <a:srgbClr val="FFFFFF"/>
                    </a:solidFill>
                  </a:tcPr>
                </a:tc>
                <a:tc>
                  <a:txBody>
                    <a:bodyPr wrap="square"/>
                    <a:lstStyle/>
                    <a:p>
                      <a:r>
                        <a:rPr sz="720" b="0">
                          <a:solidFill>
                            <a:srgbClr val="202124"/>
                          </a:solidFill>
                          <a:latin typeface="Arial"/>
                        </a:rPr>
                        <a:t>Factory memory beyond about 100k chunks</a:t>
                      </a:r>
                    </a:p>
                  </a:txBody>
                  <a:tcPr marL="45720" marR="45720" marT="22860" marB="22860" anchor="ctr">
                    <a:lnL w="6350" cap="flat" cmpd="sng" algn="ctr">
                      <a:noFill/>
                    </a:lnL>
                    <a:lnR w="6350" cap="flat" cmpd="sng" algn="ctr">
                      <a:noFill/>
                    </a:lnR>
                    <a:lnT w="6350" cap="flat" cmpd="sng" algn="ctr">
                      <a:noFill/>
                    </a:lnT>
                    <a:lnB w="6350" cap="flat" cmpd="sng" algn="ctr">
                      <a:solidFill>
                        <a:srgbClr val="DADCE0"/>
                      </a:solidFill>
                    </a:lnB>
                    <a:solidFill>
                      <a:srgbClr val="FFFFFF"/>
                    </a:solidFill>
                  </a:tcPr>
                </a:tc>
                <a:tc>
                  <a:txBody>
                    <a:bodyPr wrap="square"/>
                    <a:lstStyle/>
                    <a:p>
                      <a:r>
                        <a:rPr sz="720" b="0">
                          <a:solidFill>
                            <a:srgbClr val="202124"/>
                          </a:solidFill>
                          <a:latin typeface="Arial"/>
                        </a:rPr>
                        <a:t>In-memory search is enough for 250 chunks; pgvector is the step between</a:t>
                      </a:r>
                    </a:p>
                  </a:txBody>
                  <a:tcPr marL="45720" marR="45720" marT="22860" marB="22860" anchor="ctr">
                    <a:lnL w="6350" cap="flat" cmpd="sng" algn="ctr">
                      <a:noFill/>
                    </a:lnL>
                    <a:lnR w="6350" cap="flat" cmpd="sng" algn="ctr">
                      <a:noFill/>
                    </a:lnR>
                    <a:lnT w="6350" cap="flat" cmpd="sng" algn="ctr">
                      <a:noFill/>
                    </a:lnT>
                    <a:lnB w="6350" cap="flat" cmpd="sng" algn="ctr">
                      <a:solidFill>
                        <a:srgbClr val="DADCE0"/>
                      </a:solidFill>
                    </a:lnB>
                    <a:solidFill>
                      <a:srgbClr val="FFFFFF"/>
                    </a:solidFill>
                  </a:tcPr>
                </a:tc>
                <a:tc>
                  <a:txBody>
                    <a:bodyPr wrap="square"/>
                    <a:lstStyle/>
                    <a:p>
                      <a:r>
                        <a:rPr sz="720" b="0">
                          <a:solidFill>
                            <a:srgbClr val="202124"/>
                          </a:solidFill>
                          <a:latin typeface="Arial"/>
                        </a:rPr>
                        <a:t>About $0.75 per node-hour reported (about $550 a month minimum)</a:t>
                      </a:r>
                    </a:p>
                  </a:txBody>
                  <a:tcPr marL="45720" marR="45720" marT="22860" marB="22860" anchor="ctr">
                    <a:lnL w="6350" cap="flat" cmpd="sng" algn="ctr">
                      <a:noFill/>
                    </a:lnL>
                    <a:lnR w="6350" cap="flat" cmpd="sng" algn="ctr">
                      <a:noFill/>
                    </a:lnR>
                    <a:lnT w="6350" cap="flat" cmpd="sng" algn="ctr">
                      <a:noFill/>
                    </a:lnT>
                    <a:lnB w="6350" cap="flat" cmpd="sng" algn="ctr">
                      <a:solidFill>
                        <a:srgbClr val="DADCE0"/>
                      </a:solidFill>
                    </a:lnB>
                    <a:solidFill>
                      <a:srgbClr val="FFFFFF"/>
                    </a:solidFill>
                  </a:tcPr>
                </a:tc>
                <a:tc>
                  <a:txBody>
                    <a:bodyPr wrap="square"/>
                    <a:lstStyle/>
                    <a:p>
                      <a:r>
                        <a:rPr sz="720" b="0">
                          <a:solidFill>
                            <a:srgbClr val="202124"/>
                          </a:solidFill>
                          <a:latin typeface="Arial"/>
                        </a:rPr>
                        <a:t>Multi-plant memory</a:t>
                      </a:r>
                    </a:p>
                  </a:txBody>
                  <a:tcPr marL="45720" marR="45720" marT="22860" marB="22860" anchor="ctr">
                    <a:lnL w="6350" cap="flat" cmpd="sng" algn="ctr">
                      <a:noFill/>
                    </a:lnL>
                    <a:lnR w="6350" cap="flat" cmpd="sng" algn="ctr">
                      <a:noFill/>
                    </a:lnR>
                    <a:lnT w="6350" cap="flat" cmpd="sng" algn="ctr">
                      <a:noFill/>
                    </a:lnT>
                    <a:lnB w="6350" cap="flat" cmpd="sng" algn="ctr">
                      <a:solidFill>
                        <a:srgbClr val="DADCE0"/>
                      </a:solidFill>
                    </a:lnB>
                    <a:solidFill>
                      <a:srgbClr val="FFFFFF"/>
                    </a:solidFill>
                  </a:tcPr>
                </a:tc>
              </a:tr>
              <a:tr h="301752">
                <a:tc>
                  <a:txBody>
                    <a:bodyPr wrap="square"/>
                    <a:lstStyle/>
                    <a:p>
                      <a:r>
                        <a:rPr sz="720" b="1">
                          <a:solidFill>
                            <a:srgbClr val="202124"/>
                          </a:solidFill>
                          <a:latin typeface="Arial"/>
                        </a:rPr>
                        <a:t>Dataflow (streaming)</a:t>
                      </a:r>
                    </a:p>
                  </a:txBody>
                  <a:tcPr marL="45720" marR="45720" marT="22860" marB="22860" anchor="ctr">
                    <a:lnL w="6350" cap="flat" cmpd="sng" algn="ctr">
                      <a:noFill/>
                    </a:lnL>
                    <a:lnR w="6350" cap="flat" cmpd="sng" algn="ctr">
                      <a:noFill/>
                    </a:lnR>
                    <a:lnT w="6350" cap="flat" cmpd="sng" algn="ctr">
                      <a:noFill/>
                    </a:lnT>
                    <a:lnB w="6350" cap="flat" cmpd="sng" algn="ctr">
                      <a:solidFill>
                        <a:srgbClr val="DADCE0"/>
                      </a:solidFill>
                    </a:lnB>
                    <a:solidFill>
                      <a:srgbClr val="FFFFFF"/>
                    </a:solidFill>
                  </a:tcPr>
                </a:tc>
                <a:tc>
                  <a:txBody>
                    <a:bodyPr wrap="square"/>
                    <a:lstStyle/>
                    <a:p>
                      <a:r>
                        <a:rPr sz="720" b="0">
                          <a:solidFill>
                            <a:srgbClr val="202124"/>
                          </a:solidFill>
                          <a:latin typeface="Arial"/>
                        </a:rPr>
                        <a:t>Pub/Sub → BigQuery at more than 10k readings a second</a:t>
                      </a:r>
                    </a:p>
                  </a:txBody>
                  <a:tcPr marL="45720" marR="45720" marT="22860" marB="22860" anchor="ctr">
                    <a:lnL w="6350" cap="flat" cmpd="sng" algn="ctr">
                      <a:noFill/>
                    </a:lnL>
                    <a:lnR w="6350" cap="flat" cmpd="sng" algn="ctr">
                      <a:noFill/>
                    </a:lnR>
                    <a:lnT w="6350" cap="flat" cmpd="sng" algn="ctr">
                      <a:noFill/>
                    </a:lnT>
                    <a:lnB w="6350" cap="flat" cmpd="sng" algn="ctr">
                      <a:solidFill>
                        <a:srgbClr val="DADCE0"/>
                      </a:solidFill>
                    </a:lnB>
                    <a:solidFill>
                      <a:srgbClr val="FFFFFF"/>
                    </a:solidFill>
                  </a:tcPr>
                </a:tc>
                <a:tc>
                  <a:txBody>
                    <a:bodyPr wrap="square"/>
                    <a:lstStyle/>
                    <a:p>
                      <a:r>
                        <a:rPr sz="720" b="0">
                          <a:solidFill>
                            <a:srgbClr val="202124"/>
                          </a:solidFill>
                          <a:latin typeface="Arial"/>
                        </a:rPr>
                        <a:t>Readings go straight into the twin; BigQuery gets daily summaries</a:t>
                      </a:r>
                    </a:p>
                  </a:txBody>
                  <a:tcPr marL="45720" marR="45720" marT="22860" marB="22860" anchor="ctr">
                    <a:lnL w="6350" cap="flat" cmpd="sng" algn="ctr">
                      <a:noFill/>
                    </a:lnL>
                    <a:lnR w="6350" cap="flat" cmpd="sng" algn="ctr">
                      <a:noFill/>
                    </a:lnR>
                    <a:lnT w="6350" cap="flat" cmpd="sng" algn="ctr">
                      <a:noFill/>
                    </a:lnT>
                    <a:lnB w="6350" cap="flat" cmpd="sng" algn="ctr">
                      <a:solidFill>
                        <a:srgbClr val="DADCE0"/>
                      </a:solidFill>
                    </a:lnB>
                    <a:solidFill>
                      <a:srgbClr val="FFFFFF"/>
                    </a:solidFill>
                  </a:tcPr>
                </a:tc>
                <a:tc>
                  <a:txBody>
                    <a:bodyPr wrap="square"/>
                    <a:lstStyle/>
                    <a:p>
                      <a:r>
                        <a:rPr sz="720" b="0">
                          <a:solidFill>
                            <a:srgbClr val="202124"/>
                          </a:solidFill>
                          <a:latin typeface="Arial"/>
                        </a:rPr>
                        <a:t>About $0.069 per vCPU-hour plus $0.0036 per GiB-hour</a:t>
                      </a:r>
                    </a:p>
                  </a:txBody>
                  <a:tcPr marL="45720" marR="45720" marT="22860" marB="22860" anchor="ctr">
                    <a:lnL w="6350" cap="flat" cmpd="sng" algn="ctr">
                      <a:noFill/>
                    </a:lnL>
                    <a:lnR w="6350" cap="flat" cmpd="sng" algn="ctr">
                      <a:noFill/>
                    </a:lnR>
                    <a:lnT w="6350" cap="flat" cmpd="sng" algn="ctr">
                      <a:noFill/>
                    </a:lnT>
                    <a:lnB w="6350" cap="flat" cmpd="sng" algn="ctr">
                      <a:solidFill>
                        <a:srgbClr val="DADCE0"/>
                      </a:solidFill>
                    </a:lnB>
                    <a:solidFill>
                      <a:srgbClr val="FFFFFF"/>
                    </a:solidFill>
                  </a:tcPr>
                </a:tc>
                <a:tc>
                  <a:txBody>
                    <a:bodyPr wrap="square"/>
                    <a:lstStyle/>
                    <a:p>
                      <a:r>
                        <a:rPr sz="720" b="0">
                          <a:solidFill>
                            <a:srgbClr val="202124"/>
                          </a:solidFill>
                          <a:latin typeface="Arial"/>
                        </a:rPr>
                        <a:t>Past ~200 machines</a:t>
                      </a:r>
                    </a:p>
                  </a:txBody>
                  <a:tcPr marL="45720" marR="45720" marT="22860" marB="22860" anchor="ctr">
                    <a:lnL w="6350" cap="flat" cmpd="sng" algn="ctr">
                      <a:noFill/>
                    </a:lnL>
                    <a:lnR w="6350" cap="flat" cmpd="sng" algn="ctr">
                      <a:noFill/>
                    </a:lnR>
                    <a:lnT w="6350" cap="flat" cmpd="sng" algn="ctr">
                      <a:noFill/>
                    </a:lnT>
                    <a:lnB w="6350" cap="flat" cmpd="sng" algn="ctr">
                      <a:solidFill>
                        <a:srgbClr val="DADCE0"/>
                      </a:solidFill>
                    </a:lnB>
                    <a:solidFill>
                      <a:srgbClr val="FFFFFF"/>
                    </a:solidFill>
                  </a:tcPr>
                </a:tc>
              </a:tr>
              <a:tr h="301752">
                <a:tc>
                  <a:txBody>
                    <a:bodyPr wrap="square"/>
                    <a:lstStyle/>
                    <a:p>
                      <a:r>
                        <a:rPr sz="720" b="1">
                          <a:solidFill>
                            <a:srgbClr val="202124"/>
                          </a:solidFill>
                          <a:latin typeface="Arial"/>
                        </a:rPr>
                        <a:t>Visual Inspection AI</a:t>
                      </a:r>
                    </a:p>
                  </a:txBody>
                  <a:tcPr marL="45720" marR="45720" marT="22860" marB="22860" anchor="ctr">
                    <a:lnL w="6350" cap="flat" cmpd="sng" algn="ctr">
                      <a:noFill/>
                    </a:lnL>
                    <a:lnR w="6350" cap="flat" cmpd="sng" algn="ctr">
                      <a:noFill/>
                    </a:lnR>
                    <a:lnT w="6350" cap="flat" cmpd="sng" algn="ctr">
                      <a:noFill/>
                    </a:lnT>
                    <a:lnB w="6350" cap="flat" cmpd="sng" algn="ctr">
                      <a:solidFill>
                        <a:srgbClr val="DADCE0"/>
                      </a:solidFill>
                    </a:lnB>
                    <a:solidFill>
                      <a:srgbClr val="FFFFFF"/>
                    </a:solidFill>
                  </a:tcPr>
                </a:tc>
                <a:tc>
                  <a:txBody>
                    <a:bodyPr wrap="square"/>
                    <a:lstStyle/>
                    <a:p>
                      <a:r>
                        <a:rPr sz="720" b="0">
                          <a:solidFill>
                            <a:srgbClr val="202124"/>
                          </a:solidFill>
                          <a:latin typeface="Arial"/>
                        </a:rPr>
                        <a:t>Line-camera defect detection instead of a manual photo check</a:t>
                      </a:r>
                    </a:p>
                  </a:txBody>
                  <a:tcPr marL="45720" marR="45720" marT="22860" marB="22860" anchor="ctr">
                    <a:lnL w="6350" cap="flat" cmpd="sng" algn="ctr">
                      <a:noFill/>
                    </a:lnL>
                    <a:lnR w="6350" cap="flat" cmpd="sng" algn="ctr">
                      <a:noFill/>
                    </a:lnR>
                    <a:lnT w="6350" cap="flat" cmpd="sng" algn="ctr">
                      <a:noFill/>
                    </a:lnT>
                    <a:lnB w="6350" cap="flat" cmpd="sng" algn="ctr">
                      <a:solidFill>
                        <a:srgbClr val="DADCE0"/>
                      </a:solidFill>
                    </a:lnB>
                    <a:solidFill>
                      <a:srgbClr val="FFFFFF"/>
                    </a:solidFill>
                  </a:tcPr>
                </a:tc>
                <a:tc>
                  <a:txBody>
                    <a:bodyPr wrap="square"/>
                    <a:lstStyle/>
                    <a:p>
                      <a:r>
                        <a:rPr sz="720" b="0">
                          <a:solidFill>
                            <a:srgbClr val="202124"/>
                          </a:solidFill>
                          <a:latin typeface="Arial"/>
                        </a:rPr>
                        <a:t>Today an operator photographs a part and Gemini judges it</a:t>
                      </a:r>
                    </a:p>
                  </a:txBody>
                  <a:tcPr marL="45720" marR="45720" marT="22860" marB="22860" anchor="ctr">
                    <a:lnL w="6350" cap="flat" cmpd="sng" algn="ctr">
                      <a:noFill/>
                    </a:lnL>
                    <a:lnR w="6350" cap="flat" cmpd="sng" algn="ctr">
                      <a:noFill/>
                    </a:lnR>
                    <a:lnT w="6350" cap="flat" cmpd="sng" algn="ctr">
                      <a:noFill/>
                    </a:lnT>
                    <a:lnB w="6350" cap="flat" cmpd="sng" algn="ctr">
                      <a:solidFill>
                        <a:srgbClr val="DADCE0"/>
                      </a:solidFill>
                    </a:lnB>
                    <a:solidFill>
                      <a:srgbClr val="FFFFFF"/>
                    </a:solidFill>
                  </a:tcPr>
                </a:tc>
                <a:tc>
                  <a:txBody>
                    <a:bodyPr wrap="square"/>
                    <a:lstStyle/>
                    <a:p>
                      <a:r>
                        <a:rPr sz="720" b="0">
                          <a:solidFill>
                            <a:srgbClr val="202124"/>
                          </a:solidFill>
                          <a:latin typeface="Arial"/>
                        </a:rPr>
                        <a:t>$100 per camera stream per solution a month (restricted GA)</a:t>
                      </a:r>
                    </a:p>
                  </a:txBody>
                  <a:tcPr marL="45720" marR="45720" marT="22860" marB="22860" anchor="ctr">
                    <a:lnL w="6350" cap="flat" cmpd="sng" algn="ctr">
                      <a:noFill/>
                    </a:lnL>
                    <a:lnR w="6350" cap="flat" cmpd="sng" algn="ctr">
                      <a:noFill/>
                    </a:lnR>
                    <a:lnT w="6350" cap="flat" cmpd="sng" algn="ctr">
                      <a:noFill/>
                    </a:lnT>
                    <a:lnB w="6350" cap="flat" cmpd="sng" algn="ctr">
                      <a:solidFill>
                        <a:srgbClr val="DADCE0"/>
                      </a:solidFill>
                    </a:lnB>
                    <a:solidFill>
                      <a:srgbClr val="FFFFFF"/>
                    </a:solidFill>
                  </a:tcPr>
                </a:tc>
                <a:tc>
                  <a:txBody>
                    <a:bodyPr wrap="square"/>
                    <a:lstStyle/>
                    <a:p>
                      <a:r>
                        <a:rPr sz="720" b="0">
                          <a:solidFill>
                            <a:srgbClr val="202124"/>
                          </a:solidFill>
                          <a:latin typeface="Arial"/>
                        </a:rPr>
                        <a:t>Quality pilot</a:t>
                      </a:r>
                    </a:p>
                  </a:txBody>
                  <a:tcPr marL="45720" marR="45720" marT="22860" marB="22860" anchor="ctr">
                    <a:lnL w="6350" cap="flat" cmpd="sng" algn="ctr">
                      <a:noFill/>
                    </a:lnL>
                    <a:lnR w="6350" cap="flat" cmpd="sng" algn="ctr">
                      <a:noFill/>
                    </a:lnR>
                    <a:lnT w="6350" cap="flat" cmpd="sng" algn="ctr">
                      <a:noFill/>
                    </a:lnT>
                    <a:lnB w="6350" cap="flat" cmpd="sng" algn="ctr">
                      <a:solidFill>
                        <a:srgbClr val="DADCE0"/>
                      </a:solidFill>
                    </a:lnB>
                    <a:solidFill>
                      <a:srgbClr val="FFFFFF"/>
                    </a:solidFill>
                  </a:tcPr>
                </a:tc>
              </a:tr>
              <a:tr h="301752">
                <a:tc>
                  <a:txBody>
                    <a:bodyPr wrap="square"/>
                    <a:lstStyle/>
                    <a:p>
                      <a:r>
                        <a:rPr sz="720" b="1">
                          <a:solidFill>
                            <a:srgbClr val="202124"/>
                          </a:solidFill>
                          <a:latin typeface="Arial"/>
                        </a:rPr>
                        <a:t>Manufacturing Data Engine + Connect</a:t>
                      </a:r>
                    </a:p>
                  </a:txBody>
                  <a:tcPr marL="45720" marR="45720" marT="22860" marB="22860" anchor="ctr">
                    <a:lnL w="6350" cap="flat" cmpd="sng" algn="ctr">
                      <a:noFill/>
                    </a:lnL>
                    <a:lnR w="6350" cap="flat" cmpd="sng" algn="ctr">
                      <a:noFill/>
                    </a:lnR>
                    <a:lnT w="6350" cap="flat" cmpd="sng" algn="ctr">
                      <a:noFill/>
                    </a:lnT>
                    <a:lnB w="6350" cap="flat" cmpd="sng" algn="ctr">
                      <a:solidFill>
                        <a:srgbClr val="9AA0A6"/>
                      </a:solidFill>
                    </a:lnB>
                    <a:solidFill>
                      <a:srgbClr val="FFFFFF"/>
                    </a:solidFill>
                  </a:tcPr>
                </a:tc>
                <a:tc>
                  <a:txBody>
                    <a:bodyPr wrap="square"/>
                    <a:lstStyle/>
                    <a:p>
                      <a:r>
                        <a:rPr sz="720" b="0">
                          <a:solidFill>
                            <a:srgbClr val="202124"/>
                          </a:solidFill>
                          <a:latin typeface="Arial"/>
                        </a:rPr>
                        <a:t>Native connectors for FANUC, Siemens and Mitsubishi controllers</a:t>
                      </a:r>
                    </a:p>
                  </a:txBody>
                  <a:tcPr marL="45720" marR="45720" marT="22860" marB="22860" anchor="ctr">
                    <a:lnL w="6350" cap="flat" cmpd="sng" algn="ctr">
                      <a:noFill/>
                    </a:lnL>
                    <a:lnR w="6350" cap="flat" cmpd="sng" algn="ctr">
                      <a:noFill/>
                    </a:lnR>
                    <a:lnT w="6350" cap="flat" cmpd="sng" algn="ctr">
                      <a:noFill/>
                    </a:lnT>
                    <a:lnB w="6350" cap="flat" cmpd="sng" algn="ctr">
                      <a:solidFill>
                        <a:srgbClr val="9AA0A6"/>
                      </a:solidFill>
                    </a:lnB>
                    <a:solidFill>
                      <a:srgbClr val="FFFFFF"/>
                    </a:solidFill>
                  </a:tcPr>
                </a:tc>
                <a:tc>
                  <a:txBody>
                    <a:bodyPr wrap="square"/>
                    <a:lstStyle/>
                    <a:p>
                      <a:r>
                        <a:rPr sz="720" b="0">
                          <a:solidFill>
                            <a:srgbClr val="202124"/>
                          </a:solidFill>
                          <a:latin typeface="Arial"/>
                        </a:rPr>
                        <a:t>The prototype ingests through an API key; real plants need controller drivers</a:t>
                      </a:r>
                    </a:p>
                  </a:txBody>
                  <a:tcPr marL="45720" marR="45720" marT="22860" marB="22860" anchor="ctr">
                    <a:lnL w="6350" cap="flat" cmpd="sng" algn="ctr">
                      <a:noFill/>
                    </a:lnL>
                    <a:lnR w="6350" cap="flat" cmpd="sng" algn="ctr">
                      <a:noFill/>
                    </a:lnR>
                    <a:lnT w="6350" cap="flat" cmpd="sng" algn="ctr">
                      <a:noFill/>
                    </a:lnT>
                    <a:lnB w="6350" cap="flat" cmpd="sng" algn="ctr">
                      <a:solidFill>
                        <a:srgbClr val="9AA0A6"/>
                      </a:solidFill>
                    </a:lnB>
                    <a:solidFill>
                      <a:srgbClr val="FFFFFF"/>
                    </a:solidFill>
                  </a:tcPr>
                </a:tc>
                <a:tc>
                  <a:txBody>
                    <a:bodyPr wrap="square"/>
                    <a:lstStyle/>
                    <a:p>
                      <a:r>
                        <a:rPr sz="720" b="0">
                          <a:solidFill>
                            <a:srgbClr val="202124"/>
                          </a:solidFill>
                          <a:latin typeface="Arial"/>
                        </a:rPr>
                        <a:t>Enterprise pricing via sales; a Kepware FANUC driver suite is about $995</a:t>
                      </a:r>
                    </a:p>
                  </a:txBody>
                  <a:tcPr marL="45720" marR="45720" marT="22860" marB="22860" anchor="ctr">
                    <a:lnL w="6350" cap="flat" cmpd="sng" algn="ctr">
                      <a:noFill/>
                    </a:lnL>
                    <a:lnR w="6350" cap="flat" cmpd="sng" algn="ctr">
                      <a:noFill/>
                    </a:lnR>
                    <a:lnT w="6350" cap="flat" cmpd="sng" algn="ctr">
                      <a:noFill/>
                    </a:lnT>
                    <a:lnB w="6350" cap="flat" cmpd="sng" algn="ctr">
                      <a:solidFill>
                        <a:srgbClr val="9AA0A6"/>
                      </a:solidFill>
                    </a:lnB>
                    <a:solidFill>
                      <a:srgbClr val="FFFFFF"/>
                    </a:solidFill>
                  </a:tcPr>
                </a:tc>
                <a:tc>
                  <a:txBody>
                    <a:bodyPr wrap="square"/>
                    <a:lstStyle/>
                    <a:p>
                      <a:r>
                        <a:rPr sz="720" b="0">
                          <a:solidFill>
                            <a:srgbClr val="202124"/>
                          </a:solidFill>
                          <a:latin typeface="Arial"/>
                        </a:rPr>
                        <a:t>First real plant</a:t>
                      </a:r>
                    </a:p>
                  </a:txBody>
                  <a:tcPr marL="45720" marR="45720" marT="22860" marB="22860" anchor="ctr">
                    <a:lnL w="6350" cap="flat" cmpd="sng" algn="ctr">
                      <a:noFill/>
                    </a:lnL>
                    <a:lnR w="6350" cap="flat" cmpd="sng" algn="ctr">
                      <a:noFill/>
                    </a:lnR>
                    <a:lnT w="6350" cap="flat" cmpd="sng" algn="ctr">
                      <a:noFill/>
                    </a:lnT>
                    <a:lnB w="6350" cap="flat" cmpd="sng" algn="ctr">
                      <a:solidFill>
                        <a:srgbClr val="9AA0A6"/>
                      </a:solidFill>
                    </a:lnB>
                    <a:solidFill>
                      <a:srgbClr val="FFFFFF"/>
                    </a:solidFill>
                  </a:tcPr>
                </a:tc>
              </a:tr>
            </a:tbl>
          </a:graphicData>
        </a:graphic>
      </p:graphicFrame>
      <p:sp>
        <p:nvSpPr>
          <p:cNvPr id="169" name="TextBox 168"/>
          <p:cNvSpPr txBox="1"/>
          <p:nvPr/>
        </p:nvSpPr>
        <p:spPr>
          <a:xfrm>
            <a:off x="356616" y="4754880"/>
            <a:ext cx="8458200" cy="274320"/>
          </a:xfrm>
          <a:prstGeom prst="rect">
            <a:avLst/>
          </a:prstGeom>
          <a:noFill/>
        </p:spPr>
        <p:txBody>
          <a:bodyPr wrap="square" lIns="0" rIns="0" tIns="0" bIns="0" anchor="t">
            <a:spAutoFit/>
          </a:bodyPr>
          <a:lstStyle/>
          <a:p>
            <a:pPr algn="l">
              <a:spcAft>
                <a:spcPts val="0"/>
              </a:spcAft>
            </a:pPr>
            <a:r>
              <a:rPr sz="750" b="0" i="0">
                <a:solidFill>
                  <a:srgbClr val="5F6368"/>
                </a:solidFill>
                <a:latin typeface="Arial"/>
              </a:rPr>
              <a:t>Public list prices read 17-18 Oct 2026 (ai.google.dev pricing, cloud.google.com pricing pages, Google Cloud release notes), ₹95 per USD; numbered on the Sources slide. Each row replaces a module that already has an interface in the code.</a:t>
            </a: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pic>
        <p:nvPicPr>
          <p:cNvPr id="164" name="Google Shape;164;p27"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65" name="Google Shape;165;p27"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66" name="Google Shape;166;p27"/>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1" name="Google Shape;71;p15"/>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Sources: every external number on these slides, and where it comes from</a:t>
            </a:r>
            <a:endParaRPr sz="1600">
              <a:latin typeface="Google Sans Flex Medium"/>
              <a:ea typeface="Google Sans Flex Medium"/>
              <a:cs typeface="Google Sans Flex Medium"/>
              <a:sym typeface="Google Sans Flex Medium"/>
            </a:endParaRPr>
          </a:p>
        </p:txBody>
      </p:sp>
      <p:sp>
        <p:nvSpPr>
          <p:cNvPr id="167" name="TextBox 166"/>
          <p:cNvSpPr txBox="1"/>
          <p:nvPr/>
        </p:nvSpPr>
        <p:spPr>
          <a:xfrm>
            <a:off x="356616" y="1143000"/>
            <a:ext cx="4160520" cy="3840480"/>
          </a:xfrm>
          <a:prstGeom prst="rect">
            <a:avLst/>
          </a:prstGeom>
          <a:noFill/>
        </p:spPr>
        <p:txBody>
          <a:bodyPr wrap="square" lIns="0" rIns="0" tIns="0" bIns="0" anchor="t">
            <a:spAutoFit/>
          </a:bodyPr>
          <a:lstStyle/>
          <a:p>
            <a:pPr algn="l">
              <a:lnSpc>
                <a:spcPct val="105000"/>
              </a:lnSpc>
              <a:spcAft>
                <a:spcPts val="350"/>
              </a:spcAft>
            </a:pPr>
            <a:r>
              <a:rPr sz="700" b="1" i="0">
                <a:solidFill>
                  <a:srgbClr val="202124"/>
                </a:solidFill>
                <a:latin typeface="Arial"/>
              </a:rPr>
              <a:t>1  ACMA, </a:t>
            </a:r>
            <a:r>
              <a:rPr sz="700" b="0" i="0">
                <a:solidFill>
                  <a:srgbClr val="202124"/>
                </a:solidFill>
                <a:latin typeface="Arial"/>
              </a:rPr>
              <a:t>Industry Performance Review FY2025-26 and acma.in/about-us: turnover ₹7.59 lakh crore (USD 85.9 bn), 1,100+ members, 1.5 million direct jobs, 2.3% of GDP.</a:t>
            </a:r>
          </a:p>
          <a:p>
            <a:pPr algn="l">
              <a:lnSpc>
                <a:spcPct val="105000"/>
              </a:lnSpc>
              <a:spcAft>
                <a:spcPts val="350"/>
              </a:spcAft>
            </a:pPr>
            <a:r>
              <a:rPr sz="700" b="1" i="0">
                <a:solidFill>
                  <a:srgbClr val="202124"/>
                </a:solidFill>
                <a:latin typeface="Arial"/>
              </a:rPr>
              <a:t>2  ABB, </a:t>
            </a:r>
            <a:r>
              <a:rPr sz="700" b="0" i="0">
                <a:solidFill>
                  <a:srgbClr val="202124"/>
                </a:solidFill>
                <a:latin typeface="Arial"/>
              </a:rPr>
              <a:t>'Value of Reliability' survey (Sapio Research, July 2023, n = 3,215, India cut): 88% see unplanned outages at least monthly; 19% run to fail; about ₹7 million lost per hour. new.abb.com/news/detail/108271</a:t>
            </a:r>
          </a:p>
          <a:p>
            <a:pPr algn="l">
              <a:lnSpc>
                <a:spcPct val="105000"/>
              </a:lnSpc>
              <a:spcAft>
                <a:spcPts val="350"/>
              </a:spcAft>
            </a:pPr>
            <a:r>
              <a:rPr sz="700" b="1" i="0">
                <a:solidFill>
                  <a:srgbClr val="202124"/>
                </a:solidFill>
                <a:latin typeface="Arial"/>
              </a:rPr>
              <a:t>3  US DOE / FEMP, </a:t>
            </a:r>
            <a:r>
              <a:rPr sz="700" b="0" i="0">
                <a:solidFill>
                  <a:srgbClr val="202124"/>
                </a:solidFill>
                <a:latin typeface="Arial"/>
              </a:rPr>
              <a:t>O&amp;M Best Practices Guide Release 3.0 (PNNL-19634, 2010), §5.4: predictive maintenance 'industrial average savings' of breakdowns −70-75%, maintenance cost −25-30%, downtime −35-45%, ROI 10×. The guide attributes these to independent surveys; we use them only as a sanity range.</a:t>
            </a:r>
          </a:p>
          <a:p>
            <a:pPr algn="l">
              <a:lnSpc>
                <a:spcPct val="105000"/>
              </a:lnSpc>
              <a:spcAft>
                <a:spcPts val="350"/>
              </a:spcAft>
            </a:pPr>
            <a:r>
              <a:rPr sz="700" b="1" i="0">
                <a:solidFill>
                  <a:srgbClr val="202124"/>
                </a:solidFill>
                <a:latin typeface="Arial"/>
              </a:rPr>
              <a:t>4  Deloitte Analytics Institute, </a:t>
            </a:r>
            <a:r>
              <a:rPr sz="700" b="0" i="0">
                <a:solidFill>
                  <a:srgbClr val="202124"/>
                </a:solidFill>
                <a:latin typeface="Arial"/>
              </a:rPr>
              <a:t>Predictive Maintenance position paper: breakdowns −70%, maintenance costs −25%, productivity +25%, uptime +10-20%.</a:t>
            </a:r>
          </a:p>
          <a:p>
            <a:pPr algn="l">
              <a:lnSpc>
                <a:spcPct val="105000"/>
              </a:lnSpc>
              <a:spcAft>
                <a:spcPts val="350"/>
              </a:spcAft>
            </a:pPr>
            <a:r>
              <a:rPr sz="700" b="1" i="0">
                <a:solidFill>
                  <a:srgbClr val="202124"/>
                </a:solidFill>
                <a:latin typeface="Arial"/>
              </a:rPr>
              <a:t>5  Datasets. </a:t>
            </a:r>
            <a:r>
              <a:rPr sz="700" b="0" i="0">
                <a:solidFill>
                  <a:srgbClr val="202124"/>
                </a:solidFill>
                <a:latin typeface="Arial"/>
              </a:rPr>
              <a:t>AI4I 2020 (UCI 601, CC BY 4.0; synthetic); NASA C-MAPSS FD001; Microsoft Azure Predictive Maintenance sample (synthetic); Zenodo record 17855209 (real serial line, 62 shifts, 635 stops, OEE 59.1% before improvement, CC BY 4.0); NIST Nestor vocabulary.</a:t>
            </a:r>
          </a:p>
          <a:p>
            <a:pPr algn="l">
              <a:lnSpc>
                <a:spcPct val="105000"/>
              </a:lnSpc>
              <a:spcAft>
                <a:spcPts val="350"/>
              </a:spcAft>
            </a:pPr>
            <a:r>
              <a:rPr sz="700" b="1" i="0">
                <a:solidFill>
                  <a:srgbClr val="202124"/>
                </a:solidFill>
                <a:latin typeface="Arial"/>
              </a:rPr>
              <a:t>6  Electricity. </a:t>
            </a:r>
            <a:r>
              <a:rPr sz="700" b="0" i="0">
                <a:solidFill>
                  <a:srgbClr val="202124"/>
                </a:solidFill>
                <a:latin typeface="Arial"/>
              </a:rPr>
              <a:t>MERC order of 25 March 2026 (Case 75 of 2025) on MSEDCL tariffs; HT-I(A) energy plus wheeling entered as ₹9.25/kWh in backend/app/plant/factory.py and editable in Settings.</a:t>
            </a:r>
          </a:p>
          <a:p>
            <a:pPr algn="l">
              <a:lnSpc>
                <a:spcPct val="105000"/>
              </a:lnSpc>
              <a:spcAft>
                <a:spcPts val="350"/>
              </a:spcAft>
            </a:pPr>
            <a:r>
              <a:rPr sz="700" b="1" i="0">
                <a:solidFill>
                  <a:srgbClr val="202124"/>
                </a:solidFill>
                <a:latin typeface="Arial"/>
              </a:rPr>
              <a:t>7  Grid emissions. </a:t>
            </a:r>
            <a:r>
              <a:rPr sz="700" b="0" i="0">
                <a:solidFill>
                  <a:srgbClr val="202124"/>
                </a:solidFill>
                <a:latin typeface="Arial"/>
              </a:rPr>
              <a:t>CEA CO₂ Baseline Database v22 (Aug 2026) weighted average 0.675 t/MWh as entered in the app; the v21 guide published 0.710 for FY2024-25 and v20 0.727 for FY2023-24. cea.nic.in</a:t>
            </a:r>
          </a:p>
          <a:p>
            <a:pPr algn="l">
              <a:lnSpc>
                <a:spcPct val="105000"/>
              </a:lnSpc>
              <a:spcAft>
                <a:spcPts val="350"/>
              </a:spcAft>
            </a:pPr>
            <a:r>
              <a:rPr sz="700" b="1" i="0">
                <a:solidFill>
                  <a:srgbClr val="202124"/>
                </a:solidFill>
                <a:latin typeface="Arial"/>
              </a:rPr>
              <a:t>8  Wages and repairs. </a:t>
            </a:r>
            <a:r>
              <a:rPr sz="700" b="0" i="0">
                <a:solidFill>
                  <a:srgbClr val="202124"/>
                </a:solidFill>
                <a:latin typeface="Arial"/>
              </a:rPr>
              <a:t>In-house technician about ₹19k a month (Indeed India, Oct 2026) blended with OEM visits to ₹300/h; engineer day rate ₹12,000 is our assumption; BHEL spindle-bearing repair tender (2020) ₹2.88 L sets the scale of secondary damage.</a:t>
            </a:r>
          </a:p>
          <a:p>
            <a:pPr algn="l">
              <a:lnSpc>
                <a:spcPct val="105000"/>
              </a:lnSpc>
              <a:spcAft>
                <a:spcPts val="350"/>
              </a:spcAft>
            </a:pPr>
            <a:r>
              <a:rPr sz="700" b="1" i="0">
                <a:solidFill>
                  <a:srgbClr val="202124"/>
                </a:solidFill>
                <a:latin typeface="Arial"/>
              </a:rPr>
              <a:t>9  Plant economics. </a:t>
            </a:r>
            <a:r>
              <a:rPr sz="700" b="0" i="0">
                <a:solidFill>
                  <a:srgbClr val="202124"/>
                </a:solidFill>
                <a:latin typeface="Arial"/>
              </a:rPr>
              <a:t>Contribution ₹175 to 760 per part (₹4,200 to 6,500 per machine-hour), scrap ₹380 to 1,450, repair hours and stock-out odds are the demo plant's assumptions in factory.py, all editable under Settings → Factory economics.</a:t>
            </a:r>
          </a:p>
          <a:p>
            <a:pPr algn="l">
              <a:lnSpc>
                <a:spcPct val="105000"/>
              </a:lnSpc>
              <a:spcAft>
                <a:spcPts val="350"/>
              </a:spcAft>
            </a:pPr>
            <a:r>
              <a:rPr sz="700" b="1" i="0">
                <a:solidFill>
                  <a:srgbClr val="202124"/>
                </a:solidFill>
                <a:latin typeface="Arial"/>
              </a:rPr>
              <a:t>10  Model literature. </a:t>
            </a:r>
            <a:r>
              <a:rPr sz="700" b="0" i="0">
                <a:solidFill>
                  <a:srgbClr val="202124"/>
                </a:solidFill>
                <a:latin typeface="Arial"/>
              </a:rPr>
              <a:t>C-MAPSS FD001 RMSE of 11 to 16 cycles is the range of commonly cited CNN, LSTM and transformer results; our 13.0 is in that range, not above it.</a:t>
            </a:r>
          </a:p>
          <a:p>
            <a:pPr algn="l">
              <a:lnSpc>
                <a:spcPct val="105000"/>
              </a:lnSpc>
              <a:spcAft>
                <a:spcPts val="350"/>
              </a:spcAft>
            </a:pPr>
            <a:r>
              <a:rPr sz="700" b="1" i="0">
                <a:solidFill>
                  <a:srgbClr val="202124"/>
                </a:solidFill>
                <a:latin typeface="Arial"/>
              </a:rPr>
              <a:t>11  Standards. </a:t>
            </a:r>
            <a:r>
              <a:rPr sz="700" b="0" i="0">
                <a:solidFill>
                  <a:srgbClr val="202124"/>
                </a:solidFill>
                <a:latin typeface="Arial"/>
              </a:rPr>
              <a:t>ISA-101 HMI design, ISA-18.2 alarm management, ISO 10816-3 vibration zones (heuristic for spindles), WCAG 2.2 AA.</a:t>
            </a:r>
          </a:p>
        </p:txBody>
      </p:sp>
      <p:sp>
        <p:nvSpPr>
          <p:cNvPr id="168" name="TextBox 167"/>
          <p:cNvSpPr txBox="1"/>
          <p:nvPr/>
        </p:nvSpPr>
        <p:spPr>
          <a:xfrm>
            <a:off x="4663440" y="1143000"/>
            <a:ext cx="4160520" cy="3840480"/>
          </a:xfrm>
          <a:prstGeom prst="rect">
            <a:avLst/>
          </a:prstGeom>
          <a:noFill/>
        </p:spPr>
        <p:txBody>
          <a:bodyPr wrap="square" lIns="0" rIns="0" tIns="0" bIns="0" anchor="t">
            <a:spAutoFit/>
          </a:bodyPr>
          <a:lstStyle/>
          <a:p>
            <a:pPr algn="l">
              <a:lnSpc>
                <a:spcPct val="105000"/>
              </a:lnSpc>
              <a:spcAft>
                <a:spcPts val="350"/>
              </a:spcAft>
            </a:pPr>
            <a:r>
              <a:rPr sz="700" b="1" i="0">
                <a:solidFill>
                  <a:srgbClr val="202124"/>
                </a:solidFill>
                <a:latin typeface="Arial"/>
              </a:rPr>
              <a:t>12  Gemini API pricing, </a:t>
            </a:r>
            <a:r>
              <a:rPr sz="700" b="0" i="0">
                <a:solidFill>
                  <a:srgbClr val="202124"/>
                </a:solidFill>
                <a:latin typeface="Arial"/>
              </a:rPr>
              <a:t>ai.google.dev/gemini-api/docs/pricing (updated Sept 2026): gemini-3.5-flash-lite $0.30 in / $2.50 out per 1M tokens; gemini-3.8-flash $0.75 / $3.75 (to 31 Dec 2026); gemini-3.8-live audio $3.00 / $12.00. The embedding model we call, gemini-embedding-001, is listed as superseded by gemini-embedding-2 at $0.20 per 1M; switching is a one-line model-name change. Free tier available for the Flash models; daily limits are per project and shown in AI Studio.</a:t>
            </a:r>
          </a:p>
          <a:p>
            <a:pPr algn="l">
              <a:lnSpc>
                <a:spcPct val="105000"/>
              </a:lnSpc>
              <a:spcAft>
                <a:spcPts val="350"/>
              </a:spcAft>
            </a:pPr>
            <a:r>
              <a:rPr sz="700" b="1" i="0">
                <a:solidFill>
                  <a:srgbClr val="202124"/>
                </a:solidFill>
                <a:latin typeface="Arial"/>
              </a:rPr>
              <a:t>13  Cloud Run pricing, </a:t>
            </a:r>
            <a:r>
              <a:rPr sz="700" b="0" i="0">
                <a:solidFill>
                  <a:srgbClr val="202124"/>
                </a:solidFill>
                <a:latin typeface="Arial"/>
              </a:rPr>
              <a:t>cloud.google.com/run/pricing: instance-based $0.000018 per vCPU-second and $0.000002 per GiB-second; free tier 180,000 vCPU-seconds, 360,000 GiB-seconds and 2 million requests a month.</a:t>
            </a:r>
          </a:p>
          <a:p>
            <a:pPr algn="l">
              <a:lnSpc>
                <a:spcPct val="105000"/>
              </a:lnSpc>
              <a:spcAft>
                <a:spcPts val="350"/>
              </a:spcAft>
            </a:pPr>
            <a:r>
              <a:rPr sz="700" b="1" i="0">
                <a:solidFill>
                  <a:srgbClr val="202124"/>
                </a:solidFill>
                <a:latin typeface="Arial"/>
              </a:rPr>
              <a:t>14  Other Google Cloud prices. </a:t>
            </a:r>
            <a:r>
              <a:rPr sz="700" b="0" i="0">
                <a:solidFill>
                  <a:srgbClr val="202124"/>
                </a:solidFill>
                <a:latin typeface="Arial"/>
              </a:rPr>
              <a:t>Vertex AI Agent Engine runtime $0.0864 per vCPU-hour, $0.009 per GiB-hour (2026); Visual Inspection AI $100 per camera stream per solution per month (cloud.google.com/vision-ai/pricing); Speech-to-Text v2 $0.016 per minute; Dataflow streaming about $0.069 per vCPU-hour, $0.003557 per GiB-hour (cloud.google.com/dataflow/pricing); Vector Search about $0.75 per node-hour for e2-standard-16 (Google developer forum estimate); Looker Studio Pro $9 per user per project per month.</a:t>
            </a:r>
          </a:p>
          <a:p>
            <a:pPr algn="l">
              <a:lnSpc>
                <a:spcPct val="105000"/>
              </a:lnSpc>
              <a:spcAft>
                <a:spcPts val="350"/>
              </a:spcAft>
            </a:pPr>
            <a:r>
              <a:rPr sz="700" b="1" i="0">
                <a:solidFill>
                  <a:srgbClr val="202124"/>
                </a:solidFill>
                <a:latin typeface="Arial"/>
              </a:rPr>
              <a:t>15  Supabase, </a:t>
            </a:r>
            <a:r>
              <a:rPr sz="700" b="0" i="0">
                <a:solidFill>
                  <a:srgbClr val="202124"/>
                </a:solidFill>
                <a:latin typeface="Arial"/>
              </a:rPr>
              <a:t>Pro plan $25 a month; free projects pause after 7 days without use. supabase.com/pricing</a:t>
            </a:r>
          </a:p>
          <a:p>
            <a:pPr algn="l">
              <a:lnSpc>
                <a:spcPct val="105000"/>
              </a:lnSpc>
              <a:spcAft>
                <a:spcPts val="350"/>
              </a:spcAft>
            </a:pPr>
            <a:r>
              <a:rPr sz="700" b="1" i="0">
                <a:solidFill>
                  <a:srgbClr val="202124"/>
                </a:solidFill>
                <a:latin typeface="Arial"/>
              </a:rPr>
              <a:t>16  Sensor and gateway prices. </a:t>
            </a:r>
            <a:r>
              <a:rPr sz="700" b="0" i="0">
                <a:solidFill>
                  <a:srgbClr val="202124"/>
                </a:solidFill>
                <a:latin typeface="Arial"/>
              </a:rPr>
              <a:t>Zbotic (2026 guide): commercial wireless vibration sensors ₹15,000 to 50,000; Banner QM30VT2 ₹55,009 incl. duties (tanotis.com); IndiaMART single-axis wireless vibration sensor ₹12,500; Kepware FANUC FOCAS driver suite about $995 (industrialmonitordirect.com).</a:t>
            </a:r>
          </a:p>
          <a:p>
            <a:pPr algn="l">
              <a:lnSpc>
                <a:spcPct val="105000"/>
              </a:lnSpc>
              <a:spcAft>
                <a:spcPts val="350"/>
              </a:spcAft>
            </a:pPr>
            <a:r>
              <a:rPr sz="700" b="1" i="0">
                <a:solidFill>
                  <a:srgbClr val="202124"/>
                </a:solidFill>
                <a:latin typeface="Arial"/>
              </a:rPr>
              <a:t>17  Market. </a:t>
            </a:r>
            <a:r>
              <a:rPr sz="700" b="0" i="0">
                <a:solidFill>
                  <a:srgbClr val="202124"/>
                </a:solidFill>
                <a:latin typeface="Arial"/>
              </a:rPr>
              <a:t>IMTMA: Indian machine-tool consumption about USD 3.7 bn in FY2024-25, about half from automotive (AMT/IMTMA briefing, 2025). The ₹92 crore figure is 1,100 members × ₹8.4 lakh a year.</a:t>
            </a:r>
          </a:p>
          <a:p>
            <a:pPr algn="l">
              <a:lnSpc>
                <a:spcPct val="105000"/>
              </a:lnSpc>
              <a:spcAft>
                <a:spcPts val="350"/>
              </a:spcAft>
            </a:pPr>
            <a:r>
              <a:rPr sz="700" b="1" i="0">
                <a:solidFill>
                  <a:srgbClr val="202124"/>
                </a:solidFill>
                <a:latin typeface="Arial"/>
              </a:rPr>
              <a:t>18  Exchange rate. </a:t>
            </a:r>
            <a:r>
              <a:rPr sz="700" b="0" i="0">
                <a:solidFill>
                  <a:srgbClr val="202124"/>
                </a:solidFill>
                <a:latin typeface="Arial"/>
              </a:rPr>
              <a:t>₹95 per USD, interbank close of 17 Oct 2026 (reported between 94.71 and 94.96).</a:t>
            </a:r>
          </a:p>
          <a:p>
            <a:pPr algn="l">
              <a:lnSpc>
                <a:spcPct val="105000"/>
              </a:lnSpc>
              <a:spcAft>
                <a:spcPts val="350"/>
              </a:spcAft>
            </a:pPr>
            <a:r>
              <a:rPr sz="700" b="1" i="0">
                <a:solidFill>
                  <a:srgbClr val="202124"/>
                </a:solidFill>
                <a:latin typeface="Arial"/>
              </a:rPr>
              <a:t>19  Simulation. </a:t>
            </a:r>
            <a:r>
              <a:rPr sz="700" b="0" i="0">
                <a:solidFill>
                  <a:srgbClr val="202124"/>
                </a:solidFill>
                <a:latin typeface="Arial"/>
              </a:rPr>
              <a:t>Default run of the app's 5-year simulation, seed 2026 (pitch/numbers.json); sensitivity runs in pitch/sensitivity.json; model scores in models/*.json; every simulator input with its source and method in data/processed/calibration.json.</a:t>
            </a: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